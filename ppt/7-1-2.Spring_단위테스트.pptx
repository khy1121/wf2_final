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83" r:id="rId5"/>
    <p:sldId id="28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2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0699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31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REST API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</a:t>
            </a: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</a:rPr>
              <a:t>JUnit 5  ·  Mockito  ·  MockMvc  ·  JsonPath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4754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목차 — 오늘 배울 내용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4206240" cy="749808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40080"/>
            <a:ext cx="73152" cy="7498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777240"/>
            <a:ext cx="475488" cy="475488"/>
          </a:xfrm>
          <a:prstGeom prst="ellipse">
            <a:avLst/>
          </a:prstGeom>
          <a:solidFill>
            <a:srgbClr val="94A3B8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777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7132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왜 단위 테스트?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10424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통합 테스트 vs 단위 테스트 비교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554480"/>
            <a:ext cx="4206240" cy="749808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554480"/>
            <a:ext cx="73152" cy="7498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" y="1691640"/>
            <a:ext cx="475488" cy="475488"/>
          </a:xfrm>
          <a:prstGeom prst="ellipse">
            <a:avLst/>
          </a:prstGeom>
          <a:solidFill>
            <a:srgbClr val="14B8A6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1691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16276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JUnit 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19568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94A3B8"/>
                </a:solidFill>
              </a:rPr>
              <a:t>테스트 메소드 정의 및 실행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468880"/>
            <a:ext cx="4206240" cy="749808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68880"/>
            <a:ext cx="73152" cy="7498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" y="2606040"/>
            <a:ext cx="475488" cy="475488"/>
          </a:xfrm>
          <a:prstGeom prst="ellipse">
            <a:avLst/>
          </a:prstGeom>
          <a:solidFill>
            <a:srgbClr val="6C63FF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25420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Mockito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28712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Mock </a:t>
            </a:r>
            <a:r>
              <a:rPr lang="ko-KR" altLang="en-US" sz="950" dirty="0">
                <a:solidFill>
                  <a:srgbClr val="94A3B8"/>
                </a:solidFill>
              </a:rPr>
              <a:t>객체 생성 및 주입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383280"/>
            <a:ext cx="4206240" cy="749808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383280"/>
            <a:ext cx="73152" cy="7498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438912" y="3520440"/>
            <a:ext cx="475488" cy="475488"/>
          </a:xfrm>
          <a:prstGeom prst="ellipse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4128" y="34564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MockMvc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37856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HTTP  </a:t>
            </a:r>
            <a:r>
              <a:rPr lang="ko-KR" altLang="en-US" sz="950" dirty="0">
                <a:solidFill>
                  <a:srgbClr val="94A3B8"/>
                </a:solidFill>
              </a:rPr>
              <a:t>요청</a:t>
            </a:r>
            <a:r>
              <a:rPr lang="en-US" altLang="ko-KR" sz="950" dirty="0">
                <a:solidFill>
                  <a:srgbClr val="94A3B8"/>
                </a:solidFill>
              </a:rPr>
              <a:t>/</a:t>
            </a:r>
            <a:r>
              <a:rPr lang="ko-KR" altLang="en-US" sz="950" dirty="0">
                <a:solidFill>
                  <a:srgbClr val="94A3B8"/>
                </a:solidFill>
              </a:rPr>
              <a:t>응답 </a:t>
            </a:r>
            <a:r>
              <a:rPr lang="en-US" sz="950" dirty="0" err="1">
                <a:solidFill>
                  <a:srgbClr val="94A3B8"/>
                </a:solidFill>
              </a:rPr>
              <a:t>시뮬레이션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640080"/>
            <a:ext cx="4206240" cy="749808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640080"/>
            <a:ext cx="73152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4919472" y="777240"/>
            <a:ext cx="475488" cy="475488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919472" y="777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04688" y="7132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JsonPath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04688" y="10424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JSON </a:t>
            </a:r>
            <a:r>
              <a:rPr lang="en-US" sz="950" dirty="0" err="1">
                <a:solidFill>
                  <a:srgbClr val="94A3B8"/>
                </a:solidFill>
              </a:rPr>
              <a:t>응답</a:t>
            </a:r>
            <a:r>
              <a:rPr lang="ko-KR" altLang="en-US" sz="950" dirty="0">
                <a:solidFill>
                  <a:srgbClr val="94A3B8"/>
                </a:solidFill>
              </a:rPr>
              <a:t>에서 필드 추출 및 검증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1554480"/>
            <a:ext cx="4206240" cy="749808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1554480"/>
            <a:ext cx="73152" cy="7498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7" name="Shape 35"/>
          <p:cNvSpPr/>
          <p:nvPr/>
        </p:nvSpPr>
        <p:spPr>
          <a:xfrm>
            <a:off x="4919472" y="1691640"/>
            <a:ext cx="475488" cy="475488"/>
          </a:xfrm>
          <a:prstGeom prst="ellipse">
            <a:avLst/>
          </a:prstGeom>
          <a:solidFill>
            <a:srgbClr val="22C55E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919472" y="1691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04688" y="16276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GWT 패턴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04688" y="19568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Given / When / Then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2468880"/>
            <a:ext cx="4206240" cy="749808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2468880"/>
            <a:ext cx="73152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Shape 41"/>
          <p:cNvSpPr/>
          <p:nvPr/>
        </p:nvSpPr>
        <p:spPr>
          <a:xfrm>
            <a:off x="4919472" y="2606040"/>
            <a:ext cx="475488" cy="475488"/>
          </a:xfrm>
          <a:prstGeom prst="ellipse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919472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504688" y="25420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코드 완전 분석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504688" y="28712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ProductApiControllerTest 해부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47548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00  왜 단위 테스트인가? — 통합 vs 단위 흐름 비교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4592" y="548640"/>
            <a:ext cx="3977640" cy="4407408"/>
          </a:xfrm>
          <a:prstGeom prst="rect">
            <a:avLst/>
          </a:prstGeom>
          <a:solidFill>
            <a:srgbClr val="1E2A3E"/>
          </a:solidFill>
          <a:ln/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548640"/>
            <a:ext cx="397764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" y="54864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🌐  통합 테스트 (@SpringBootTest)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12064" y="1267499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" y="1267499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🖥  Browser / HTTP Client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76272" y="1651547"/>
            <a:ext cx="0" cy="1828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21408" y="1806995"/>
            <a:ext cx="109728" cy="6400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470882" y="1699055"/>
            <a:ext cx="33832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</a:rPr>
              <a:t>HTTP (실제 네트워크 통신)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9184" y="1944155"/>
            <a:ext cx="3657600" cy="2331720"/>
          </a:xfrm>
          <a:prstGeom prst="rect">
            <a:avLst/>
          </a:prstGeom>
          <a:solidFill>
            <a:srgbClr val="1E2B1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" y="1944155"/>
            <a:ext cx="365760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" y="1944155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⚙  Tomcat Server  (Port 8080)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22198"/>
            <a:ext cx="3401568" cy="1639238"/>
          </a:xfrm>
          <a:prstGeom prst="rect">
            <a:avLst/>
          </a:prstGeom>
          <a:solidFill>
            <a:srgbClr val="18202E"/>
          </a:solidFill>
          <a:ln w="19050">
            <a:solidFill>
              <a:srgbClr val="9D97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422198"/>
            <a:ext cx="3401568" cy="228600"/>
          </a:xfrm>
          <a:prstGeom prst="rect">
            <a:avLst/>
          </a:prstGeom>
          <a:solidFill>
            <a:srgbClr val="25304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22198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D97FF"/>
                </a:solidFill>
              </a:rPr>
              <a:t>🌿  Web Application (Spring MVC)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" y="2714806"/>
            <a:ext cx="3108960" cy="338328"/>
          </a:xfrm>
          <a:prstGeom prst="roundRect">
            <a:avLst>
              <a:gd name="adj" fmla="val 13514"/>
            </a:avLst>
          </a:prstGeom>
          <a:solidFill>
            <a:srgbClr val="6C63FF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" y="2714806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DispatcherServlet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76272" y="3053134"/>
            <a:ext cx="0" cy="10058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21408" y="3126286"/>
            <a:ext cx="109728" cy="6400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603504" y="3107998"/>
            <a:ext cx="3108960" cy="338328"/>
          </a:xfrm>
          <a:prstGeom prst="roundRect">
            <a:avLst>
              <a:gd name="adj" fmla="val 13514"/>
            </a:avLst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" y="3107998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Controller (Spring Bean)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76272" y="3446326"/>
            <a:ext cx="0" cy="10058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21408" y="3519478"/>
            <a:ext cx="109728" cy="6400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7" name="Shape 25"/>
          <p:cNvSpPr/>
          <p:nvPr/>
        </p:nvSpPr>
        <p:spPr>
          <a:xfrm>
            <a:off x="603504" y="3501190"/>
            <a:ext cx="3108960" cy="338328"/>
          </a:xfrm>
          <a:prstGeom prst="roundRect">
            <a:avLst>
              <a:gd name="adj" fmla="val 13514"/>
            </a:avLst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603504" y="3501190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Service / Repository / DB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4376459"/>
            <a:ext cx="3785616" cy="475488"/>
          </a:xfrm>
          <a:prstGeom prst="roundRect">
            <a:avLst>
              <a:gd name="adj" fmla="val 9615"/>
            </a:avLst>
          </a:prstGeom>
          <a:solidFill>
            <a:srgbClr val="2A152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4376459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</a:rPr>
              <a:t>⚠  서버 기동 필요 · DB 연결 필요 · 느린 실행 (수 초)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34840" y="548640"/>
            <a:ext cx="0" cy="4407408"/>
          </a:xfrm>
          <a:prstGeom prst="line">
            <a:avLst/>
          </a:prstGeom>
          <a:noFill/>
          <a:ln w="12700">
            <a:solidFill>
              <a:srgbClr val="2E3F5C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4270248" y="2922563"/>
            <a:ext cx="320040" cy="320040"/>
          </a:xfrm>
          <a:prstGeom prst="ellipse">
            <a:avLst/>
          </a:prstGeom>
          <a:solidFill>
            <a:srgbClr val="253047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70248" y="292256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63FF"/>
                </a:solidFill>
              </a:rPr>
              <a:t>vs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548640"/>
            <a:ext cx="4270248" cy="4407408"/>
          </a:xfrm>
          <a:prstGeom prst="rect">
            <a:avLst/>
          </a:prstGeom>
          <a:solidFill>
            <a:srgbClr val="1E2A3E"/>
          </a:solidFill>
          <a:ln/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548640"/>
            <a:ext cx="4270248" cy="3291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548640"/>
            <a:ext cx="4270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⚡  단위 테스트 (MockMvc + Mockito)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83480" y="1267499"/>
            <a:ext cx="3721608" cy="384048"/>
          </a:xfrm>
          <a:prstGeom prst="roundRect">
            <a:avLst>
              <a:gd name="adj" fmla="val 11905"/>
            </a:avLst>
          </a:pr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1267499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mockMvc.perform(get("/api/products"))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39712" y="1651547"/>
            <a:ext cx="0" cy="10972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84848" y="1742987"/>
            <a:ext cx="109728" cy="6400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1" name="Shape 39"/>
          <p:cNvSpPr/>
          <p:nvPr/>
        </p:nvSpPr>
        <p:spPr>
          <a:xfrm>
            <a:off x="4983480" y="1733843"/>
            <a:ext cx="3721608" cy="384048"/>
          </a:xfrm>
          <a:prstGeom prst="roundRect">
            <a:avLst>
              <a:gd name="adj" fmla="val 11905"/>
            </a:avLst>
          </a:prstGeom>
          <a:solidFill>
            <a:srgbClr val="1B332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1733843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가상 HTTP Request (네트워크 없음 ✅)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39712" y="2117891"/>
            <a:ext cx="0" cy="10972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84848" y="2209331"/>
            <a:ext cx="109728" cy="6400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5" name="Shape 43"/>
          <p:cNvSpPr/>
          <p:nvPr/>
        </p:nvSpPr>
        <p:spPr>
          <a:xfrm>
            <a:off x="4983480" y="2200187"/>
            <a:ext cx="3721608" cy="384048"/>
          </a:xfrm>
          <a:prstGeom prst="roundRect">
            <a:avLst>
              <a:gd name="adj" fmla="val 11905"/>
            </a:avLst>
          </a:prstGeom>
          <a:solidFill>
            <a:srgbClr val="4A42CC"/>
          </a:solidFill>
          <a:ln/>
        </p:spPr>
      </p:sp>
      <p:sp>
        <p:nvSpPr>
          <p:cNvPr id="46" name="Text 44"/>
          <p:cNvSpPr/>
          <p:nvPr/>
        </p:nvSpPr>
        <p:spPr>
          <a:xfrm>
            <a:off x="4983480" y="2200187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MockMvc 처리 엔진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39712" y="2584235"/>
            <a:ext cx="0" cy="10972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84848" y="2675675"/>
            <a:ext cx="109728" cy="6400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9" name="Shape 47"/>
          <p:cNvSpPr/>
          <p:nvPr/>
        </p:nvSpPr>
        <p:spPr>
          <a:xfrm>
            <a:off x="4983480" y="2666531"/>
            <a:ext cx="3721608" cy="384048"/>
          </a:xfrm>
          <a:prstGeom prst="roundRect">
            <a:avLst>
              <a:gd name="adj" fmla="val 11905"/>
            </a:avLst>
          </a:prstGeom>
          <a:solidFill>
            <a:srgbClr val="6C63FF"/>
          </a:solidFill>
          <a:ln/>
        </p:spPr>
      </p:sp>
      <p:sp>
        <p:nvSpPr>
          <p:cNvPr id="50" name="Text 48"/>
          <p:cNvSpPr/>
          <p:nvPr/>
        </p:nvSpPr>
        <p:spPr>
          <a:xfrm>
            <a:off x="4983480" y="2666531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DispatcherServlet (실제 동작)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39712" y="3050579"/>
            <a:ext cx="0" cy="10972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84848" y="3142019"/>
            <a:ext cx="109728" cy="6400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53" name="Shape 51"/>
          <p:cNvSpPr/>
          <p:nvPr/>
        </p:nvSpPr>
        <p:spPr>
          <a:xfrm>
            <a:off x="4983480" y="3132875"/>
            <a:ext cx="3721608" cy="384048"/>
          </a:xfrm>
          <a:prstGeom prst="roundRect">
            <a:avLst>
              <a:gd name="adj" fmla="val 11905"/>
            </a:avLst>
          </a:prstGeom>
          <a:solidFill>
            <a:srgbClr val="14B8A6"/>
          </a:solidFill>
          <a:ln/>
        </p:spPr>
      </p:sp>
      <p:sp>
        <p:nvSpPr>
          <p:cNvPr id="54" name="Text 52"/>
          <p:cNvSpPr/>
          <p:nvPr/>
        </p:nvSpPr>
        <p:spPr>
          <a:xfrm>
            <a:off x="4983480" y="3132875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Controller (실제 동작)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839712" y="3516923"/>
            <a:ext cx="0" cy="10972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84848" y="3608363"/>
            <a:ext cx="109728" cy="6400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57" name="Shape 55"/>
          <p:cNvSpPr/>
          <p:nvPr/>
        </p:nvSpPr>
        <p:spPr>
          <a:xfrm>
            <a:off x="4983480" y="3599219"/>
            <a:ext cx="3721608" cy="384048"/>
          </a:xfrm>
          <a:prstGeom prst="roundRect">
            <a:avLst>
              <a:gd name="adj" fmla="val 11905"/>
            </a:avLst>
          </a:prstGeom>
          <a:solidFill>
            <a:srgbClr val="1B332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83480" y="3599219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Mock Service (가짜 — @Mock) ✅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800600" y="4376459"/>
            <a:ext cx="4087368" cy="475488"/>
          </a:xfrm>
          <a:prstGeom prst="roundRect">
            <a:avLst>
              <a:gd name="adj" fmla="val 9615"/>
            </a:avLst>
          </a:prstGeom>
          <a:solidFill>
            <a:srgbClr val="152A1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0600" y="4376459"/>
            <a:ext cx="4087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C55E"/>
                </a:solidFill>
              </a:rPr>
              <a:t>✅  서버 기동 불필요 · DB 불필요 · 빠른 실행 (&lt; 1초)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2">
            <a:extLst>
              <a:ext uri="{FF2B5EF4-FFF2-40B4-BE49-F238E27FC236}">
                <a16:creationId xmlns:a16="http://schemas.microsoft.com/office/drawing/2014/main" id="{EA721C4B-9F81-4485-8E9C-80876C08BDE2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61B27"/>
          </a:solidFill>
          <a:ln/>
        </p:spPr>
      </p:sp>
      <p:sp>
        <p:nvSpPr>
          <p:cNvPr id="62" name="Shape 3">
            <a:extLst>
              <a:ext uri="{FF2B5EF4-FFF2-40B4-BE49-F238E27FC236}">
                <a16:creationId xmlns:a16="http://schemas.microsoft.com/office/drawing/2014/main" id="{CC00E18A-A0EC-4297-BF92-AD34A01B448B}"/>
              </a:ext>
            </a:extLst>
          </p:cNvPr>
          <p:cNvSpPr/>
          <p:nvPr/>
        </p:nvSpPr>
        <p:spPr>
          <a:xfrm>
            <a:off x="0" y="0"/>
            <a:ext cx="82296" cy="45720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3" name="Text 4">
            <a:extLst>
              <a:ext uri="{FF2B5EF4-FFF2-40B4-BE49-F238E27FC236}">
                <a16:creationId xmlns:a16="http://schemas.microsoft.com/office/drawing/2014/main" id="{804EDAAE-2FCC-4CB6-AA5A-E73D860E684A}"/>
              </a:ext>
            </a:extLst>
          </p:cNvPr>
          <p:cNvSpPr/>
          <p:nvPr/>
        </p:nvSpPr>
        <p:spPr>
          <a:xfrm>
            <a:off x="201168" y="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JUnit 5 · Mockito · MockMvc — 세 도구의 관계</a:t>
            </a:r>
            <a:endParaRPr lang="en-US" sz="1500" dirty="0"/>
          </a:p>
        </p:txBody>
      </p:sp>
      <p:sp>
        <p:nvSpPr>
          <p:cNvPr id="64" name="Shape 5">
            <a:extLst>
              <a:ext uri="{FF2B5EF4-FFF2-40B4-BE49-F238E27FC236}">
                <a16:creationId xmlns:a16="http://schemas.microsoft.com/office/drawing/2014/main" id="{26FCC1E4-D3F1-4384-B8B1-563680345AA9}"/>
              </a:ext>
            </a:extLst>
          </p:cNvPr>
          <p:cNvSpPr/>
          <p:nvPr/>
        </p:nvSpPr>
        <p:spPr>
          <a:xfrm>
            <a:off x="228600" y="621792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1A1600"/>
          </a:solidFill>
          <a:ln w="31750">
            <a:solidFill>
              <a:srgbClr val="FCD34D"/>
            </a:solidFill>
            <a:prstDash val="solid"/>
          </a:ln>
          <a:effectLst>
            <a:outerShdw blurRad="177800" dist="635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5" name="Shape 6">
            <a:extLst>
              <a:ext uri="{FF2B5EF4-FFF2-40B4-BE49-F238E27FC236}">
                <a16:creationId xmlns:a16="http://schemas.microsoft.com/office/drawing/2014/main" id="{FA0EF97A-F6D6-42E4-BD70-B390DB3DFA6C}"/>
              </a:ext>
            </a:extLst>
          </p:cNvPr>
          <p:cNvSpPr/>
          <p:nvPr/>
        </p:nvSpPr>
        <p:spPr>
          <a:xfrm>
            <a:off x="228600" y="621792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D97706"/>
          </a:solidFill>
          <a:ln/>
        </p:spPr>
      </p:sp>
      <p:sp>
        <p:nvSpPr>
          <p:cNvPr id="66" name="Shape 7">
            <a:extLst>
              <a:ext uri="{FF2B5EF4-FFF2-40B4-BE49-F238E27FC236}">
                <a16:creationId xmlns:a16="http://schemas.microsoft.com/office/drawing/2014/main" id="{917ED0D6-B79D-45FB-A99E-B8085D968D99}"/>
              </a:ext>
            </a:extLst>
          </p:cNvPr>
          <p:cNvSpPr/>
          <p:nvPr/>
        </p:nvSpPr>
        <p:spPr>
          <a:xfrm>
            <a:off x="1161288" y="694944"/>
            <a:ext cx="457200" cy="457200"/>
          </a:xfrm>
          <a:prstGeom prst="ellipse">
            <a:avLst/>
          </a:prstGeom>
          <a:solidFill>
            <a:srgbClr val="1A1600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67" name="Text 8">
            <a:extLst>
              <a:ext uri="{FF2B5EF4-FFF2-40B4-BE49-F238E27FC236}">
                <a16:creationId xmlns:a16="http://schemas.microsoft.com/office/drawing/2014/main" id="{3BA29E5D-7891-47D3-B6E9-7E130C4DF3AB}"/>
              </a:ext>
            </a:extLst>
          </p:cNvPr>
          <p:cNvSpPr/>
          <p:nvPr/>
        </p:nvSpPr>
        <p:spPr>
          <a:xfrm>
            <a:off x="1161288" y="694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CD34D"/>
                </a:solidFill>
              </a:rPr>
              <a:t>▶</a:t>
            </a:r>
            <a:endParaRPr lang="en-US" sz="1400" dirty="0"/>
          </a:p>
        </p:txBody>
      </p:sp>
      <p:sp>
        <p:nvSpPr>
          <p:cNvPr id="68" name="Text 9">
            <a:extLst>
              <a:ext uri="{FF2B5EF4-FFF2-40B4-BE49-F238E27FC236}">
                <a16:creationId xmlns:a16="http://schemas.microsoft.com/office/drawing/2014/main" id="{B7921EA0-136C-4E50-B0C8-5F4F062B7DB7}"/>
              </a:ext>
            </a:extLst>
          </p:cNvPr>
          <p:cNvSpPr/>
          <p:nvPr/>
        </p:nvSpPr>
        <p:spPr>
          <a:xfrm>
            <a:off x="22860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1800" dirty="0"/>
          </a:p>
        </p:txBody>
      </p:sp>
      <p:sp>
        <p:nvSpPr>
          <p:cNvPr id="69" name="Shape 10">
            <a:extLst>
              <a:ext uri="{FF2B5EF4-FFF2-40B4-BE49-F238E27FC236}">
                <a16:creationId xmlns:a16="http://schemas.microsoft.com/office/drawing/2014/main" id="{529629F1-A2B5-4F3F-A4EA-D0E574547BA8}"/>
              </a:ext>
            </a:extLst>
          </p:cNvPr>
          <p:cNvSpPr/>
          <p:nvPr/>
        </p:nvSpPr>
        <p:spPr>
          <a:xfrm>
            <a:off x="411480" y="1591056"/>
            <a:ext cx="2011680" cy="274320"/>
          </a:xfrm>
          <a:prstGeom prst="roundRect">
            <a:avLst>
              <a:gd name="adj" fmla="val 13333"/>
            </a:avLst>
          </a:prstGeom>
          <a:solidFill>
            <a:srgbClr val="D97706">
              <a:alpha val="70000"/>
            </a:srgbClr>
          </a:solidFill>
          <a:ln/>
        </p:spPr>
      </p:sp>
      <p:sp>
        <p:nvSpPr>
          <p:cNvPr id="70" name="Text 11">
            <a:extLst>
              <a:ext uri="{FF2B5EF4-FFF2-40B4-BE49-F238E27FC236}">
                <a16:creationId xmlns:a16="http://schemas.microsoft.com/office/drawing/2014/main" id="{64F947E9-E479-49A8-A9A5-B06B4949921F}"/>
              </a:ext>
            </a:extLst>
          </p:cNvPr>
          <p:cNvSpPr/>
          <p:nvPr/>
        </p:nvSpPr>
        <p:spPr>
          <a:xfrm>
            <a:off x="411480" y="1591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</a:rPr>
              <a:t>테스트 실행 엔진</a:t>
            </a:r>
            <a:endParaRPr lang="en-US" sz="1000" dirty="0"/>
          </a:p>
        </p:txBody>
      </p:sp>
      <p:sp>
        <p:nvSpPr>
          <p:cNvPr id="71" name="Shape 12">
            <a:extLst>
              <a:ext uri="{FF2B5EF4-FFF2-40B4-BE49-F238E27FC236}">
                <a16:creationId xmlns:a16="http://schemas.microsoft.com/office/drawing/2014/main" id="{54C9D357-9D65-4436-A516-8AB88BA8D6BE}"/>
              </a:ext>
            </a:extLst>
          </p:cNvPr>
          <p:cNvSpPr/>
          <p:nvPr/>
        </p:nvSpPr>
        <p:spPr>
          <a:xfrm>
            <a:off x="356616" y="1975104"/>
            <a:ext cx="2121408" cy="475488"/>
          </a:xfrm>
          <a:prstGeom prst="rect">
            <a:avLst/>
          </a:prstGeom>
          <a:solidFill>
            <a:srgbClr val="1C2333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72" name="Shape 13">
            <a:extLst>
              <a:ext uri="{FF2B5EF4-FFF2-40B4-BE49-F238E27FC236}">
                <a16:creationId xmlns:a16="http://schemas.microsoft.com/office/drawing/2014/main" id="{A35B50AA-0CD9-46B1-9608-4DF9851BF71A}"/>
              </a:ext>
            </a:extLst>
          </p:cNvPr>
          <p:cNvSpPr/>
          <p:nvPr/>
        </p:nvSpPr>
        <p:spPr>
          <a:xfrm>
            <a:off x="356616" y="1975104"/>
            <a:ext cx="54864" cy="47548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73" name="Text 14">
            <a:extLst>
              <a:ext uri="{FF2B5EF4-FFF2-40B4-BE49-F238E27FC236}">
                <a16:creationId xmlns:a16="http://schemas.microsoft.com/office/drawing/2014/main" id="{8034378A-9970-4E9A-9099-FAEF7654CA6B}"/>
              </a:ext>
            </a:extLst>
          </p:cNvPr>
          <p:cNvSpPr/>
          <p:nvPr/>
        </p:nvSpPr>
        <p:spPr>
          <a:xfrm>
            <a:off x="466344" y="199339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@ExtendWith</a:t>
            </a:r>
            <a:endParaRPr lang="en-US" sz="950" dirty="0"/>
          </a:p>
        </p:txBody>
      </p:sp>
      <p:sp>
        <p:nvSpPr>
          <p:cNvPr id="74" name="Text 15">
            <a:extLst>
              <a:ext uri="{FF2B5EF4-FFF2-40B4-BE49-F238E27FC236}">
                <a16:creationId xmlns:a16="http://schemas.microsoft.com/office/drawing/2014/main" id="{88526CB7-6323-49E9-A7FD-6F5B8B673F79}"/>
              </a:ext>
            </a:extLst>
          </p:cNvPr>
          <p:cNvSpPr/>
          <p:nvPr/>
        </p:nvSpPr>
        <p:spPr>
          <a:xfrm>
            <a:off x="466344" y="221284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>
                    <a:lumMod val="85000"/>
                  </a:schemeClr>
                </a:solidFill>
              </a:rPr>
              <a:t>Mockito 확장 연결</a:t>
            </a:r>
          </a:p>
        </p:txBody>
      </p:sp>
      <p:sp>
        <p:nvSpPr>
          <p:cNvPr id="75" name="Shape 16">
            <a:extLst>
              <a:ext uri="{FF2B5EF4-FFF2-40B4-BE49-F238E27FC236}">
                <a16:creationId xmlns:a16="http://schemas.microsoft.com/office/drawing/2014/main" id="{93E3E300-1F9A-429E-A731-0E46316B274D}"/>
              </a:ext>
            </a:extLst>
          </p:cNvPr>
          <p:cNvSpPr/>
          <p:nvPr/>
        </p:nvSpPr>
        <p:spPr>
          <a:xfrm>
            <a:off x="356616" y="2542032"/>
            <a:ext cx="2121408" cy="475488"/>
          </a:xfrm>
          <a:prstGeom prst="rect">
            <a:avLst/>
          </a:prstGeom>
          <a:solidFill>
            <a:srgbClr val="1C2333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76" name="Shape 17">
            <a:extLst>
              <a:ext uri="{FF2B5EF4-FFF2-40B4-BE49-F238E27FC236}">
                <a16:creationId xmlns:a16="http://schemas.microsoft.com/office/drawing/2014/main" id="{08C59211-DAD8-4DC6-9F2B-C6347635CB2C}"/>
              </a:ext>
            </a:extLst>
          </p:cNvPr>
          <p:cNvSpPr/>
          <p:nvPr/>
        </p:nvSpPr>
        <p:spPr>
          <a:xfrm>
            <a:off x="356616" y="2542032"/>
            <a:ext cx="54864" cy="47548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77" name="Text 18">
            <a:extLst>
              <a:ext uri="{FF2B5EF4-FFF2-40B4-BE49-F238E27FC236}">
                <a16:creationId xmlns:a16="http://schemas.microsoft.com/office/drawing/2014/main" id="{72B4BB00-B19D-4151-90F9-C0AE5B360DF0}"/>
              </a:ext>
            </a:extLst>
          </p:cNvPr>
          <p:cNvSpPr/>
          <p:nvPr/>
        </p:nvSpPr>
        <p:spPr>
          <a:xfrm>
            <a:off x="466344" y="2560320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950" dirty="0"/>
          </a:p>
        </p:txBody>
      </p:sp>
      <p:sp>
        <p:nvSpPr>
          <p:cNvPr id="78" name="Text 19">
            <a:extLst>
              <a:ext uri="{FF2B5EF4-FFF2-40B4-BE49-F238E27FC236}">
                <a16:creationId xmlns:a16="http://schemas.microsoft.com/office/drawing/2014/main" id="{D8C72FF2-7EEA-4742-9D9F-DDB61AA50A08}"/>
              </a:ext>
            </a:extLst>
          </p:cNvPr>
          <p:cNvSpPr/>
          <p:nvPr/>
        </p:nvSpPr>
        <p:spPr>
          <a:xfrm>
            <a:off x="466344" y="277977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>
                    <a:lumMod val="85000"/>
                  </a:schemeClr>
                </a:solidFill>
              </a:rPr>
              <a:t>테스트 메서드 실행</a:t>
            </a:r>
          </a:p>
        </p:txBody>
      </p:sp>
      <p:sp>
        <p:nvSpPr>
          <p:cNvPr id="79" name="Shape 20">
            <a:extLst>
              <a:ext uri="{FF2B5EF4-FFF2-40B4-BE49-F238E27FC236}">
                <a16:creationId xmlns:a16="http://schemas.microsoft.com/office/drawing/2014/main" id="{73A33A12-AEFE-43AD-887E-B667E938E3F2}"/>
              </a:ext>
            </a:extLst>
          </p:cNvPr>
          <p:cNvSpPr/>
          <p:nvPr/>
        </p:nvSpPr>
        <p:spPr>
          <a:xfrm>
            <a:off x="356616" y="3108960"/>
            <a:ext cx="2121408" cy="475488"/>
          </a:xfrm>
          <a:prstGeom prst="rect">
            <a:avLst/>
          </a:prstGeom>
          <a:solidFill>
            <a:srgbClr val="1C2333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80" name="Shape 21">
            <a:extLst>
              <a:ext uri="{FF2B5EF4-FFF2-40B4-BE49-F238E27FC236}">
                <a16:creationId xmlns:a16="http://schemas.microsoft.com/office/drawing/2014/main" id="{FFF915BF-5CB7-4E1F-AB64-F6CFF598DDB0}"/>
              </a:ext>
            </a:extLst>
          </p:cNvPr>
          <p:cNvSpPr/>
          <p:nvPr/>
        </p:nvSpPr>
        <p:spPr>
          <a:xfrm>
            <a:off x="356616" y="3108960"/>
            <a:ext cx="54864" cy="47548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81" name="Text 22">
            <a:extLst>
              <a:ext uri="{FF2B5EF4-FFF2-40B4-BE49-F238E27FC236}">
                <a16:creationId xmlns:a16="http://schemas.microsoft.com/office/drawing/2014/main" id="{40DC2BFE-7800-4083-82D9-CF25EBCF7F0C}"/>
              </a:ext>
            </a:extLst>
          </p:cNvPr>
          <p:cNvSpPr/>
          <p:nvPr/>
        </p:nvSpPr>
        <p:spPr>
          <a:xfrm>
            <a:off x="466344" y="312724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@BeforeEach</a:t>
            </a:r>
            <a:endParaRPr lang="en-US" sz="950" dirty="0"/>
          </a:p>
        </p:txBody>
      </p:sp>
      <p:sp>
        <p:nvSpPr>
          <p:cNvPr id="82" name="Text 23">
            <a:extLst>
              <a:ext uri="{FF2B5EF4-FFF2-40B4-BE49-F238E27FC236}">
                <a16:creationId xmlns:a16="http://schemas.microsoft.com/office/drawing/2014/main" id="{201F5721-1CD4-42FE-A5CA-A7C8F1479416}"/>
              </a:ext>
            </a:extLst>
          </p:cNvPr>
          <p:cNvSpPr/>
          <p:nvPr/>
        </p:nvSpPr>
        <p:spPr>
          <a:xfrm>
            <a:off x="466344" y="334670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>
                    <a:lumMod val="85000"/>
                  </a:schemeClr>
                </a:solidFill>
              </a:rPr>
              <a:t>setUp() 자동 호출</a:t>
            </a:r>
          </a:p>
        </p:txBody>
      </p:sp>
      <p:sp>
        <p:nvSpPr>
          <p:cNvPr id="83" name="Shape 24">
            <a:extLst>
              <a:ext uri="{FF2B5EF4-FFF2-40B4-BE49-F238E27FC236}">
                <a16:creationId xmlns:a16="http://schemas.microsoft.com/office/drawing/2014/main" id="{6B63CF8B-6C36-4192-AA75-D54D25CE189C}"/>
              </a:ext>
            </a:extLst>
          </p:cNvPr>
          <p:cNvSpPr/>
          <p:nvPr/>
        </p:nvSpPr>
        <p:spPr>
          <a:xfrm>
            <a:off x="3383280" y="621792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021A0E"/>
          </a:solidFill>
          <a:ln w="31750">
            <a:solidFill>
              <a:srgbClr val="34D399"/>
            </a:solidFill>
            <a:prstDash val="solid"/>
          </a:ln>
          <a:effectLst>
            <a:outerShdw blurRad="177800" dist="635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4" name="Shape 25">
            <a:extLst>
              <a:ext uri="{FF2B5EF4-FFF2-40B4-BE49-F238E27FC236}">
                <a16:creationId xmlns:a16="http://schemas.microsoft.com/office/drawing/2014/main" id="{F55019F2-B214-4C52-ACD9-673DA775DDCB}"/>
              </a:ext>
            </a:extLst>
          </p:cNvPr>
          <p:cNvSpPr/>
          <p:nvPr/>
        </p:nvSpPr>
        <p:spPr>
          <a:xfrm>
            <a:off x="3383280" y="621792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059669"/>
          </a:solidFill>
          <a:ln/>
        </p:spPr>
      </p:sp>
      <p:sp>
        <p:nvSpPr>
          <p:cNvPr id="85" name="Shape 26">
            <a:extLst>
              <a:ext uri="{FF2B5EF4-FFF2-40B4-BE49-F238E27FC236}">
                <a16:creationId xmlns:a16="http://schemas.microsoft.com/office/drawing/2014/main" id="{5FD4C4B1-F0FD-4467-B9EA-634F67956BA5}"/>
              </a:ext>
            </a:extLst>
          </p:cNvPr>
          <p:cNvSpPr/>
          <p:nvPr/>
        </p:nvSpPr>
        <p:spPr>
          <a:xfrm>
            <a:off x="4315968" y="694944"/>
            <a:ext cx="457200" cy="457200"/>
          </a:xfrm>
          <a:prstGeom prst="ellipse">
            <a:avLst/>
          </a:prstGeom>
          <a:solidFill>
            <a:srgbClr val="021A0E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6" name="Text 27">
            <a:extLst>
              <a:ext uri="{FF2B5EF4-FFF2-40B4-BE49-F238E27FC236}">
                <a16:creationId xmlns:a16="http://schemas.microsoft.com/office/drawing/2014/main" id="{22EEC8DF-FD32-417F-9353-5939BCEEFED3}"/>
              </a:ext>
            </a:extLst>
          </p:cNvPr>
          <p:cNvSpPr/>
          <p:nvPr/>
        </p:nvSpPr>
        <p:spPr>
          <a:xfrm>
            <a:off x="4315968" y="694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4D399"/>
                </a:solidFill>
              </a:rPr>
              <a:t>🎭</a:t>
            </a:r>
            <a:endParaRPr lang="en-US" sz="1400" dirty="0"/>
          </a:p>
        </p:txBody>
      </p:sp>
      <p:sp>
        <p:nvSpPr>
          <p:cNvPr id="87" name="Text 28">
            <a:extLst>
              <a:ext uri="{FF2B5EF4-FFF2-40B4-BE49-F238E27FC236}">
                <a16:creationId xmlns:a16="http://schemas.microsoft.com/office/drawing/2014/main" id="{D9709091-D07D-412A-8BEA-46D76C4AB1E0}"/>
              </a:ext>
            </a:extLst>
          </p:cNvPr>
          <p:cNvSpPr/>
          <p:nvPr/>
        </p:nvSpPr>
        <p:spPr>
          <a:xfrm>
            <a:off x="338328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Mockito</a:t>
            </a:r>
            <a:endParaRPr lang="en-US" sz="1800" dirty="0"/>
          </a:p>
        </p:txBody>
      </p:sp>
      <p:sp>
        <p:nvSpPr>
          <p:cNvPr id="88" name="Shape 29">
            <a:extLst>
              <a:ext uri="{FF2B5EF4-FFF2-40B4-BE49-F238E27FC236}">
                <a16:creationId xmlns:a16="http://schemas.microsoft.com/office/drawing/2014/main" id="{9EBA25D7-385F-494F-9614-CE4719299F23}"/>
              </a:ext>
            </a:extLst>
          </p:cNvPr>
          <p:cNvSpPr/>
          <p:nvPr/>
        </p:nvSpPr>
        <p:spPr>
          <a:xfrm>
            <a:off x="3566160" y="1591056"/>
            <a:ext cx="2011680" cy="274320"/>
          </a:xfrm>
          <a:prstGeom prst="roundRect">
            <a:avLst>
              <a:gd name="adj" fmla="val 13333"/>
            </a:avLst>
          </a:prstGeom>
          <a:solidFill>
            <a:srgbClr val="059669">
              <a:alpha val="70000"/>
            </a:srgbClr>
          </a:solidFill>
          <a:ln/>
        </p:spPr>
      </p:sp>
      <p:sp>
        <p:nvSpPr>
          <p:cNvPr id="89" name="Text 30">
            <a:extLst>
              <a:ext uri="{FF2B5EF4-FFF2-40B4-BE49-F238E27FC236}">
                <a16:creationId xmlns:a16="http://schemas.microsoft.com/office/drawing/2014/main" id="{BAAED4A0-84A3-459B-875D-3B92CBF5AD1D}"/>
              </a:ext>
            </a:extLst>
          </p:cNvPr>
          <p:cNvSpPr/>
          <p:nvPr/>
        </p:nvSpPr>
        <p:spPr>
          <a:xfrm>
            <a:off x="3566160" y="1591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Mock 객체 · 의존성 격리</a:t>
            </a:r>
            <a:endParaRPr lang="en-US" sz="1000" dirty="0"/>
          </a:p>
        </p:txBody>
      </p:sp>
      <p:sp>
        <p:nvSpPr>
          <p:cNvPr id="90" name="Shape 31">
            <a:extLst>
              <a:ext uri="{FF2B5EF4-FFF2-40B4-BE49-F238E27FC236}">
                <a16:creationId xmlns:a16="http://schemas.microsoft.com/office/drawing/2014/main" id="{9F64A2C8-880A-4E07-92A4-4FE9B4C75362}"/>
              </a:ext>
            </a:extLst>
          </p:cNvPr>
          <p:cNvSpPr/>
          <p:nvPr/>
        </p:nvSpPr>
        <p:spPr>
          <a:xfrm>
            <a:off x="3511296" y="1975104"/>
            <a:ext cx="2121408" cy="475488"/>
          </a:xfrm>
          <a:prstGeom prst="rect">
            <a:avLst/>
          </a:prstGeom>
          <a:solidFill>
            <a:srgbClr val="1C2333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91" name="Shape 32">
            <a:extLst>
              <a:ext uri="{FF2B5EF4-FFF2-40B4-BE49-F238E27FC236}">
                <a16:creationId xmlns:a16="http://schemas.microsoft.com/office/drawing/2014/main" id="{750FB39D-468D-4EEB-B1A7-32D03252D584}"/>
              </a:ext>
            </a:extLst>
          </p:cNvPr>
          <p:cNvSpPr/>
          <p:nvPr/>
        </p:nvSpPr>
        <p:spPr>
          <a:xfrm>
            <a:off x="3511296" y="1975104"/>
            <a:ext cx="54864" cy="47548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2" name="Text 33">
            <a:extLst>
              <a:ext uri="{FF2B5EF4-FFF2-40B4-BE49-F238E27FC236}">
                <a16:creationId xmlns:a16="http://schemas.microsoft.com/office/drawing/2014/main" id="{4503B4B3-79A2-4D7F-AC54-7D589910C75D}"/>
              </a:ext>
            </a:extLst>
          </p:cNvPr>
          <p:cNvSpPr/>
          <p:nvPr/>
        </p:nvSpPr>
        <p:spPr>
          <a:xfrm>
            <a:off x="3621024" y="199339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@Mock</a:t>
            </a:r>
            <a:endParaRPr lang="en-US" sz="950" dirty="0"/>
          </a:p>
        </p:txBody>
      </p:sp>
      <p:sp>
        <p:nvSpPr>
          <p:cNvPr id="93" name="Text 34">
            <a:extLst>
              <a:ext uri="{FF2B5EF4-FFF2-40B4-BE49-F238E27FC236}">
                <a16:creationId xmlns:a16="http://schemas.microsoft.com/office/drawing/2014/main" id="{11749763-2A67-41DB-B274-302D4510B09A}"/>
              </a:ext>
            </a:extLst>
          </p:cNvPr>
          <p:cNvSpPr/>
          <p:nvPr/>
        </p:nvSpPr>
        <p:spPr>
          <a:xfrm>
            <a:off x="3621024" y="221284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>
                    <a:lumMod val="85000"/>
                  </a:schemeClr>
                </a:solidFill>
              </a:rPr>
              <a:t>가짜 서비스 객체 생성</a:t>
            </a:r>
          </a:p>
        </p:txBody>
      </p:sp>
      <p:sp>
        <p:nvSpPr>
          <p:cNvPr id="94" name="Shape 35">
            <a:extLst>
              <a:ext uri="{FF2B5EF4-FFF2-40B4-BE49-F238E27FC236}">
                <a16:creationId xmlns:a16="http://schemas.microsoft.com/office/drawing/2014/main" id="{C8462D7E-040C-4814-956E-75302479BAF0}"/>
              </a:ext>
            </a:extLst>
          </p:cNvPr>
          <p:cNvSpPr/>
          <p:nvPr/>
        </p:nvSpPr>
        <p:spPr>
          <a:xfrm>
            <a:off x="3511296" y="2542032"/>
            <a:ext cx="2121408" cy="475488"/>
          </a:xfrm>
          <a:prstGeom prst="rect">
            <a:avLst/>
          </a:prstGeom>
          <a:solidFill>
            <a:srgbClr val="1C2333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95" name="Shape 36">
            <a:extLst>
              <a:ext uri="{FF2B5EF4-FFF2-40B4-BE49-F238E27FC236}">
                <a16:creationId xmlns:a16="http://schemas.microsoft.com/office/drawing/2014/main" id="{DF962C79-6998-4FD6-BAFB-A6162829782D}"/>
              </a:ext>
            </a:extLst>
          </p:cNvPr>
          <p:cNvSpPr/>
          <p:nvPr/>
        </p:nvSpPr>
        <p:spPr>
          <a:xfrm>
            <a:off x="3511296" y="2542032"/>
            <a:ext cx="54864" cy="47548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6" name="Text 37">
            <a:extLst>
              <a:ext uri="{FF2B5EF4-FFF2-40B4-BE49-F238E27FC236}">
                <a16:creationId xmlns:a16="http://schemas.microsoft.com/office/drawing/2014/main" id="{9B579674-1E07-4590-A75E-5EBEF479990B}"/>
              </a:ext>
            </a:extLst>
          </p:cNvPr>
          <p:cNvSpPr/>
          <p:nvPr/>
        </p:nvSpPr>
        <p:spPr>
          <a:xfrm>
            <a:off x="3621024" y="2560320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when().thenReturn()</a:t>
            </a:r>
            <a:endParaRPr lang="en-US" sz="950" dirty="0"/>
          </a:p>
        </p:txBody>
      </p:sp>
      <p:sp>
        <p:nvSpPr>
          <p:cNvPr id="97" name="Text 38">
            <a:extLst>
              <a:ext uri="{FF2B5EF4-FFF2-40B4-BE49-F238E27FC236}">
                <a16:creationId xmlns:a16="http://schemas.microsoft.com/office/drawing/2014/main" id="{A28D6B7C-B0BD-4F94-BA4C-58797392B6A9}"/>
              </a:ext>
            </a:extLst>
          </p:cNvPr>
          <p:cNvSpPr/>
          <p:nvPr/>
        </p:nvSpPr>
        <p:spPr>
          <a:xfrm>
            <a:off x="3621024" y="277977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>
                    <a:lumMod val="85000"/>
                  </a:schemeClr>
                </a:solidFill>
              </a:rPr>
              <a:t>반환값 사전 정의 (Given)</a:t>
            </a:r>
          </a:p>
        </p:txBody>
      </p:sp>
      <p:sp>
        <p:nvSpPr>
          <p:cNvPr id="98" name="Shape 39">
            <a:extLst>
              <a:ext uri="{FF2B5EF4-FFF2-40B4-BE49-F238E27FC236}">
                <a16:creationId xmlns:a16="http://schemas.microsoft.com/office/drawing/2014/main" id="{3A791EB3-C7F0-4C26-86DE-5000E2B631E8}"/>
              </a:ext>
            </a:extLst>
          </p:cNvPr>
          <p:cNvSpPr/>
          <p:nvPr/>
        </p:nvSpPr>
        <p:spPr>
          <a:xfrm>
            <a:off x="3511296" y="3108960"/>
            <a:ext cx="2121408" cy="475488"/>
          </a:xfrm>
          <a:prstGeom prst="rect">
            <a:avLst/>
          </a:prstGeom>
          <a:solidFill>
            <a:srgbClr val="1C2333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99" name="Shape 40">
            <a:extLst>
              <a:ext uri="{FF2B5EF4-FFF2-40B4-BE49-F238E27FC236}">
                <a16:creationId xmlns:a16="http://schemas.microsoft.com/office/drawing/2014/main" id="{F5BEED5C-FC97-477B-8AED-34D025E04C76}"/>
              </a:ext>
            </a:extLst>
          </p:cNvPr>
          <p:cNvSpPr/>
          <p:nvPr/>
        </p:nvSpPr>
        <p:spPr>
          <a:xfrm>
            <a:off x="3511296" y="3108960"/>
            <a:ext cx="54864" cy="47548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00" name="Text 41">
            <a:extLst>
              <a:ext uri="{FF2B5EF4-FFF2-40B4-BE49-F238E27FC236}">
                <a16:creationId xmlns:a16="http://schemas.microsoft.com/office/drawing/2014/main" id="{E4CD1C42-082A-4FEC-88D0-3937900B8C6A}"/>
              </a:ext>
            </a:extLst>
          </p:cNvPr>
          <p:cNvSpPr/>
          <p:nvPr/>
        </p:nvSpPr>
        <p:spPr>
          <a:xfrm>
            <a:off x="3621024" y="312724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verify()</a:t>
            </a:r>
            <a:endParaRPr lang="en-US" sz="950" dirty="0"/>
          </a:p>
        </p:txBody>
      </p:sp>
      <p:sp>
        <p:nvSpPr>
          <p:cNvPr id="101" name="Text 42">
            <a:extLst>
              <a:ext uri="{FF2B5EF4-FFF2-40B4-BE49-F238E27FC236}">
                <a16:creationId xmlns:a16="http://schemas.microsoft.com/office/drawing/2014/main" id="{65AB7F91-BAE1-451E-9806-D52E624FC814}"/>
              </a:ext>
            </a:extLst>
          </p:cNvPr>
          <p:cNvSpPr/>
          <p:nvPr/>
        </p:nvSpPr>
        <p:spPr>
          <a:xfrm>
            <a:off x="3621024" y="334670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>
                    <a:lumMod val="85000"/>
                  </a:schemeClr>
                </a:solidFill>
              </a:rPr>
              <a:t>호출 횟수 검증 (별도)</a:t>
            </a:r>
          </a:p>
        </p:txBody>
      </p:sp>
      <p:sp>
        <p:nvSpPr>
          <p:cNvPr id="102" name="Shape 43">
            <a:extLst>
              <a:ext uri="{FF2B5EF4-FFF2-40B4-BE49-F238E27FC236}">
                <a16:creationId xmlns:a16="http://schemas.microsoft.com/office/drawing/2014/main" id="{85636BAC-9E25-4A26-A989-64232653CEA3}"/>
              </a:ext>
            </a:extLst>
          </p:cNvPr>
          <p:cNvSpPr/>
          <p:nvPr/>
        </p:nvSpPr>
        <p:spPr>
          <a:xfrm>
            <a:off x="6537960" y="621792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1A0505"/>
          </a:solidFill>
          <a:ln w="31750">
            <a:solidFill>
              <a:srgbClr val="F87171"/>
            </a:solidFill>
            <a:prstDash val="solid"/>
          </a:ln>
          <a:effectLst>
            <a:outerShdw blurRad="177800" dist="635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3" name="Shape 44">
            <a:extLst>
              <a:ext uri="{FF2B5EF4-FFF2-40B4-BE49-F238E27FC236}">
                <a16:creationId xmlns:a16="http://schemas.microsoft.com/office/drawing/2014/main" id="{E833ADD2-8ED7-4A2C-98B1-439E1A08CBCE}"/>
              </a:ext>
            </a:extLst>
          </p:cNvPr>
          <p:cNvSpPr/>
          <p:nvPr/>
        </p:nvSpPr>
        <p:spPr>
          <a:xfrm>
            <a:off x="6537960" y="621792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DC2626"/>
          </a:solidFill>
          <a:ln/>
        </p:spPr>
      </p:sp>
      <p:sp>
        <p:nvSpPr>
          <p:cNvPr id="104" name="Shape 45">
            <a:extLst>
              <a:ext uri="{FF2B5EF4-FFF2-40B4-BE49-F238E27FC236}">
                <a16:creationId xmlns:a16="http://schemas.microsoft.com/office/drawing/2014/main" id="{CFC9412C-F3A9-4523-98EA-6D973CB3A921}"/>
              </a:ext>
            </a:extLst>
          </p:cNvPr>
          <p:cNvSpPr/>
          <p:nvPr/>
        </p:nvSpPr>
        <p:spPr>
          <a:xfrm>
            <a:off x="7470648" y="694944"/>
            <a:ext cx="457200" cy="457200"/>
          </a:xfrm>
          <a:prstGeom prst="ellipse">
            <a:avLst/>
          </a:prstGeom>
          <a:solidFill>
            <a:srgbClr val="1A0505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05" name="Text 46">
            <a:extLst>
              <a:ext uri="{FF2B5EF4-FFF2-40B4-BE49-F238E27FC236}">
                <a16:creationId xmlns:a16="http://schemas.microsoft.com/office/drawing/2014/main" id="{A68E4DFC-7BF6-459A-909D-E704232FE51F}"/>
              </a:ext>
            </a:extLst>
          </p:cNvPr>
          <p:cNvSpPr/>
          <p:nvPr/>
        </p:nvSpPr>
        <p:spPr>
          <a:xfrm>
            <a:off x="7470648" y="694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7171"/>
                </a:solidFill>
              </a:rPr>
              <a:t>🌐</a:t>
            </a:r>
            <a:endParaRPr lang="en-US" sz="1400" dirty="0"/>
          </a:p>
        </p:txBody>
      </p:sp>
      <p:sp>
        <p:nvSpPr>
          <p:cNvPr id="106" name="Text 47">
            <a:extLst>
              <a:ext uri="{FF2B5EF4-FFF2-40B4-BE49-F238E27FC236}">
                <a16:creationId xmlns:a16="http://schemas.microsoft.com/office/drawing/2014/main" id="{993A7852-3FFA-4AFF-8073-0A209648583E}"/>
              </a:ext>
            </a:extLst>
          </p:cNvPr>
          <p:cNvSpPr/>
          <p:nvPr/>
        </p:nvSpPr>
        <p:spPr>
          <a:xfrm>
            <a:off x="653796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</a:t>
            </a:r>
            <a:endParaRPr lang="en-US" sz="1800" dirty="0"/>
          </a:p>
        </p:txBody>
      </p:sp>
      <p:sp>
        <p:nvSpPr>
          <p:cNvPr id="107" name="Shape 48">
            <a:extLst>
              <a:ext uri="{FF2B5EF4-FFF2-40B4-BE49-F238E27FC236}">
                <a16:creationId xmlns:a16="http://schemas.microsoft.com/office/drawing/2014/main" id="{BC01A234-F32E-4E6D-8184-577F9F1393E3}"/>
              </a:ext>
            </a:extLst>
          </p:cNvPr>
          <p:cNvSpPr/>
          <p:nvPr/>
        </p:nvSpPr>
        <p:spPr>
          <a:xfrm>
            <a:off x="6720840" y="1591056"/>
            <a:ext cx="2011680" cy="274320"/>
          </a:xfrm>
          <a:prstGeom prst="roundRect">
            <a:avLst>
              <a:gd name="adj" fmla="val 13333"/>
            </a:avLst>
          </a:prstGeom>
          <a:solidFill>
            <a:srgbClr val="DC2626">
              <a:alpha val="70000"/>
            </a:srgbClr>
          </a:solidFill>
          <a:ln/>
        </p:spPr>
      </p:sp>
      <p:sp>
        <p:nvSpPr>
          <p:cNvPr id="108" name="Text 49">
            <a:extLst>
              <a:ext uri="{FF2B5EF4-FFF2-40B4-BE49-F238E27FC236}">
                <a16:creationId xmlns:a16="http://schemas.microsoft.com/office/drawing/2014/main" id="{3CDE10E9-1AB7-4F36-A725-5DC7E5888745}"/>
              </a:ext>
            </a:extLst>
          </p:cNvPr>
          <p:cNvSpPr/>
          <p:nvPr/>
        </p:nvSpPr>
        <p:spPr>
          <a:xfrm>
            <a:off x="6720840" y="1591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HTTP </a:t>
            </a:r>
            <a:r>
              <a:rPr lang="en-US" sz="1000" b="1" dirty="0" err="1">
                <a:solidFill>
                  <a:srgbClr val="FFFFFF"/>
                </a:solidFill>
              </a:rPr>
              <a:t>시뮬레이션</a:t>
            </a:r>
            <a:endParaRPr lang="en-US" sz="1000" dirty="0"/>
          </a:p>
        </p:txBody>
      </p:sp>
      <p:sp>
        <p:nvSpPr>
          <p:cNvPr id="109" name="Shape 50">
            <a:extLst>
              <a:ext uri="{FF2B5EF4-FFF2-40B4-BE49-F238E27FC236}">
                <a16:creationId xmlns:a16="http://schemas.microsoft.com/office/drawing/2014/main" id="{EBA96796-70F7-411D-ADAB-0DB1B14C6F04}"/>
              </a:ext>
            </a:extLst>
          </p:cNvPr>
          <p:cNvSpPr/>
          <p:nvPr/>
        </p:nvSpPr>
        <p:spPr>
          <a:xfrm>
            <a:off x="6665976" y="1975104"/>
            <a:ext cx="2121408" cy="475488"/>
          </a:xfrm>
          <a:prstGeom prst="rect">
            <a:avLst/>
          </a:prstGeom>
          <a:solidFill>
            <a:srgbClr val="1C2333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10" name="Shape 51">
            <a:extLst>
              <a:ext uri="{FF2B5EF4-FFF2-40B4-BE49-F238E27FC236}">
                <a16:creationId xmlns:a16="http://schemas.microsoft.com/office/drawing/2014/main" id="{EAA78303-0EDD-4B32-8F21-95485283C042}"/>
              </a:ext>
            </a:extLst>
          </p:cNvPr>
          <p:cNvSpPr/>
          <p:nvPr/>
        </p:nvSpPr>
        <p:spPr>
          <a:xfrm>
            <a:off x="6665976" y="1975104"/>
            <a:ext cx="54864" cy="47548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11" name="Text 52">
            <a:extLst>
              <a:ext uri="{FF2B5EF4-FFF2-40B4-BE49-F238E27FC236}">
                <a16:creationId xmlns:a16="http://schemas.microsoft.com/office/drawing/2014/main" id="{09C7BC95-0D48-463D-8863-A36F5218CBD1}"/>
              </a:ext>
            </a:extLst>
          </p:cNvPr>
          <p:cNvSpPr/>
          <p:nvPr/>
        </p:nvSpPr>
        <p:spPr>
          <a:xfrm>
            <a:off x="6775704" y="199339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standaloneSetup()</a:t>
            </a:r>
            <a:endParaRPr lang="en-US" sz="950" dirty="0"/>
          </a:p>
        </p:txBody>
      </p:sp>
      <p:sp>
        <p:nvSpPr>
          <p:cNvPr id="112" name="Text 53">
            <a:extLst>
              <a:ext uri="{FF2B5EF4-FFF2-40B4-BE49-F238E27FC236}">
                <a16:creationId xmlns:a16="http://schemas.microsoft.com/office/drawing/2014/main" id="{7C90BC56-9F86-4BA3-B1D7-FD57F8880003}"/>
              </a:ext>
            </a:extLst>
          </p:cNvPr>
          <p:cNvSpPr/>
          <p:nvPr/>
        </p:nvSpPr>
        <p:spPr>
          <a:xfrm>
            <a:off x="6775704" y="221284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>
                    <a:lumMod val="85000"/>
                  </a:schemeClr>
                </a:solidFill>
              </a:rPr>
              <a:t>Spring </a:t>
            </a:r>
            <a:r>
              <a:rPr lang="ko-KR" altLang="en-US" sz="850" dirty="0">
                <a:solidFill>
                  <a:schemeClr val="bg1">
                    <a:lumMod val="85000"/>
                  </a:schemeClr>
                </a:solidFill>
              </a:rPr>
              <a:t>컨텍스트</a:t>
            </a:r>
            <a:r>
              <a:rPr lang="en-US" sz="850" dirty="0" err="1">
                <a:solidFill>
                  <a:schemeClr val="bg1">
                    <a:lumMod val="85000"/>
                  </a:schemeClr>
                </a:solidFill>
              </a:rPr>
              <a:t>없이</a:t>
            </a:r>
            <a:r>
              <a:rPr lang="en-US" sz="85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850" dirty="0" err="1">
                <a:solidFill>
                  <a:schemeClr val="bg1">
                    <a:lumMod val="85000"/>
                  </a:schemeClr>
                </a:solidFill>
              </a:rPr>
              <a:t>컨트롤러</a:t>
            </a:r>
            <a:r>
              <a:rPr lang="en-US" sz="85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ko-KR" altLang="en-US" sz="850" dirty="0">
                <a:solidFill>
                  <a:schemeClr val="bg1">
                    <a:lumMod val="85000"/>
                  </a:schemeClr>
                </a:solidFill>
              </a:rPr>
              <a:t>설정</a:t>
            </a:r>
            <a:endParaRPr lang="en-US" sz="8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3" name="Shape 54">
            <a:extLst>
              <a:ext uri="{FF2B5EF4-FFF2-40B4-BE49-F238E27FC236}">
                <a16:creationId xmlns:a16="http://schemas.microsoft.com/office/drawing/2014/main" id="{ECC13CF8-E4C3-4826-B060-CD6A259402BD}"/>
              </a:ext>
            </a:extLst>
          </p:cNvPr>
          <p:cNvSpPr/>
          <p:nvPr/>
        </p:nvSpPr>
        <p:spPr>
          <a:xfrm>
            <a:off x="6665976" y="2542032"/>
            <a:ext cx="2121408" cy="475488"/>
          </a:xfrm>
          <a:prstGeom prst="rect">
            <a:avLst/>
          </a:prstGeom>
          <a:solidFill>
            <a:srgbClr val="1C2333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14" name="Shape 55">
            <a:extLst>
              <a:ext uri="{FF2B5EF4-FFF2-40B4-BE49-F238E27FC236}">
                <a16:creationId xmlns:a16="http://schemas.microsoft.com/office/drawing/2014/main" id="{7B1CAAEF-9ABD-413F-B5D2-0EA7A236C559}"/>
              </a:ext>
            </a:extLst>
          </p:cNvPr>
          <p:cNvSpPr/>
          <p:nvPr/>
        </p:nvSpPr>
        <p:spPr>
          <a:xfrm>
            <a:off x="6665976" y="2542032"/>
            <a:ext cx="54864" cy="47548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15" name="Text 56">
            <a:extLst>
              <a:ext uri="{FF2B5EF4-FFF2-40B4-BE49-F238E27FC236}">
                <a16:creationId xmlns:a16="http://schemas.microsoft.com/office/drawing/2014/main" id="{FC8BA158-12E1-48AE-8E5C-5AE33472CF41}"/>
              </a:ext>
            </a:extLst>
          </p:cNvPr>
          <p:cNvSpPr/>
          <p:nvPr/>
        </p:nvSpPr>
        <p:spPr>
          <a:xfrm>
            <a:off x="6775704" y="2560320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perform()</a:t>
            </a:r>
            <a:endParaRPr lang="en-US" sz="950" dirty="0"/>
          </a:p>
        </p:txBody>
      </p:sp>
      <p:sp>
        <p:nvSpPr>
          <p:cNvPr id="116" name="Text 57">
            <a:extLst>
              <a:ext uri="{FF2B5EF4-FFF2-40B4-BE49-F238E27FC236}">
                <a16:creationId xmlns:a16="http://schemas.microsoft.com/office/drawing/2014/main" id="{5BC9C453-9F9F-4BE0-A302-A445E4E2A7E9}"/>
              </a:ext>
            </a:extLst>
          </p:cNvPr>
          <p:cNvSpPr/>
          <p:nvPr/>
        </p:nvSpPr>
        <p:spPr>
          <a:xfrm>
            <a:off x="6775704" y="277977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>
                    <a:lumMod val="85000"/>
                  </a:schemeClr>
                </a:solidFill>
              </a:rPr>
              <a:t>HTTP 요청 전송</a:t>
            </a:r>
          </a:p>
        </p:txBody>
      </p:sp>
      <p:sp>
        <p:nvSpPr>
          <p:cNvPr id="117" name="Shape 58">
            <a:extLst>
              <a:ext uri="{FF2B5EF4-FFF2-40B4-BE49-F238E27FC236}">
                <a16:creationId xmlns:a16="http://schemas.microsoft.com/office/drawing/2014/main" id="{E14F5843-F085-4686-BEC1-8DB685CE8164}"/>
              </a:ext>
            </a:extLst>
          </p:cNvPr>
          <p:cNvSpPr/>
          <p:nvPr/>
        </p:nvSpPr>
        <p:spPr>
          <a:xfrm>
            <a:off x="6665976" y="3108960"/>
            <a:ext cx="2121408" cy="475488"/>
          </a:xfrm>
          <a:prstGeom prst="rect">
            <a:avLst/>
          </a:prstGeom>
          <a:solidFill>
            <a:srgbClr val="1C2333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18" name="Shape 59">
            <a:extLst>
              <a:ext uri="{FF2B5EF4-FFF2-40B4-BE49-F238E27FC236}">
                <a16:creationId xmlns:a16="http://schemas.microsoft.com/office/drawing/2014/main" id="{B9DDC767-D397-4FDB-A495-DCD340498AB2}"/>
              </a:ext>
            </a:extLst>
          </p:cNvPr>
          <p:cNvSpPr/>
          <p:nvPr/>
        </p:nvSpPr>
        <p:spPr>
          <a:xfrm>
            <a:off x="6665976" y="3108960"/>
            <a:ext cx="54864" cy="47548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19" name="Text 60">
            <a:extLst>
              <a:ext uri="{FF2B5EF4-FFF2-40B4-BE49-F238E27FC236}">
                <a16:creationId xmlns:a16="http://schemas.microsoft.com/office/drawing/2014/main" id="{6228B3FC-7B0E-4A99-BA8B-42257532AFBE}"/>
              </a:ext>
            </a:extLst>
          </p:cNvPr>
          <p:cNvSpPr/>
          <p:nvPr/>
        </p:nvSpPr>
        <p:spPr>
          <a:xfrm>
            <a:off x="6775704" y="312724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andExpect()</a:t>
            </a:r>
            <a:endParaRPr lang="en-US" sz="950" dirty="0"/>
          </a:p>
        </p:txBody>
      </p:sp>
      <p:sp>
        <p:nvSpPr>
          <p:cNvPr id="120" name="Text 61">
            <a:extLst>
              <a:ext uri="{FF2B5EF4-FFF2-40B4-BE49-F238E27FC236}">
                <a16:creationId xmlns:a16="http://schemas.microsoft.com/office/drawing/2014/main" id="{7E577E40-F569-495C-95B8-8FC0979CA409}"/>
              </a:ext>
            </a:extLst>
          </p:cNvPr>
          <p:cNvSpPr/>
          <p:nvPr/>
        </p:nvSpPr>
        <p:spPr>
          <a:xfrm>
            <a:off x="6775704" y="334670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>
                    <a:lumMod val="85000"/>
                  </a:schemeClr>
                </a:solidFill>
              </a:rPr>
              <a:t>상태코드·JSON 응답 검증</a:t>
            </a:r>
          </a:p>
        </p:txBody>
      </p:sp>
      <p:sp>
        <p:nvSpPr>
          <p:cNvPr id="121" name="Shape 62">
            <a:extLst>
              <a:ext uri="{FF2B5EF4-FFF2-40B4-BE49-F238E27FC236}">
                <a16:creationId xmlns:a16="http://schemas.microsoft.com/office/drawing/2014/main" id="{29C11BBA-588C-4709-BF27-8924C69FDF0E}"/>
              </a:ext>
            </a:extLst>
          </p:cNvPr>
          <p:cNvSpPr/>
          <p:nvPr/>
        </p:nvSpPr>
        <p:spPr>
          <a:xfrm>
            <a:off x="2606040" y="2267712"/>
            <a:ext cx="777240" cy="0"/>
          </a:xfrm>
          <a:prstGeom prst="line">
            <a:avLst/>
          </a:prstGeom>
          <a:noFill/>
          <a:ln w="22860">
            <a:solidFill>
              <a:srgbClr val="6B7280"/>
            </a:solidFill>
            <a:prstDash val="solid"/>
          </a:ln>
        </p:spPr>
      </p:sp>
      <p:sp>
        <p:nvSpPr>
          <p:cNvPr id="122" name="Shape 63">
            <a:extLst>
              <a:ext uri="{FF2B5EF4-FFF2-40B4-BE49-F238E27FC236}">
                <a16:creationId xmlns:a16="http://schemas.microsoft.com/office/drawing/2014/main" id="{71D2907D-1C7C-4898-8EB2-8CEC2255956F}"/>
              </a:ext>
            </a:extLst>
          </p:cNvPr>
          <p:cNvSpPr/>
          <p:nvPr/>
        </p:nvSpPr>
        <p:spPr>
          <a:xfrm>
            <a:off x="3291840" y="2212848"/>
            <a:ext cx="109728" cy="10972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3" name="Shape 66">
            <a:extLst>
              <a:ext uri="{FF2B5EF4-FFF2-40B4-BE49-F238E27FC236}">
                <a16:creationId xmlns:a16="http://schemas.microsoft.com/office/drawing/2014/main" id="{4445CC5C-B36F-40CC-BF1C-BD6D7D7B7CEE}"/>
              </a:ext>
            </a:extLst>
          </p:cNvPr>
          <p:cNvSpPr/>
          <p:nvPr/>
        </p:nvSpPr>
        <p:spPr>
          <a:xfrm>
            <a:off x="5760720" y="2267712"/>
            <a:ext cx="777240" cy="0"/>
          </a:xfrm>
          <a:prstGeom prst="line">
            <a:avLst/>
          </a:prstGeom>
          <a:noFill/>
          <a:ln w="22860">
            <a:solidFill>
              <a:srgbClr val="6B7280"/>
            </a:solidFill>
            <a:prstDash val="solid"/>
          </a:ln>
        </p:spPr>
      </p:sp>
      <p:sp>
        <p:nvSpPr>
          <p:cNvPr id="124" name="Shape 67">
            <a:extLst>
              <a:ext uri="{FF2B5EF4-FFF2-40B4-BE49-F238E27FC236}">
                <a16:creationId xmlns:a16="http://schemas.microsoft.com/office/drawing/2014/main" id="{4C2AEE83-1BF4-4859-9349-3FA0F4F87561}"/>
              </a:ext>
            </a:extLst>
          </p:cNvPr>
          <p:cNvSpPr/>
          <p:nvPr/>
        </p:nvSpPr>
        <p:spPr>
          <a:xfrm>
            <a:off x="6446520" y="2212848"/>
            <a:ext cx="109728" cy="10972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5" name="Shape 70">
            <a:extLst>
              <a:ext uri="{FF2B5EF4-FFF2-40B4-BE49-F238E27FC236}">
                <a16:creationId xmlns:a16="http://schemas.microsoft.com/office/drawing/2014/main" id="{6DC7F434-EE38-482B-A222-AA8D555910E4}"/>
              </a:ext>
            </a:extLst>
          </p:cNvPr>
          <p:cNvSpPr/>
          <p:nvPr/>
        </p:nvSpPr>
        <p:spPr>
          <a:xfrm>
            <a:off x="0" y="4041648"/>
            <a:ext cx="9144000" cy="1097280"/>
          </a:xfrm>
          <a:prstGeom prst="rect">
            <a:avLst/>
          </a:prstGeom>
          <a:solidFill>
            <a:srgbClr val="161B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26" name="Text 71">
            <a:extLst>
              <a:ext uri="{FF2B5EF4-FFF2-40B4-BE49-F238E27FC236}">
                <a16:creationId xmlns:a16="http://schemas.microsoft.com/office/drawing/2014/main" id="{2C99798B-DF7B-4367-B033-829CF1AD29CA}"/>
              </a:ext>
            </a:extLst>
          </p:cNvPr>
          <p:cNvSpPr/>
          <p:nvPr/>
        </p:nvSpPr>
        <p:spPr>
          <a:xfrm>
            <a:off x="274320" y="407822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</a:rPr>
              <a:t>하나의 테스트 메서드 안에서 세 도구가 협력하는 방식</a:t>
            </a:r>
            <a:endParaRPr lang="en-US" sz="1100" dirty="0"/>
          </a:p>
        </p:txBody>
      </p:sp>
      <p:sp>
        <p:nvSpPr>
          <p:cNvPr id="127" name="Shape 72">
            <a:extLst>
              <a:ext uri="{FF2B5EF4-FFF2-40B4-BE49-F238E27FC236}">
                <a16:creationId xmlns:a16="http://schemas.microsoft.com/office/drawing/2014/main" id="{B43154B0-93FB-4231-AD28-C029DBCD81A6}"/>
              </a:ext>
            </a:extLst>
          </p:cNvPr>
          <p:cNvSpPr/>
          <p:nvPr/>
        </p:nvSpPr>
        <p:spPr>
          <a:xfrm>
            <a:off x="228606" y="4370832"/>
            <a:ext cx="2834640" cy="694944"/>
          </a:xfrm>
          <a:prstGeom prst="roundRect">
            <a:avLst>
              <a:gd name="adj" fmla="val 7895"/>
            </a:avLst>
          </a:prstGeom>
          <a:solidFill>
            <a:srgbClr val="1C2333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28" name="Shape 73">
            <a:extLst>
              <a:ext uri="{FF2B5EF4-FFF2-40B4-BE49-F238E27FC236}">
                <a16:creationId xmlns:a16="http://schemas.microsoft.com/office/drawing/2014/main" id="{55BFD5D6-E5F2-4067-91B4-67A61FFAD1B6}"/>
              </a:ext>
            </a:extLst>
          </p:cNvPr>
          <p:cNvSpPr/>
          <p:nvPr/>
        </p:nvSpPr>
        <p:spPr>
          <a:xfrm>
            <a:off x="338334" y="4480560"/>
            <a:ext cx="292608" cy="292608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29" name="Text 74">
            <a:extLst>
              <a:ext uri="{FF2B5EF4-FFF2-40B4-BE49-F238E27FC236}">
                <a16:creationId xmlns:a16="http://schemas.microsoft.com/office/drawing/2014/main" id="{F4C7C0D5-9666-40B9-8479-F7D52FEFBB6D}"/>
              </a:ext>
            </a:extLst>
          </p:cNvPr>
          <p:cNvSpPr/>
          <p:nvPr/>
        </p:nvSpPr>
        <p:spPr>
          <a:xfrm>
            <a:off x="338334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①</a:t>
            </a:r>
            <a:endParaRPr lang="en-US" sz="1000" dirty="0"/>
          </a:p>
        </p:txBody>
      </p:sp>
      <p:sp>
        <p:nvSpPr>
          <p:cNvPr id="130" name="Text 75">
            <a:extLst>
              <a:ext uri="{FF2B5EF4-FFF2-40B4-BE49-F238E27FC236}">
                <a16:creationId xmlns:a16="http://schemas.microsoft.com/office/drawing/2014/main" id="{8517A5CB-0E19-4D0E-B18C-44084F1F39F5}"/>
              </a:ext>
            </a:extLst>
          </p:cNvPr>
          <p:cNvSpPr/>
          <p:nvPr/>
        </p:nvSpPr>
        <p:spPr>
          <a:xfrm>
            <a:off x="704094" y="4370832"/>
            <a:ext cx="23317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JUnit 5</a:t>
            </a:r>
            <a:r>
              <a:rPr lang="en-US" sz="900" dirty="0">
                <a:solidFill>
                  <a:srgbClr val="E2E8F0"/>
                </a:solidFill>
              </a:rPr>
              <a:t> — </a:t>
            </a:r>
            <a:r>
              <a:rPr lang="en-US" sz="900" dirty="0" err="1">
                <a:solidFill>
                  <a:srgbClr val="E2E8F0"/>
                </a:solidFill>
              </a:rPr>
              <a:t>테스트</a:t>
            </a:r>
            <a:r>
              <a:rPr lang="en-US" sz="900" dirty="0">
                <a:solidFill>
                  <a:srgbClr val="E2E8F0"/>
                </a:solidFill>
              </a:rPr>
              <a:t> </a:t>
            </a:r>
            <a:r>
              <a:rPr lang="ko-KR" altLang="en-US" sz="900" dirty="0">
                <a:solidFill>
                  <a:srgbClr val="E2E8F0"/>
                </a:solidFill>
              </a:rPr>
              <a:t>메소드를 정의하고</a:t>
            </a:r>
            <a:endParaRPr lang="en-US" altLang="ko-KR" sz="900" dirty="0">
              <a:solidFill>
                <a:srgbClr val="E2E8F0"/>
              </a:solidFill>
            </a:endParaRPr>
          </a:p>
          <a:p>
            <a:pPr marL="0" indent="0">
              <a:buNone/>
            </a:pPr>
            <a:r>
              <a:rPr lang="en-US" altLang="ko-KR" sz="900" dirty="0">
                <a:solidFill>
                  <a:srgbClr val="E2E8F0"/>
                </a:solidFill>
              </a:rPr>
              <a:t>                 </a:t>
            </a:r>
            <a:r>
              <a:rPr lang="ko-KR" altLang="en-US" sz="900" dirty="0">
                <a:solidFill>
                  <a:srgbClr val="E2E8F0"/>
                </a:solidFill>
              </a:rPr>
              <a:t> 실행하는 프레임워크</a:t>
            </a:r>
            <a:endParaRPr lang="en-US" sz="900" dirty="0"/>
          </a:p>
        </p:txBody>
      </p:sp>
      <p:sp>
        <p:nvSpPr>
          <p:cNvPr id="131" name="Shape 76">
            <a:extLst>
              <a:ext uri="{FF2B5EF4-FFF2-40B4-BE49-F238E27FC236}">
                <a16:creationId xmlns:a16="http://schemas.microsoft.com/office/drawing/2014/main" id="{E6730EBF-FF00-4B53-B66B-BC96E2567143}"/>
              </a:ext>
            </a:extLst>
          </p:cNvPr>
          <p:cNvSpPr/>
          <p:nvPr/>
        </p:nvSpPr>
        <p:spPr>
          <a:xfrm>
            <a:off x="3233064" y="4370832"/>
            <a:ext cx="2834640" cy="694944"/>
          </a:xfrm>
          <a:prstGeom prst="roundRect">
            <a:avLst>
              <a:gd name="adj" fmla="val 7895"/>
            </a:avLst>
          </a:prstGeom>
          <a:solidFill>
            <a:srgbClr val="1C2333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32" name="Shape 77">
            <a:extLst>
              <a:ext uri="{FF2B5EF4-FFF2-40B4-BE49-F238E27FC236}">
                <a16:creationId xmlns:a16="http://schemas.microsoft.com/office/drawing/2014/main" id="{673916F7-E0D9-486B-8734-9E164530ED22}"/>
              </a:ext>
            </a:extLst>
          </p:cNvPr>
          <p:cNvSpPr/>
          <p:nvPr/>
        </p:nvSpPr>
        <p:spPr>
          <a:xfrm>
            <a:off x="3342792" y="4480560"/>
            <a:ext cx="292608" cy="2926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3" name="Text 78">
            <a:extLst>
              <a:ext uri="{FF2B5EF4-FFF2-40B4-BE49-F238E27FC236}">
                <a16:creationId xmlns:a16="http://schemas.microsoft.com/office/drawing/2014/main" id="{624E27FB-077F-412D-847E-2294524BEC29}"/>
              </a:ext>
            </a:extLst>
          </p:cNvPr>
          <p:cNvSpPr/>
          <p:nvPr/>
        </p:nvSpPr>
        <p:spPr>
          <a:xfrm>
            <a:off x="3342792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②</a:t>
            </a:r>
            <a:endParaRPr lang="en-US" sz="1000" dirty="0"/>
          </a:p>
        </p:txBody>
      </p:sp>
      <p:sp>
        <p:nvSpPr>
          <p:cNvPr id="134" name="Text 79">
            <a:extLst>
              <a:ext uri="{FF2B5EF4-FFF2-40B4-BE49-F238E27FC236}">
                <a16:creationId xmlns:a16="http://schemas.microsoft.com/office/drawing/2014/main" id="{6D22E392-D89D-49BA-86DC-6B1CBB7BF0CF}"/>
              </a:ext>
            </a:extLst>
          </p:cNvPr>
          <p:cNvSpPr/>
          <p:nvPr/>
        </p:nvSpPr>
        <p:spPr>
          <a:xfrm>
            <a:off x="3708552" y="4370832"/>
            <a:ext cx="23317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</a:rPr>
              <a:t>Mockito</a:t>
            </a:r>
            <a:r>
              <a:rPr lang="en-US" sz="900" dirty="0">
                <a:solidFill>
                  <a:srgbClr val="E2E8F0"/>
                </a:solidFill>
              </a:rPr>
              <a:t> </a:t>
            </a:r>
            <a:r>
              <a:rPr lang="ko-KR" altLang="en-US" sz="900" dirty="0">
                <a:solidFill>
                  <a:srgbClr val="E2E8F0"/>
                </a:solidFill>
              </a:rPr>
              <a:t>실제 의존 객체 대신 </a:t>
            </a:r>
            <a:endParaRPr lang="en-US" altLang="ko-KR" sz="900" dirty="0">
              <a:solidFill>
                <a:srgbClr val="E2E8F0"/>
              </a:solidFill>
            </a:endParaRPr>
          </a:p>
          <a:p>
            <a:pPr marL="0" indent="0">
              <a:buNone/>
            </a:pPr>
            <a:r>
              <a:rPr lang="en-US" altLang="ko-KR" sz="900" dirty="0">
                <a:solidFill>
                  <a:srgbClr val="E2E8F0"/>
                </a:solidFill>
              </a:rPr>
              <a:t>    </a:t>
            </a:r>
            <a:r>
              <a:rPr lang="ko-KR" altLang="en-US" sz="900" dirty="0">
                <a:solidFill>
                  <a:srgbClr val="E2E8F0"/>
                </a:solidFill>
              </a:rPr>
              <a:t>가짜</a:t>
            </a:r>
            <a:r>
              <a:rPr lang="en-US" altLang="ko-KR" sz="900" dirty="0">
                <a:solidFill>
                  <a:srgbClr val="E2E8F0"/>
                </a:solidFill>
              </a:rPr>
              <a:t>(mock) </a:t>
            </a:r>
            <a:r>
              <a:rPr lang="ko-KR" altLang="en-US" sz="900" dirty="0">
                <a:solidFill>
                  <a:srgbClr val="E2E8F0"/>
                </a:solidFill>
              </a:rPr>
              <a:t>객체를 만들어주는 라이브러리</a:t>
            </a:r>
            <a:endParaRPr lang="en-US" sz="900" dirty="0"/>
          </a:p>
        </p:txBody>
      </p:sp>
      <p:sp>
        <p:nvSpPr>
          <p:cNvPr id="135" name="Shape 80">
            <a:extLst>
              <a:ext uri="{FF2B5EF4-FFF2-40B4-BE49-F238E27FC236}">
                <a16:creationId xmlns:a16="http://schemas.microsoft.com/office/drawing/2014/main" id="{83496DBA-B7BD-4024-A312-332756A2FF83}"/>
              </a:ext>
            </a:extLst>
          </p:cNvPr>
          <p:cNvSpPr/>
          <p:nvPr/>
        </p:nvSpPr>
        <p:spPr>
          <a:xfrm>
            <a:off x="6230991" y="4370832"/>
            <a:ext cx="2834640" cy="694944"/>
          </a:xfrm>
          <a:prstGeom prst="roundRect">
            <a:avLst>
              <a:gd name="adj" fmla="val 7895"/>
            </a:avLst>
          </a:prstGeom>
          <a:solidFill>
            <a:srgbClr val="1C2333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36" name="Shape 81">
            <a:extLst>
              <a:ext uri="{FF2B5EF4-FFF2-40B4-BE49-F238E27FC236}">
                <a16:creationId xmlns:a16="http://schemas.microsoft.com/office/drawing/2014/main" id="{C4482D67-B84E-4E24-8F2F-5188D196EC3C}"/>
              </a:ext>
            </a:extLst>
          </p:cNvPr>
          <p:cNvSpPr/>
          <p:nvPr/>
        </p:nvSpPr>
        <p:spPr>
          <a:xfrm>
            <a:off x="6340719" y="4480560"/>
            <a:ext cx="292608" cy="29260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37" name="Text 82">
            <a:extLst>
              <a:ext uri="{FF2B5EF4-FFF2-40B4-BE49-F238E27FC236}">
                <a16:creationId xmlns:a16="http://schemas.microsoft.com/office/drawing/2014/main" id="{9851E1A7-A767-4F8D-A4C5-31DC945A9145}"/>
              </a:ext>
            </a:extLst>
          </p:cNvPr>
          <p:cNvSpPr/>
          <p:nvPr/>
        </p:nvSpPr>
        <p:spPr>
          <a:xfrm>
            <a:off x="6340719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③</a:t>
            </a:r>
            <a:endParaRPr lang="en-US" sz="1000" dirty="0"/>
          </a:p>
        </p:txBody>
      </p:sp>
      <p:sp>
        <p:nvSpPr>
          <p:cNvPr id="138" name="Text 83">
            <a:extLst>
              <a:ext uri="{FF2B5EF4-FFF2-40B4-BE49-F238E27FC236}">
                <a16:creationId xmlns:a16="http://schemas.microsoft.com/office/drawing/2014/main" id="{94E77308-B7F1-496B-B94D-C6D6B5100E14}"/>
              </a:ext>
            </a:extLst>
          </p:cNvPr>
          <p:cNvSpPr/>
          <p:nvPr/>
        </p:nvSpPr>
        <p:spPr>
          <a:xfrm>
            <a:off x="6706479" y="4370832"/>
            <a:ext cx="23317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</a:rPr>
              <a:t>MockMvc</a:t>
            </a:r>
            <a:r>
              <a:rPr lang="en-US" sz="900" dirty="0">
                <a:solidFill>
                  <a:srgbClr val="E2E8F0"/>
                </a:solidFill>
              </a:rPr>
              <a:t> — </a:t>
            </a:r>
            <a:r>
              <a:rPr lang="ko-KR" altLang="en-US" sz="900" dirty="0">
                <a:solidFill>
                  <a:srgbClr val="E2E8F0"/>
                </a:solidFill>
              </a:rPr>
              <a:t>실제 </a:t>
            </a:r>
            <a:r>
              <a:rPr lang="ko-KR" altLang="en-US" sz="900" dirty="0" err="1">
                <a:solidFill>
                  <a:srgbClr val="E2E8F0"/>
                </a:solidFill>
              </a:rPr>
              <a:t>서버없이</a:t>
            </a:r>
            <a:r>
              <a:rPr lang="ko-KR" altLang="en-US" sz="900" dirty="0">
                <a:solidFill>
                  <a:srgbClr val="E2E8F0"/>
                </a:solidFill>
              </a:rPr>
              <a:t> </a:t>
            </a:r>
            <a:endParaRPr lang="en-US" altLang="ko-KR" sz="900" dirty="0">
              <a:solidFill>
                <a:srgbClr val="E2E8F0"/>
              </a:solidFill>
            </a:endParaRPr>
          </a:p>
          <a:p>
            <a:pPr marL="0" indent="0">
              <a:buNone/>
            </a:pPr>
            <a:r>
              <a:rPr lang="en-US" altLang="ko-KR" sz="900" dirty="0">
                <a:solidFill>
                  <a:srgbClr val="E2E8F0"/>
                </a:solidFill>
              </a:rPr>
              <a:t>            HTTP</a:t>
            </a:r>
            <a:r>
              <a:rPr lang="ko-KR" altLang="en-US" sz="900" dirty="0">
                <a:solidFill>
                  <a:srgbClr val="E2E8F0"/>
                </a:solidFill>
              </a:rPr>
              <a:t>요청</a:t>
            </a:r>
            <a:r>
              <a:rPr lang="en-US" altLang="ko-KR" sz="900" dirty="0">
                <a:solidFill>
                  <a:srgbClr val="E2E8F0"/>
                </a:solidFill>
              </a:rPr>
              <a:t>, </a:t>
            </a:r>
            <a:r>
              <a:rPr lang="ko-KR" altLang="en-US" sz="900" dirty="0">
                <a:solidFill>
                  <a:srgbClr val="E2E8F0"/>
                </a:solidFill>
              </a:rPr>
              <a:t>응답을 코드로 시뮬레이션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39308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394"/>
            <a:ext cx="9144000" cy="457200"/>
          </a:xfrm>
          <a:prstGeom prst="rect">
            <a:avLst/>
          </a:prstGeom>
          <a:solidFill>
            <a:srgbClr val="1A243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394"/>
            <a:ext cx="82296" cy="4572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6394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테스트 코드 속 Mockito vs MockMvc — 각자 담당 영역 구분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89320" y="530352"/>
            <a:ext cx="987552" cy="256032"/>
          </a:xfrm>
          <a:prstGeom prst="roundRect">
            <a:avLst>
              <a:gd name="adj" fmla="val 14286"/>
            </a:avLst>
          </a:prstGeom>
          <a:solidFill>
            <a:srgbClr val="1A1A2A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44184" y="594360"/>
            <a:ext cx="128016" cy="128016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7"/>
          <p:cNvSpPr/>
          <p:nvPr/>
        </p:nvSpPr>
        <p:spPr>
          <a:xfrm>
            <a:off x="6199632" y="5303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18CF8"/>
                </a:solidFill>
              </a:rPr>
              <a:t>Mockito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040880" y="530352"/>
            <a:ext cx="987552" cy="256032"/>
          </a:xfrm>
          <a:prstGeom prst="roundRect">
            <a:avLst>
              <a:gd name="adj" fmla="val 14286"/>
            </a:avLst>
          </a:prstGeom>
          <a:solidFill>
            <a:srgbClr val="1A1A2A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95744" y="594360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7251192" y="5303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</a:rPr>
              <a:t>MockMvc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147304" y="59436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8302752" y="5303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D4BF"/>
                </a:solidFill>
              </a:rPr>
              <a:t>JUnit 5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01168" y="530352"/>
            <a:ext cx="5074920" cy="4526280"/>
          </a:xfrm>
          <a:prstGeom prst="rect">
            <a:avLst/>
          </a:prstGeom>
          <a:solidFill>
            <a:srgbClr val="090E1A"/>
          </a:solidFill>
          <a:ln w="12700">
            <a:solidFill>
              <a:srgbClr val="2E3F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" y="530352"/>
            <a:ext cx="5074920" cy="201168"/>
          </a:xfrm>
          <a:prstGeom prst="rect">
            <a:avLst/>
          </a:prstGeom>
          <a:solidFill>
            <a:srgbClr val="141C2E"/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" y="530352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ProductControllerTest.java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" y="777237"/>
            <a:ext cx="5074920" cy="351130"/>
          </a:xfrm>
          <a:prstGeom prst="rect">
            <a:avLst/>
          </a:prstGeom>
          <a:solidFill>
            <a:srgbClr val="0A252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" y="777237"/>
            <a:ext cx="45720" cy="35113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1168" y="1830626"/>
            <a:ext cx="5074920" cy="526694"/>
          </a:xfrm>
          <a:prstGeom prst="rect">
            <a:avLst/>
          </a:prstGeom>
          <a:solidFill>
            <a:srgbClr val="0A252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" y="1830626"/>
            <a:ext cx="45720" cy="52669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Shape 21"/>
          <p:cNvSpPr/>
          <p:nvPr/>
        </p:nvSpPr>
        <p:spPr>
          <a:xfrm>
            <a:off x="201168" y="2884015"/>
            <a:ext cx="5074920" cy="351130"/>
          </a:xfrm>
          <a:prstGeom prst="rect">
            <a:avLst/>
          </a:prstGeom>
          <a:solidFill>
            <a:srgbClr val="0A252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2884015"/>
            <a:ext cx="45720" cy="35113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1168" y="1128367"/>
            <a:ext cx="5074920" cy="351130"/>
          </a:xfrm>
          <a:prstGeom prst="rect">
            <a:avLst/>
          </a:prstGeom>
          <a:solidFill>
            <a:srgbClr val="1A1A3A">
              <a:alpha val="9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" y="1128367"/>
            <a:ext cx="45720" cy="35113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7" name="Shape 25"/>
          <p:cNvSpPr/>
          <p:nvPr/>
        </p:nvSpPr>
        <p:spPr>
          <a:xfrm>
            <a:off x="201168" y="3235144"/>
            <a:ext cx="5074920" cy="175565"/>
          </a:xfrm>
          <a:prstGeom prst="rect">
            <a:avLst/>
          </a:prstGeom>
          <a:solidFill>
            <a:srgbClr val="1A1A3A">
              <a:alpha val="9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" y="3235144"/>
            <a:ext cx="45720" cy="175565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9" name="Shape 27"/>
          <p:cNvSpPr/>
          <p:nvPr/>
        </p:nvSpPr>
        <p:spPr>
          <a:xfrm>
            <a:off x="201168" y="3410709"/>
            <a:ext cx="5074920" cy="175565"/>
          </a:xfrm>
          <a:prstGeom prst="rect">
            <a:avLst/>
          </a:prstGeom>
          <a:solidFill>
            <a:srgbClr val="1A1A3A">
              <a:alpha val="9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1168" y="3410709"/>
            <a:ext cx="45720" cy="175565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1" name="Shape 29"/>
          <p:cNvSpPr/>
          <p:nvPr/>
        </p:nvSpPr>
        <p:spPr>
          <a:xfrm>
            <a:off x="201168" y="4112968"/>
            <a:ext cx="5074920" cy="351130"/>
          </a:xfrm>
          <a:prstGeom prst="rect">
            <a:avLst/>
          </a:prstGeom>
          <a:solidFill>
            <a:srgbClr val="1A1A3A">
              <a:alpha val="9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1168" y="4112968"/>
            <a:ext cx="45720" cy="35113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3" name="Shape 31"/>
          <p:cNvSpPr/>
          <p:nvPr/>
        </p:nvSpPr>
        <p:spPr>
          <a:xfrm>
            <a:off x="201168" y="1479496"/>
            <a:ext cx="5074920" cy="175565"/>
          </a:xfrm>
          <a:prstGeom prst="rect">
            <a:avLst/>
          </a:prstGeom>
          <a:solidFill>
            <a:srgbClr val="0A1E33">
              <a:alpha val="9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1168" y="1479496"/>
            <a:ext cx="45720" cy="17556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5" name="Shape 33"/>
          <p:cNvSpPr/>
          <p:nvPr/>
        </p:nvSpPr>
        <p:spPr>
          <a:xfrm>
            <a:off x="201168" y="2181755"/>
            <a:ext cx="5074920" cy="351130"/>
          </a:xfrm>
          <a:prstGeom prst="rect">
            <a:avLst/>
          </a:prstGeom>
          <a:solidFill>
            <a:srgbClr val="0A1E33">
              <a:alpha val="9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1168" y="2181755"/>
            <a:ext cx="45720" cy="35113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7" name="Shape 35"/>
          <p:cNvSpPr/>
          <p:nvPr/>
        </p:nvSpPr>
        <p:spPr>
          <a:xfrm>
            <a:off x="201168" y="3586274"/>
            <a:ext cx="5074920" cy="175565"/>
          </a:xfrm>
          <a:prstGeom prst="rect">
            <a:avLst/>
          </a:prstGeom>
          <a:solidFill>
            <a:srgbClr val="0A1E33">
              <a:alpha val="9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1168" y="3586274"/>
            <a:ext cx="45720" cy="17556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9" name="Shape 37"/>
          <p:cNvSpPr/>
          <p:nvPr/>
        </p:nvSpPr>
        <p:spPr>
          <a:xfrm>
            <a:off x="201168" y="3761839"/>
            <a:ext cx="5074920" cy="351130"/>
          </a:xfrm>
          <a:prstGeom prst="rect">
            <a:avLst/>
          </a:prstGeom>
          <a:solidFill>
            <a:srgbClr val="0A1E33">
              <a:alpha val="9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1168" y="3761839"/>
            <a:ext cx="45720" cy="35113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1" name="Text 39"/>
          <p:cNvSpPr/>
          <p:nvPr/>
        </p:nvSpPr>
        <p:spPr>
          <a:xfrm>
            <a:off x="310896" y="777237"/>
            <a:ext cx="491032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@ExtendWith(MockitoExtension.class)</a:t>
            </a:r>
            <a:endParaRPr lang="en-US" sz="1000" dirty="0">
              <a:solidFill>
                <a:srgbClr val="FFC000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310896" y="952802"/>
            <a:ext cx="491032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r>
              <a:rPr lang="en-US" sz="100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ProductApiControllerTest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10896" y="1128367"/>
            <a:ext cx="491032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@Mock  ProductService service;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10896" y="1303931"/>
            <a:ext cx="491032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@InjectMocks  ProductController ctrl;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10896" y="1479496"/>
            <a:ext cx="491032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MockMvc mockMvc;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10896" y="1830626"/>
            <a:ext cx="491032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@BeforeEach</a:t>
            </a:r>
            <a:endParaRPr lang="en-US" sz="1000" dirty="0">
              <a:solidFill>
                <a:srgbClr val="FFC000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310896" y="2006191"/>
            <a:ext cx="491032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setUp() {</a:t>
            </a:r>
            <a:endParaRPr lang="en-US" sz="1000" dirty="0">
              <a:solidFill>
                <a:srgbClr val="FFC000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310896" y="2181755"/>
            <a:ext cx="491032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mockMvc = MockMvcBuilders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10896" y="2357320"/>
            <a:ext cx="491032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.standaloneSetup(ctrl).build();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10896" y="2532885"/>
            <a:ext cx="491032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10896" y="2884015"/>
            <a:ext cx="491032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@Test</a:t>
            </a:r>
            <a:endParaRPr lang="en-US" sz="1000" dirty="0">
              <a:solidFill>
                <a:srgbClr val="FFC000"/>
              </a:solidFill>
            </a:endParaRPr>
          </a:p>
        </p:txBody>
      </p:sp>
      <p:sp>
        <p:nvSpPr>
          <p:cNvPr id="52" name="Text 50"/>
          <p:cNvSpPr/>
          <p:nvPr/>
        </p:nvSpPr>
        <p:spPr>
          <a:xfrm>
            <a:off x="310896" y="3059579"/>
            <a:ext cx="491032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상품목록_조회_성공() throws Exception {</a:t>
            </a:r>
            <a:endParaRPr lang="en-US" sz="1000" dirty="0">
              <a:solidFill>
                <a:srgbClr val="FFC000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10896" y="3235144"/>
            <a:ext cx="491032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① Given: Mock 동작 정의 (Mockito)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10896" y="3410709"/>
            <a:ext cx="491032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when(service.getAll()).thenReturn(...);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10896" y="3586274"/>
            <a:ext cx="491032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② When + Then: HTTP 요청·검증 (MockMvc)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10896" y="3761839"/>
            <a:ext cx="491032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mockMvc.perform(get("/api/products"))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10896" y="3937403"/>
            <a:ext cx="491032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.andExpect(status().isOk());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10896" y="4112968"/>
            <a:ext cx="491032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③ Mockito.verify() — 별도 호출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10896" y="4288533"/>
            <a:ext cx="491032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verify(service, times(1)).getAll();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10896" y="4464098"/>
            <a:ext cx="491032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10896" y="4639663"/>
            <a:ext cx="491032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5440680" y="530352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0A2520"/>
          </a:solidFill>
          <a:ln w="22860">
            <a:solidFill>
              <a:srgbClr val="2DD4B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5440680" y="530352"/>
            <a:ext cx="73152" cy="9601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7" name="Shape 85"/>
          <p:cNvSpPr/>
          <p:nvPr/>
        </p:nvSpPr>
        <p:spPr>
          <a:xfrm>
            <a:off x="5605272" y="576072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FFC000">
              <a:alpha val="85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5605272" y="5760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JUnit 5  담당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5605272" y="841248"/>
            <a:ext cx="324612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DD4BF"/>
                </a:solidFill>
              </a:rPr>
              <a:t>1</a:t>
            </a:r>
            <a:r>
              <a:rPr lang="en-US" sz="900" dirty="0">
                <a:solidFill>
                  <a:srgbClr val="E2E8F0"/>
                </a:solidFill>
              </a:rPr>
              <a:t>  @ExtendWith — Mockito </a:t>
            </a:r>
            <a:r>
              <a:rPr lang="en-US" sz="900" dirty="0" err="1">
                <a:solidFill>
                  <a:srgbClr val="E2E8F0"/>
                </a:solidFill>
              </a:rPr>
              <a:t>등록</a:t>
            </a:r>
            <a:r>
              <a:rPr lang="en-US" sz="900" dirty="0">
                <a:solidFill>
                  <a:srgbClr val="E2E8F0"/>
                </a:solidFill>
              </a:rPr>
              <a:t>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2DD4BF"/>
                </a:solidFill>
              </a:rPr>
              <a:t>2</a:t>
            </a:r>
            <a:r>
              <a:rPr lang="en-US" sz="900" dirty="0">
                <a:solidFill>
                  <a:srgbClr val="E2E8F0"/>
                </a:solidFill>
              </a:rPr>
              <a:t>  @BeforeEach / @Test — 테스트 생명주기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440680" y="1609344"/>
            <a:ext cx="3520440" cy="1572768"/>
          </a:xfrm>
          <a:prstGeom prst="roundRect">
            <a:avLst>
              <a:gd name="adj" fmla="val 4070"/>
            </a:avLst>
          </a:prstGeom>
          <a:solidFill>
            <a:srgbClr val="1A1A3A"/>
          </a:solidFill>
          <a:ln w="22860">
            <a:solidFill>
              <a:srgbClr val="818CF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5440680" y="1609344"/>
            <a:ext cx="73152" cy="157276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92" name="Shape 90"/>
          <p:cNvSpPr/>
          <p:nvPr/>
        </p:nvSpPr>
        <p:spPr>
          <a:xfrm>
            <a:off x="5605272" y="1655064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818CF8">
              <a:alpha val="85000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5605272" y="16550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Mockito  담당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5605272" y="1938528"/>
            <a:ext cx="3246120" cy="265176"/>
          </a:xfrm>
          <a:prstGeom prst="rect">
            <a:avLst/>
          </a:prstGeom>
          <a:solidFill>
            <a:srgbClr val="1E1E40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641848" y="1938528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</a:rPr>
              <a:t>①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5916168" y="1938528"/>
            <a:ext cx="12070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@Mock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7141464" y="1938528"/>
            <a:ext cx="1673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>
                    <a:lumMod val="85000"/>
                  </a:schemeClr>
                </a:solidFill>
              </a:rPr>
              <a:t>ProductService 가짜 객체 생성</a:t>
            </a:r>
          </a:p>
        </p:txBody>
      </p:sp>
      <p:sp>
        <p:nvSpPr>
          <p:cNvPr id="98" name="Shape 96"/>
          <p:cNvSpPr/>
          <p:nvPr/>
        </p:nvSpPr>
        <p:spPr>
          <a:xfrm>
            <a:off x="5605272" y="2240280"/>
            <a:ext cx="3246120" cy="265176"/>
          </a:xfrm>
          <a:prstGeom prst="rect">
            <a:avLst/>
          </a:prstGeom>
          <a:solidFill>
            <a:srgbClr val="1E1E40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641848" y="2240280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</a:rPr>
              <a:t>②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5916168" y="2240280"/>
            <a:ext cx="12070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@InjectMocks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7141464" y="2240280"/>
            <a:ext cx="1673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>
                    <a:lumMod val="85000"/>
                  </a:schemeClr>
                </a:solidFill>
              </a:rPr>
              <a:t>Mock을 Controller에 자동 주입</a:t>
            </a:r>
          </a:p>
        </p:txBody>
      </p:sp>
      <p:sp>
        <p:nvSpPr>
          <p:cNvPr id="102" name="Shape 100"/>
          <p:cNvSpPr/>
          <p:nvPr/>
        </p:nvSpPr>
        <p:spPr>
          <a:xfrm>
            <a:off x="5605272" y="2542032"/>
            <a:ext cx="3246120" cy="265176"/>
          </a:xfrm>
          <a:prstGeom prst="rect">
            <a:avLst/>
          </a:prstGeom>
          <a:solidFill>
            <a:srgbClr val="1E1E40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641848" y="2542032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</a:rPr>
              <a:t>③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5825303" y="2542032"/>
            <a:ext cx="129787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when().thenReturn()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7141464" y="2542032"/>
            <a:ext cx="1673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>
                    <a:lumMod val="85000"/>
                  </a:schemeClr>
                </a:solidFill>
              </a:rPr>
              <a:t>Given — 가짜 반환값 사전 정의</a:t>
            </a:r>
          </a:p>
        </p:txBody>
      </p:sp>
      <p:sp>
        <p:nvSpPr>
          <p:cNvPr id="106" name="Shape 104"/>
          <p:cNvSpPr/>
          <p:nvPr/>
        </p:nvSpPr>
        <p:spPr>
          <a:xfrm>
            <a:off x="5605272" y="2843784"/>
            <a:ext cx="3246120" cy="265176"/>
          </a:xfrm>
          <a:prstGeom prst="rect">
            <a:avLst/>
          </a:prstGeom>
          <a:solidFill>
            <a:srgbClr val="1E1E40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641848" y="2843784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18CF8"/>
                </a:solidFill>
              </a:rPr>
              <a:t>④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5916168" y="2843784"/>
            <a:ext cx="12070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verify()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7141464" y="2843784"/>
            <a:ext cx="1673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>
                    <a:lumMod val="85000"/>
                  </a:schemeClr>
                </a:solidFill>
              </a:rPr>
              <a:t>호출 횟수 검증 (별도 실행</a:t>
            </a:r>
            <a:r>
              <a:rPr lang="en-US" sz="900" dirty="0">
                <a:solidFill>
                  <a:srgbClr val="64748B"/>
                </a:solidFill>
              </a:rPr>
              <a:t>)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5440680" y="3291840"/>
            <a:ext cx="3520440" cy="1481328"/>
          </a:xfrm>
          <a:prstGeom prst="roundRect">
            <a:avLst>
              <a:gd name="adj" fmla="val 4321"/>
            </a:avLst>
          </a:prstGeom>
          <a:solidFill>
            <a:srgbClr val="0A1E33"/>
          </a:solidFill>
          <a:ln w="22860">
            <a:solidFill>
              <a:srgbClr val="38BDF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5440680" y="3291840"/>
            <a:ext cx="73152" cy="14813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605272" y="3337560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38BDF8">
              <a:alpha val="85000"/>
            </a:srgbClr>
          </a:solidFill>
          <a:ln/>
        </p:spPr>
      </p:sp>
      <p:sp>
        <p:nvSpPr>
          <p:cNvPr id="113" name="Text 111"/>
          <p:cNvSpPr/>
          <p:nvPr/>
        </p:nvSpPr>
        <p:spPr>
          <a:xfrm>
            <a:off x="5605272" y="33375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MockMvc  담당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5605272" y="3648456"/>
            <a:ext cx="3246120" cy="301752"/>
          </a:xfrm>
          <a:prstGeom prst="rect">
            <a:avLst/>
          </a:prstGeom>
          <a:solidFill>
            <a:srgbClr val="0A1A2A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641848" y="3648456"/>
            <a:ext cx="256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①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5916168" y="3648456"/>
            <a:ext cx="12070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MockMvcBuilders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7141464" y="3648456"/>
            <a:ext cx="1673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>
                    <a:lumMod val="85000"/>
                  </a:schemeClr>
                </a:solidFill>
              </a:rPr>
              <a:t>standaloneSetup — Controller </a:t>
            </a:r>
            <a:r>
              <a:rPr lang="ko-KR" altLang="en-US" sz="900" dirty="0">
                <a:solidFill>
                  <a:schemeClr val="bg1">
                    <a:lumMod val="85000"/>
                  </a:schemeClr>
                </a:solidFill>
              </a:rPr>
              <a:t>등록</a:t>
            </a:r>
            <a:endParaRPr lang="en-US" sz="9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5605272" y="3986784"/>
            <a:ext cx="3246120" cy="301752"/>
          </a:xfrm>
          <a:prstGeom prst="rect">
            <a:avLst/>
          </a:prstGeom>
          <a:solidFill>
            <a:srgbClr val="0A1A2A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641848" y="3986784"/>
            <a:ext cx="256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</a:rPr>
              <a:t>②</a:t>
            </a:r>
            <a:endParaRPr lang="en-US" sz="1000" dirty="0"/>
          </a:p>
        </p:txBody>
      </p:sp>
      <p:sp>
        <p:nvSpPr>
          <p:cNvPr id="120" name="Text 118"/>
          <p:cNvSpPr/>
          <p:nvPr/>
        </p:nvSpPr>
        <p:spPr>
          <a:xfrm>
            <a:off x="5916168" y="3986784"/>
            <a:ext cx="12070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perform()</a:t>
            </a:r>
            <a:endParaRPr lang="en-US" sz="1000" dirty="0"/>
          </a:p>
        </p:txBody>
      </p:sp>
      <p:sp>
        <p:nvSpPr>
          <p:cNvPr id="121" name="Text 119"/>
          <p:cNvSpPr/>
          <p:nvPr/>
        </p:nvSpPr>
        <p:spPr>
          <a:xfrm>
            <a:off x="7141464" y="3986784"/>
            <a:ext cx="1673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>
                    <a:lumMod val="85000"/>
                  </a:schemeClr>
                </a:solidFill>
              </a:rPr>
              <a:t>HTTP 요청 전송 (GET/POST/PUT/DELETE)</a:t>
            </a:r>
          </a:p>
        </p:txBody>
      </p:sp>
      <p:sp>
        <p:nvSpPr>
          <p:cNvPr id="122" name="Shape 120"/>
          <p:cNvSpPr/>
          <p:nvPr/>
        </p:nvSpPr>
        <p:spPr>
          <a:xfrm>
            <a:off x="5605272" y="4325112"/>
            <a:ext cx="3246120" cy="301752"/>
          </a:xfrm>
          <a:prstGeom prst="rect">
            <a:avLst/>
          </a:prstGeom>
          <a:solidFill>
            <a:srgbClr val="0A1A2A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641848" y="4325112"/>
            <a:ext cx="256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</a:rPr>
              <a:t>③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5916168" y="4325112"/>
            <a:ext cx="12070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andExpect()</a:t>
            </a:r>
            <a:endParaRPr lang="en-US" sz="1000" dirty="0"/>
          </a:p>
        </p:txBody>
      </p:sp>
      <p:sp>
        <p:nvSpPr>
          <p:cNvPr id="125" name="Text 123"/>
          <p:cNvSpPr/>
          <p:nvPr/>
        </p:nvSpPr>
        <p:spPr>
          <a:xfrm>
            <a:off x="7141464" y="4325112"/>
            <a:ext cx="1673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>
                    <a:lumMod val="85000"/>
                  </a:schemeClr>
                </a:solidFill>
              </a:rPr>
              <a:t> 상태코드·JSON 응답 검증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0" y="1280160"/>
            <a:ext cx="1005840" cy="1005840"/>
          </a:xfrm>
          <a:prstGeom prst="ellipse">
            <a:avLst/>
          </a:prstGeom>
          <a:solidFill>
            <a:srgbClr val="14B8A6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737360" y="141732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737360" y="2194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현대적인 자바 테스트 프레임워크 — Jupiter Engine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4754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73152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JUnit 5 핵심 어노테이션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594360"/>
            <a:ext cx="4297680" cy="1298448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594360"/>
            <a:ext cx="73152" cy="12984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" y="6858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4B8A6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685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테스트 메서드 표시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1371600"/>
            <a:ext cx="4023360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3716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success() throws Exception { … }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594360"/>
            <a:ext cx="4297680" cy="1298448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594360"/>
            <a:ext cx="73152" cy="12984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873752" y="6858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6C63FF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73752" y="685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@DisplayName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73752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E2E8F0"/>
                </a:solidFill>
              </a:rPr>
              <a:t>테스트에</a:t>
            </a:r>
            <a:r>
              <a:rPr lang="en-US" sz="1000" dirty="0">
                <a:solidFill>
                  <a:srgbClr val="E2E8F0"/>
                </a:solidFill>
              </a:rPr>
              <a:t> </a:t>
            </a:r>
            <a:r>
              <a:rPr lang="en-US" sz="1000" dirty="0" err="1">
                <a:solidFill>
                  <a:srgbClr val="E2E8F0"/>
                </a:solidFill>
              </a:rPr>
              <a:t>이름</a:t>
            </a:r>
            <a:r>
              <a:rPr lang="en-US" sz="1000" dirty="0">
                <a:solidFill>
                  <a:srgbClr val="E2E8F0"/>
                </a:solidFill>
              </a:rPr>
              <a:t> 부여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73752" y="1371600"/>
            <a:ext cx="4023360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13716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@DisplayName("성공: 상품 2개 반환")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" y="2011680"/>
            <a:ext cx="4297680" cy="1298448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011680"/>
            <a:ext cx="73152" cy="12984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347472" y="21031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3B82F6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@Nested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" y="2468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중첩 테스트 클래스 — </a:t>
            </a:r>
            <a:r>
              <a:rPr lang="en-US" sz="1000" dirty="0" err="1">
                <a:solidFill>
                  <a:srgbClr val="E2E8F0"/>
                </a:solidFill>
              </a:rPr>
              <a:t>API별</a:t>
            </a:r>
            <a:r>
              <a:rPr lang="en-US" sz="1000" dirty="0">
                <a:solidFill>
                  <a:srgbClr val="E2E8F0"/>
                </a:solidFill>
              </a:rPr>
              <a:t> </a:t>
            </a:r>
            <a:r>
              <a:rPr lang="en-US" sz="1000" dirty="0" err="1">
                <a:solidFill>
                  <a:srgbClr val="E2E8F0"/>
                </a:solidFill>
              </a:rPr>
              <a:t>그룹화</a:t>
            </a:r>
            <a:r>
              <a:rPr lang="en-US" sz="1000" dirty="0">
                <a:solidFill>
                  <a:srgbClr val="E2E8F0"/>
                </a:solidFill>
              </a:rPr>
              <a:t>(GET, POST, PUT, DELETE)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2788920"/>
            <a:ext cx="4023360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7889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ListProducts { … }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09160" y="2011680"/>
            <a:ext cx="4297680" cy="1298448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011680"/>
            <a:ext cx="73152" cy="1298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4873752" y="21031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F59E0B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73752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@BeforeEach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73752" y="2468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각 테스트 실행 전 setUp() 호출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73752" y="2788920"/>
            <a:ext cx="4023360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65192" y="27889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 mockMvc = … }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82880" y="3429000"/>
            <a:ext cx="4297680" cy="1298448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82880" y="3429000"/>
            <a:ext cx="73152" cy="12984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7" name="Shape 35"/>
          <p:cNvSpPr/>
          <p:nvPr/>
        </p:nvSpPr>
        <p:spPr>
          <a:xfrm>
            <a:off x="347472" y="352044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22C55E">
              <a:alpha val="8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" y="3520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@ExtendWith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7472" y="3886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확장 기능 등록 (MockitoExtension)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7472" y="4206240"/>
            <a:ext cx="4023360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42062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@ExtendWith(MockitoExtension.class)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09160" y="3429000"/>
            <a:ext cx="4297680" cy="1298448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3429000"/>
            <a:ext cx="73152" cy="12984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4" name="Shape 42"/>
          <p:cNvSpPr/>
          <p:nvPr/>
        </p:nvSpPr>
        <p:spPr>
          <a:xfrm>
            <a:off x="4873752" y="352044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DC2626">
              <a:alpha val="8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873752" y="3520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@AfterEach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73752" y="3886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각 테스트 실행 후 정리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73752" y="4206240"/>
            <a:ext cx="4023360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65192" y="42062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tearDown() { … }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4754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73152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@Nested — 테스트를 계층 구조로 구성하기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594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ProductApiControllerTest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425312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407024"/>
            <a:ext cx="3566160" cy="402336"/>
          </a:xfrm>
          <a:prstGeom prst="roundRect">
            <a:avLst>
              <a:gd name="adj" fmla="val 11364"/>
            </a:avLst>
          </a:prstGeom>
          <a:solidFill>
            <a:srgbClr val="25304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407024"/>
            <a:ext cx="73152" cy="4023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033272" y="140702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@Nested  ListProducts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063240" y="140702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82F6"/>
                </a:solidFill>
              </a:rPr>
              <a:t>GET /api/products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80936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092824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2074536"/>
            <a:ext cx="3566160" cy="402336"/>
          </a:xfrm>
          <a:prstGeom prst="roundRect">
            <a:avLst>
              <a:gd name="adj" fmla="val 11364"/>
            </a:avLst>
          </a:prstGeom>
          <a:solidFill>
            <a:srgbClr val="253047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2074536"/>
            <a:ext cx="73152" cy="4023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33272" y="207453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@Nested  GetProduct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063240" y="207453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63FF"/>
                </a:solidFill>
              </a:rPr>
              <a:t>GET /api/products/{id}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2476872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2760336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2742048"/>
            <a:ext cx="3566160" cy="402336"/>
          </a:xfrm>
          <a:prstGeom prst="roundRect">
            <a:avLst>
              <a:gd name="adj" fmla="val 11364"/>
            </a:avLst>
          </a:prstGeom>
          <a:solidFill>
            <a:srgbClr val="25304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2742048"/>
            <a:ext cx="73152" cy="40233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1033272" y="27420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@Nested  CreateProduct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063240" y="27420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</a:rPr>
              <a:t>POST /api/products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3144384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427848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3409560"/>
            <a:ext cx="3566160" cy="402336"/>
          </a:xfrm>
          <a:prstGeom prst="roundRect">
            <a:avLst>
              <a:gd name="adj" fmla="val 11364"/>
            </a:avLst>
          </a:prstGeom>
          <a:solidFill>
            <a:srgbClr val="25304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3409560"/>
            <a:ext cx="73152" cy="4023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1033272" y="34095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@Nested  UpdateProduct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063240" y="340956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</a:rPr>
              <a:t>PUT /api/products/{id}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" y="3811896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" y="409536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" y="4077072"/>
            <a:ext cx="3566160" cy="402336"/>
          </a:xfrm>
          <a:prstGeom prst="roundRect">
            <a:avLst>
              <a:gd name="adj" fmla="val 11364"/>
            </a:avLst>
          </a:prstGeom>
          <a:solidFill>
            <a:srgbClr val="25304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8680" y="4077072"/>
            <a:ext cx="73152" cy="40233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1033272" y="40770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@Nested  DeleteProduct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063240" y="40770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</a:rPr>
              <a:t>DELETE /api/products/{id}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594360"/>
            <a:ext cx="4297680" cy="1280160"/>
          </a:xfrm>
          <a:prstGeom prst="roundRect">
            <a:avLst>
              <a:gd name="adj" fmla="val 4286"/>
            </a:avLst>
          </a:prstGeom>
          <a:solidFill>
            <a:srgbClr val="253047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6217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💡  @Nested 핵심 장점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0600" y="914400"/>
            <a:ext cx="4023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• HTTP 메서드별로 테스트를 명확히 그룹화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• @DisplayName과 결합 → 읽기 쉬운 보고서 생성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• 각 중첩 클래스는 독립적인 생명주기 보유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1938528"/>
            <a:ext cx="4297680" cy="2926080"/>
          </a:xfrm>
          <a:prstGeom prst="rect">
            <a:avLst/>
          </a:prstGeom>
          <a:solidFill>
            <a:srgbClr val="0D1117"/>
          </a:solidFill>
          <a:ln w="1270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1938528"/>
            <a:ext cx="4297680" cy="20116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1938528"/>
            <a:ext cx="4297680" cy="2011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ProductApiControllerTest.java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773168" y="2139696"/>
            <a:ext cx="407822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@ExtendWith(MockitoExtension.class)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@DisplayName("Product REST API 단위 테스트")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ProductApiControllerTest {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@Nested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@DisplayName("GET /api/products")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 ListProducts {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@Test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@DisplayName("성공: 상품 2개 반환")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success_returnsTwoProducts() { …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@Test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@DisplayName("성공: 빈 목록 반환")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success_returnsEmptyList()   { …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45" name="Shape 12">
            <a:extLst>
              <a:ext uri="{FF2B5EF4-FFF2-40B4-BE49-F238E27FC236}">
                <a16:creationId xmlns:a16="http://schemas.microsoft.com/office/drawing/2014/main" id="{1434E62E-E7E0-4644-8001-9A7D12E1EA05}"/>
              </a:ext>
            </a:extLst>
          </p:cNvPr>
          <p:cNvSpPr/>
          <p:nvPr/>
        </p:nvSpPr>
        <p:spPr>
          <a:xfrm>
            <a:off x="599697" y="114966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0" y="1280160"/>
            <a:ext cx="1005840" cy="1005840"/>
          </a:xfrm>
          <a:prstGeom prst="ellipse">
            <a:avLst/>
          </a:prstGeom>
          <a:solidFill>
            <a:srgbClr val="6C63F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737360" y="141732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Mockito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737360" y="2194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가짜 객체(Mock)로 </a:t>
            </a:r>
            <a:r>
              <a:rPr lang="en-US" sz="1500" dirty="0" err="1">
                <a:solidFill>
                  <a:srgbClr val="94A3B8"/>
                </a:solidFill>
              </a:rPr>
              <a:t>의존성</a:t>
            </a:r>
            <a:r>
              <a:rPr lang="en-US" sz="1500" dirty="0">
                <a:solidFill>
                  <a:srgbClr val="94A3B8"/>
                </a:solidFill>
              </a:rPr>
              <a:t>(Service)을 </a:t>
            </a:r>
            <a:r>
              <a:rPr lang="en-US" sz="1500" dirty="0" err="1">
                <a:solidFill>
                  <a:srgbClr val="94A3B8"/>
                </a:solidFill>
              </a:rPr>
              <a:t>제거하고</a:t>
            </a:r>
            <a:r>
              <a:rPr lang="en-US" sz="1500" dirty="0">
                <a:solidFill>
                  <a:srgbClr val="94A3B8"/>
                </a:solidFill>
              </a:rPr>
              <a:t> </a:t>
            </a:r>
          </a:p>
          <a:p>
            <a:pPr marL="0" indent="0">
              <a:buNone/>
            </a:pPr>
            <a:r>
              <a:rPr lang="ko-KR" altLang="en-US" sz="1500" dirty="0">
                <a:solidFill>
                  <a:srgbClr val="94A3B8"/>
                </a:solidFill>
              </a:rPr>
              <a:t>테스트 대상</a:t>
            </a:r>
            <a:r>
              <a:rPr lang="en-US" altLang="ko-KR" sz="1500" dirty="0">
                <a:solidFill>
                  <a:srgbClr val="94A3B8"/>
                </a:solidFill>
              </a:rPr>
              <a:t>(Controller)</a:t>
            </a:r>
            <a:r>
              <a:rPr lang="ko-KR" altLang="en-US" sz="1500" dirty="0">
                <a:solidFill>
                  <a:srgbClr val="94A3B8"/>
                </a:solidFill>
              </a:rPr>
              <a:t>의 </a:t>
            </a:r>
            <a:r>
              <a:rPr lang="ko-KR" altLang="en-US" sz="1500" dirty="0" err="1">
                <a:solidFill>
                  <a:srgbClr val="94A3B8"/>
                </a:solidFill>
              </a:rPr>
              <a:t>로직만을</a:t>
            </a:r>
            <a:r>
              <a:rPr lang="ko-KR" altLang="en-US" sz="1500" dirty="0">
                <a:solidFill>
                  <a:srgbClr val="94A3B8"/>
                </a:solidFill>
              </a:rPr>
              <a:t> 검증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4754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73152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@Mock &amp; @InjectMocks — 관계와 동작 원리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594360"/>
            <a:ext cx="4160520" cy="2743200"/>
          </a:xfrm>
          <a:prstGeom prst="rect">
            <a:avLst/>
          </a:prstGeom>
          <a:solidFill>
            <a:srgbClr val="0D1117"/>
          </a:solidFill>
          <a:ln w="1270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594360"/>
            <a:ext cx="4160520" cy="20116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594360"/>
            <a:ext cx="4160520" cy="2011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Java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92608" y="804672"/>
            <a:ext cx="39410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@ExtendWith(MockitoExtension.class)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@DisplayName("Product 단위 테스트")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ProductApiControllerTest {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@Mock</a:t>
            </a:r>
            <a:endParaRPr lang="en-US" sz="1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ProductService productService;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가짜 객체: DB 호출 없음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@InjectMocks</a:t>
            </a:r>
            <a:endParaRPr lang="en-US" sz="1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ProductController productController;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productService 자동 주입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MockMvc mockMvc;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3429000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253047"/>
          </a:solidFill>
          <a:ln w="12700">
            <a:solidFill>
              <a:srgbClr val="9D9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3429000"/>
            <a:ext cx="3977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97FF"/>
                </a:solidFill>
              </a:rPr>
              <a:t>⚙  MockitoExtension이 @</a:t>
            </a:r>
            <a:r>
              <a:rPr lang="en-US" sz="1000" dirty="0">
                <a:solidFill>
                  <a:srgbClr val="9D97FF"/>
                </a:solidFill>
              </a:rPr>
              <a:t>Mock</a:t>
            </a:r>
            <a:r>
              <a:rPr lang="en-US" sz="950" dirty="0">
                <a:solidFill>
                  <a:srgbClr val="9D97FF"/>
                </a:solidFill>
              </a:rPr>
              <a:t>·@InjectMocks 자동 처리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D97FF"/>
                </a:solidFill>
              </a:rPr>
              <a:t>→ @ExtendWith(MockitoExtension.class) 가 반드시 필요!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621792"/>
            <a:ext cx="4297680" cy="1097280"/>
          </a:xfrm>
          <a:prstGeom prst="roundRect">
            <a:avLst>
              <a:gd name="adj" fmla="val 5833"/>
            </a:avLst>
          </a:prstGeom>
          <a:solidFill>
            <a:srgbClr val="1B1B35"/>
          </a:solidFill>
          <a:ln w="25400">
            <a:solidFill>
              <a:srgbClr val="6C63FF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621792"/>
            <a:ext cx="4297680" cy="2743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6217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@Mock  ProductService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914400"/>
            <a:ext cx="402336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• Mock</a:t>
            </a:r>
            <a:r>
              <a:rPr lang="ko-KR" altLang="en-US" sz="1000" dirty="0">
                <a:solidFill>
                  <a:srgbClr val="E2E8F0"/>
                </a:solidFill>
              </a:rPr>
              <a:t> 생성하여 의존성 격리</a:t>
            </a:r>
            <a:endParaRPr lang="en-US" sz="1000" dirty="0">
              <a:solidFill>
                <a:srgbClr val="E2E8F0"/>
              </a:solidFill>
            </a:endParaRPr>
          </a:p>
          <a:p>
            <a:r>
              <a:rPr lang="en-US" altLang="ko-KR" sz="1000" dirty="0">
                <a:solidFill>
                  <a:srgbClr val="E2E8F0"/>
                </a:solidFill>
              </a:rPr>
              <a:t>• </a:t>
            </a:r>
            <a:r>
              <a:rPr lang="en-US" sz="1000" dirty="0" err="1">
                <a:solidFill>
                  <a:srgbClr val="E2E8F0"/>
                </a:solidFill>
              </a:rPr>
              <a:t>동작을</a:t>
            </a:r>
            <a:r>
              <a:rPr lang="en-US" sz="1000" dirty="0">
                <a:solidFill>
                  <a:srgbClr val="E2E8F0"/>
                </a:solidFill>
              </a:rPr>
              <a:t> 직접 정의 (Stubbing)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</a:rPr>
              <a:t>• when().thenReturn() 으로 제어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719072"/>
            <a:ext cx="0" cy="274320"/>
          </a:xfrm>
          <a:prstGeom prst="line">
            <a:avLst/>
          </a:prstGeom>
          <a:noFill/>
          <a:ln w="25400">
            <a:solidFill>
              <a:srgbClr val="9D9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737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D97FF"/>
                </a:solidFill>
              </a:rPr>
              <a:t>자동 주입 (@InjectMocks)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02552" y="1956816"/>
            <a:ext cx="128016" cy="73152"/>
          </a:xfrm>
          <a:prstGeom prst="ellipse">
            <a:avLst/>
          </a:prstGeom>
          <a:solidFill>
            <a:srgbClr val="9D97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617720" y="2057400"/>
            <a:ext cx="4297680" cy="1097280"/>
          </a:xfrm>
          <a:prstGeom prst="roundRect">
            <a:avLst>
              <a:gd name="adj" fmla="val 5833"/>
            </a:avLst>
          </a:prstGeom>
          <a:solidFill>
            <a:srgbClr val="1E2B1E"/>
          </a:solidFill>
          <a:ln w="25400">
            <a:solidFill>
              <a:srgbClr val="14B8A6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057400"/>
            <a:ext cx="4297680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2057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@InjectMocks  ProductController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350008"/>
            <a:ext cx="402336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• Mock </a:t>
            </a:r>
            <a:r>
              <a:rPr lang="ko-KR" altLang="en-US" sz="950" dirty="0">
                <a:solidFill>
                  <a:srgbClr val="E2E8F0"/>
                </a:solidFill>
              </a:rPr>
              <a:t>을</a:t>
            </a:r>
            <a:r>
              <a:rPr lang="en-US" sz="950" dirty="0">
                <a:solidFill>
                  <a:srgbClr val="E2E8F0"/>
                </a:solidFill>
              </a:rPr>
              <a:t> </a:t>
            </a:r>
            <a:r>
              <a:rPr lang="ko-KR" altLang="en-US" sz="950" dirty="0">
                <a:solidFill>
                  <a:srgbClr val="E2E8F0"/>
                </a:solidFill>
              </a:rPr>
              <a:t>테스트 대상 클래스</a:t>
            </a:r>
            <a:r>
              <a:rPr lang="en-US" altLang="ko-KR" sz="950" dirty="0">
                <a:solidFill>
                  <a:srgbClr val="E2E8F0"/>
                </a:solidFill>
              </a:rPr>
              <a:t>(Controller)</a:t>
            </a:r>
            <a:r>
              <a:rPr lang="ko-KR" altLang="en-US" sz="950" dirty="0">
                <a:solidFill>
                  <a:srgbClr val="E2E8F0"/>
                </a:solidFill>
              </a:rPr>
              <a:t>에 자동 주입</a:t>
            </a:r>
            <a:endParaRPr lang="en-US" altLang="ko-KR" sz="950" dirty="0">
              <a:solidFill>
                <a:srgbClr val="E2E8F0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617720" y="3310128"/>
            <a:ext cx="4297680" cy="658368"/>
          </a:xfrm>
          <a:prstGeom prst="roundRect">
            <a:avLst>
              <a:gd name="adj" fmla="val 8333"/>
            </a:avLst>
          </a:prstGeom>
          <a:solidFill>
            <a:srgbClr val="25304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310128"/>
            <a:ext cx="411480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</a:rPr>
              <a:t>🎯  결과: 실제 DB 없이 컨트롤러 로직만 순수하게 테스트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4754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73152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Mockito — Stubbing &amp; verify()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" y="566928"/>
            <a:ext cx="4224528" cy="4370832"/>
          </a:xfrm>
          <a:prstGeom prst="rect">
            <a:avLst/>
          </a:prstGeom>
          <a:solidFill>
            <a:srgbClr val="1E2A3E"/>
          </a:solidFill>
          <a:ln/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566928"/>
            <a:ext cx="4224528" cy="31089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" y="566928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🎭  Stubbing — when().thenReturn()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9144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Mock 메서드가 호출될 때 반환값을 미리 정의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208796"/>
            <a:ext cx="4041648" cy="2487168"/>
          </a:xfrm>
          <a:prstGeom prst="rect">
            <a:avLst/>
          </a:prstGeom>
          <a:solidFill>
            <a:srgbClr val="0D1117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227084"/>
            <a:ext cx="3858768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① 목록 반환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when(productService.getAllProducts())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.thenReturn(List.of(p1, p2));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② 존재하는 상품 (Optional.of)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when(productService.getProductById(1L))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.thenReturn(Optional.of(product));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③ 없는 상품 → 404 유발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when(productService.getProductById(999L))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.thenReturn(Optional.empty());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④ void 메서드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doNothing().when(productService)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.deleteProduct(1L);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3787404"/>
            <a:ext cx="4041648" cy="201168"/>
          </a:xfrm>
          <a:prstGeom prst="roundRect">
            <a:avLst>
              <a:gd name="adj" fmla="val 18182"/>
            </a:avLst>
          </a:prstGeom>
          <a:solidFill>
            <a:srgbClr val="1B2A1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3787404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</a:rPr>
              <a:t>📌  실제 DB·네트워크 없이 컨트롤러 HTTP 로직만 테스트 가능!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45152" y="566928"/>
            <a:ext cx="4315968" cy="4370832"/>
          </a:xfrm>
          <a:prstGeom prst="rect">
            <a:avLst/>
          </a:prstGeom>
          <a:solidFill>
            <a:srgbClr val="1E2A3E"/>
          </a:solidFill>
          <a:ln/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45152" y="566928"/>
            <a:ext cx="4315968" cy="3108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4645152" y="56692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🔍  verify() — 호출 검증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36592" y="914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서비스 메서드가 올바르게 호출됐는지 검증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36592" y="1170432"/>
            <a:ext cx="4133088" cy="1325880"/>
          </a:xfrm>
          <a:prstGeom prst="rect">
            <a:avLst/>
          </a:prstGeom>
          <a:solidFill>
            <a:srgbClr val="0D1117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207902"/>
            <a:ext cx="3950208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삭제 성공: 정확히 1번 호출됐는지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verify(productService, times(1))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.deleteProduct(1L);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404 실패: 절대 호출 안 됐는지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verify(productService, never())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.deleteProduct(anyLong());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36592" y="2606040"/>
            <a:ext cx="4133088" cy="365760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36592" y="2606040"/>
            <a:ext cx="64008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4864608" y="2642616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3B82F6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64608" y="26426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times(n)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44768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정확히 n번 호출됐는지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36592" y="3044952"/>
            <a:ext cx="4133088" cy="365760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3044952"/>
            <a:ext cx="64008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Shape 26"/>
          <p:cNvSpPr/>
          <p:nvPr/>
        </p:nvSpPr>
        <p:spPr>
          <a:xfrm>
            <a:off x="4864608" y="3081528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DC2626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30815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never()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44768" y="3044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단 한 번도 호출 안 됐는지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36592" y="3483864"/>
            <a:ext cx="4133088" cy="365760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36592" y="3483864"/>
            <a:ext cx="64008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Shape 31"/>
          <p:cNvSpPr/>
          <p:nvPr/>
        </p:nvSpPr>
        <p:spPr>
          <a:xfrm>
            <a:off x="4864608" y="352044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59E0B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64608" y="35204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atLeast(n)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44768" y="34838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최소 n번 이상 호출됐는지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36592" y="3922776"/>
            <a:ext cx="4133088" cy="365760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36592" y="3922776"/>
            <a:ext cx="64008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8" name="Shape 36"/>
          <p:cNvSpPr/>
          <p:nvPr/>
        </p:nvSpPr>
        <p:spPr>
          <a:xfrm>
            <a:off x="4864608" y="3959352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14B8A6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864608" y="39593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atMost(n)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44768" y="39227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최대 n번 이하로 호출됐는지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36592" y="4361688"/>
            <a:ext cx="4133088" cy="502920"/>
          </a:xfrm>
          <a:prstGeom prst="roundRect">
            <a:avLst>
              <a:gd name="adj" fmla="val 9091"/>
            </a:avLst>
          </a:prstGeom>
          <a:solidFill>
            <a:srgbClr val="25304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4361688"/>
            <a:ext cx="3950208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</a:rPr>
              <a:t>💡  verify()는 '</a:t>
            </a:r>
            <a:r>
              <a:rPr lang="en-US" sz="900" dirty="0" err="1">
                <a:solidFill>
                  <a:srgbClr val="FCD34D"/>
                </a:solidFill>
              </a:rPr>
              <a:t>컨트롤러가</a:t>
            </a:r>
            <a:r>
              <a:rPr lang="en-US" sz="900" dirty="0">
                <a:solidFill>
                  <a:srgbClr val="FCD34D"/>
                </a:solidFill>
              </a:rPr>
              <a:t>  </a:t>
            </a:r>
            <a:r>
              <a:rPr lang="en-US" sz="900" dirty="0" err="1">
                <a:solidFill>
                  <a:srgbClr val="FCD34D"/>
                </a:solidFill>
              </a:rPr>
              <a:t>서비스</a:t>
            </a:r>
            <a:r>
              <a:rPr lang="en-US" sz="900" dirty="0">
                <a:solidFill>
                  <a:srgbClr val="FCD34D"/>
                </a:solidFill>
              </a:rPr>
              <a:t> 메서드를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</a:rPr>
              <a:t>올바른 횟수만큼 호출했는지' 확인 → 부작용 검증에 필수!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0" y="1280160"/>
            <a:ext cx="1005840" cy="1005840"/>
          </a:xfrm>
          <a:prstGeom prst="ellipse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737360" y="141732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737360" y="2194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실제 서블릿 컨테이너 없이 HTTP 요청/응답을 시뮬레이션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4754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73152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MockMvc 요청 처리 흐름 5단계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594360"/>
            <a:ext cx="1664208" cy="1600200"/>
          </a:xfrm>
          <a:prstGeom prst="roundRect">
            <a:avLst>
              <a:gd name="adj" fmla="val 4571"/>
            </a:avLst>
          </a:prstGeom>
          <a:solidFill>
            <a:srgbClr val="253047"/>
          </a:solidFill>
          <a:ln w="22860">
            <a:solidFill>
              <a:srgbClr val="6C63FF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658368"/>
            <a:ext cx="475488" cy="475488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658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" y="11887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standaloneSetup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" y="1536192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컨트롤러 단독 설정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(Spring Context 없음)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47088" y="1389888"/>
            <a:ext cx="457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74520" y="1353312"/>
            <a:ext cx="73152" cy="7315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4" name="Shape 12"/>
          <p:cNvSpPr/>
          <p:nvPr/>
        </p:nvSpPr>
        <p:spPr>
          <a:xfrm>
            <a:off x="1938528" y="594360"/>
            <a:ext cx="1664208" cy="1600200"/>
          </a:xfrm>
          <a:prstGeom prst="roundRect">
            <a:avLst>
              <a:gd name="adj" fmla="val 4571"/>
            </a:avLst>
          </a:prstGeom>
          <a:solidFill>
            <a:srgbClr val="253047"/>
          </a:solidFill>
          <a:ln w="22860">
            <a:solidFill>
              <a:srgbClr val="3B82F6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32888" y="658368"/>
            <a:ext cx="475488" cy="47548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2532888" y="658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84248" y="11887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84248" y="1536192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HTTP 메서드 + URL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요청 빌드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02736" y="1389888"/>
            <a:ext cx="457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30168" y="1353312"/>
            <a:ext cx="73152" cy="7315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1" name="Shape 19"/>
          <p:cNvSpPr/>
          <p:nvPr/>
        </p:nvSpPr>
        <p:spPr>
          <a:xfrm>
            <a:off x="3694176" y="594360"/>
            <a:ext cx="1664208" cy="1600200"/>
          </a:xfrm>
          <a:prstGeom prst="roundRect">
            <a:avLst>
              <a:gd name="adj" fmla="val 4571"/>
            </a:avLst>
          </a:prstGeom>
          <a:solidFill>
            <a:srgbClr val="253047"/>
          </a:solidFill>
          <a:ln w="22860">
            <a:solidFill>
              <a:srgbClr val="14B8A6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88536" y="658368"/>
            <a:ext cx="475488" cy="47548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4288536" y="658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39896" y="11887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andDo(print())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39896" y="1536192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요청/응답 전체 내용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콘솔 출력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358384" y="1389888"/>
            <a:ext cx="457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85816" y="1353312"/>
            <a:ext cx="73152" cy="7315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49824" y="594360"/>
            <a:ext cx="1664208" cy="1600200"/>
          </a:xfrm>
          <a:prstGeom prst="roundRect">
            <a:avLst>
              <a:gd name="adj" fmla="val 4571"/>
            </a:avLst>
          </a:prstGeom>
          <a:solidFill>
            <a:srgbClr val="253047"/>
          </a:solidFill>
          <a:ln w="2286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44184" y="658368"/>
            <a:ext cx="475488" cy="47548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0" name="Text 28"/>
          <p:cNvSpPr/>
          <p:nvPr/>
        </p:nvSpPr>
        <p:spPr>
          <a:xfrm>
            <a:off x="6044184" y="658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95544" y="11887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andExpect()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95544" y="1536192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E2E8F0"/>
                </a:solidFill>
              </a:rPr>
              <a:t>상태코드</a:t>
            </a:r>
            <a:r>
              <a:rPr lang="en-US" sz="850" dirty="0">
                <a:solidFill>
                  <a:srgbClr val="E2E8F0"/>
                </a:solidFill>
              </a:rPr>
              <a:t>/Body 검증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통과·실패 결정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114032" y="1389888"/>
            <a:ext cx="457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41464" y="1353312"/>
            <a:ext cx="73152" cy="7315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5" name="Shape 33"/>
          <p:cNvSpPr/>
          <p:nvPr/>
        </p:nvSpPr>
        <p:spPr>
          <a:xfrm>
            <a:off x="7205472" y="594360"/>
            <a:ext cx="1664208" cy="1600200"/>
          </a:xfrm>
          <a:prstGeom prst="roundRect">
            <a:avLst>
              <a:gd name="adj" fmla="val 4571"/>
            </a:avLst>
          </a:prstGeom>
          <a:solidFill>
            <a:srgbClr val="253047"/>
          </a:solidFill>
          <a:ln w="2286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799832" y="658368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7799832" y="658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251192" y="11887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verify()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51192" y="1536192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서비스 메서드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호출 최종 확인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82880" y="2331720"/>
            <a:ext cx="8778240" cy="2487168"/>
          </a:xfrm>
          <a:prstGeom prst="rect">
            <a:avLst/>
          </a:prstGeom>
          <a:solidFill>
            <a:srgbClr val="0D1117"/>
          </a:solidFill>
          <a:ln w="1270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82880" y="2331720"/>
            <a:ext cx="8778240" cy="20116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2" name="Text 40"/>
          <p:cNvSpPr/>
          <p:nvPr/>
        </p:nvSpPr>
        <p:spPr>
          <a:xfrm>
            <a:off x="182880" y="2331720"/>
            <a:ext cx="8778240" cy="2011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ProductApiControllerTest.java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92608" y="2542032"/>
            <a:ext cx="855878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</a:t>
            </a: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mockMvc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MockMvcBuilders.</a:t>
            </a:r>
            <a:r>
              <a:rPr lang="en-US" sz="10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standaloneSetup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(productController)</a:t>
            </a: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    .setControllerAdvice(new GlobalExceptionHandler()).build();
</a:t>
            </a: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</a:t>
            </a: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mockMvc.</a:t>
            </a:r>
            <a:r>
              <a:rPr lang="en-US" sz="10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(get("/api/products/1").accept(MediaType.APPLICATION_JSON))
</a:t>
            </a: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</a:t>
            </a: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.andDo(print())
</a:t>
            </a: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 </a:t>
            </a: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.andExpect(status().isOk())
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.andExpect(jsonPath(</a:t>
            </a: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"$.data.name"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).value(</a:t>
            </a: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"노트북"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
</a:t>
            </a:r>
          </a:p>
          <a:p>
            <a:pPr marL="0" indent="0">
              <a:buNone/>
            </a:pPr>
            <a:r>
              <a:rPr lang="en-US" altLang="ko-KR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[Mockito] </a:t>
            </a:r>
            <a:r>
              <a:rPr lang="ko-KR" alt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서비스 메서드가 정확히 </a:t>
            </a:r>
            <a:r>
              <a:rPr lang="en-US" altLang="ko-KR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ko-KR" alt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번 호출되었는지 검증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⑤ </a:t>
            </a:r>
            <a:r>
              <a:rPr lang="en-US" sz="10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(productService, times(1)).getProductById(1L);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4754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73152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HTTP 메서드별 perform() 사용법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601648"/>
            <a:ext cx="8778240" cy="987552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601648"/>
            <a:ext cx="914400" cy="9875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601648"/>
            <a:ext cx="914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88720" y="638224"/>
            <a:ext cx="7680960" cy="9144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638224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mockMvc.perform(get("/api/products")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.accept(MediaType.APPLICATION_JSON))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1680640"/>
            <a:ext cx="8778240" cy="987552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1680640"/>
            <a:ext cx="914400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1680640"/>
            <a:ext cx="914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88720" y="1717216"/>
            <a:ext cx="7680960" cy="9144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717216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mockMvc.perform(post("/api/products")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.contentType(APPLICATION_JSON)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.content(objectMapper.writeValueAsString(form)))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2759632"/>
            <a:ext cx="8778240" cy="987552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2759632"/>
            <a:ext cx="914400" cy="9875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" y="2759632"/>
            <a:ext cx="914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PUT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88720" y="2796208"/>
            <a:ext cx="7680960" cy="9144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2796208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mockMvc.perform(put("/api/products/1")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.contentType(APPLICATION_JSON)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.content(objectMapper.writeValueAsString(form)))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3838624"/>
            <a:ext cx="8778240" cy="987552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3838624"/>
            <a:ext cx="914400" cy="9875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3838624"/>
            <a:ext cx="914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DELETE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188720" y="3875200"/>
            <a:ext cx="7680960" cy="9144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6" name="Text 24"/>
          <p:cNvSpPr/>
          <p:nvPr/>
        </p:nvSpPr>
        <p:spPr>
          <a:xfrm>
            <a:off x="1280160" y="38752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mockMvc.perform(delete("/api/products/1"))</a:t>
            </a:r>
            <a:endParaRPr lang="en-US" sz="100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380AE599-D5BA-4F3A-84A3-726737D96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362" y="1765449"/>
            <a:ext cx="3761198" cy="783214"/>
          </a:xfrm>
          <a:prstGeom prst="rect">
            <a:avLst/>
          </a:prstGeom>
        </p:spPr>
      </p:pic>
      <p:sp>
        <p:nvSpPr>
          <p:cNvPr id="31" name="Text 9">
            <a:extLst>
              <a:ext uri="{FF2B5EF4-FFF2-40B4-BE49-F238E27FC236}">
                <a16:creationId xmlns:a16="http://schemas.microsoft.com/office/drawing/2014/main" id="{ADF92761-029D-4803-810E-CB9C289E52C3}"/>
              </a:ext>
            </a:extLst>
          </p:cNvPr>
          <p:cNvSpPr/>
          <p:nvPr/>
        </p:nvSpPr>
        <p:spPr>
          <a:xfrm>
            <a:off x="6662860" y="1456557"/>
            <a:ext cx="1107724" cy="34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ObjectMapper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0" y="1280160"/>
            <a:ext cx="1005840" cy="1005840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737360" y="141732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JsonPath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737360" y="2194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JSON 응답 바디를 XPath처럼 쿼리하고 검증하는 표현식 언어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73152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JsonPath 표현식 완전 정리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566928"/>
            <a:ext cx="3520440" cy="2743200"/>
          </a:xfrm>
          <a:prstGeom prst="rect">
            <a:avLst/>
          </a:prstGeom>
          <a:solidFill>
            <a:srgbClr val="0D1117"/>
          </a:solidFill>
          <a:ln w="1270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566928"/>
            <a:ext cx="3520440" cy="20116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566928"/>
            <a:ext cx="3520440" cy="2011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응답 JSON 예시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" y="792778"/>
            <a:ext cx="3319272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"success": true,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"data": 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"id": 1,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"name": "노트북",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"category": "전자제품",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"price": 1500000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"id": 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"name": "마우스",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"price": 50000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0" y="594360"/>
            <a:ext cx="5120640" cy="347472"/>
          </a:xfrm>
          <a:prstGeom prst="rect">
            <a:avLst/>
          </a:prstGeom>
          <a:solidFill>
            <a:srgbClr val="253047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594360"/>
            <a:ext cx="64008" cy="34747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3977640" y="594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$.success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33872" y="5943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44768" y="594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true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978408"/>
            <a:ext cx="5120640" cy="347472"/>
          </a:xfrm>
          <a:prstGeom prst="rect">
            <a:avLst/>
          </a:prstGeom>
          <a:solidFill>
            <a:srgbClr val="1E2A3E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978408"/>
            <a:ext cx="64008" cy="3474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Text 16"/>
          <p:cNvSpPr/>
          <p:nvPr/>
        </p:nvSpPr>
        <p:spPr>
          <a:xfrm>
            <a:off x="3977640" y="9784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$.data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33872" y="97840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44768" y="9784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[…]  배열 전체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0" y="1362456"/>
            <a:ext cx="5120640" cy="347472"/>
          </a:xfrm>
          <a:prstGeom prst="rect">
            <a:avLst/>
          </a:prstGeom>
          <a:solidFill>
            <a:srgbClr val="253047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0" y="1362456"/>
            <a:ext cx="64008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3977640" y="13624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$.data[0].id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33872" y="136245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44768" y="1362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0" y="1746504"/>
            <a:ext cx="5120640" cy="347472"/>
          </a:xfrm>
          <a:prstGeom prst="rect">
            <a:avLst/>
          </a:prstGeom>
          <a:solidFill>
            <a:srgbClr val="1E2A3E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0" y="1746504"/>
            <a:ext cx="64008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3977640" y="17465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$.data[0].name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33872" y="174650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44768" y="17465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"노트북"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40480" y="2130552"/>
            <a:ext cx="5120640" cy="347472"/>
          </a:xfrm>
          <a:prstGeom prst="rect">
            <a:avLst/>
          </a:prstGeom>
          <a:solidFill>
            <a:srgbClr val="253047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0" y="2130552"/>
            <a:ext cx="64008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3977640" y="2130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$.data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33872" y="213055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44768" y="21305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hasSize(2)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840480" y="2514600"/>
            <a:ext cx="5120640" cy="347472"/>
          </a:xfrm>
          <a:prstGeom prst="rect">
            <a:avLst/>
          </a:prstGeom>
          <a:solidFill>
            <a:srgbClr val="1E2A3E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0" y="2514600"/>
            <a:ext cx="64008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3977640" y="2514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$.data[*].name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33872" y="25146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44768" y="2514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모든 name 필드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82880" y="3383280"/>
            <a:ext cx="8778240" cy="1572768"/>
          </a:xfrm>
          <a:prstGeom prst="rect">
            <a:avLst/>
          </a:prstGeom>
          <a:solidFill>
            <a:srgbClr val="0D1117"/>
          </a:solidFill>
          <a:ln w="1270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82880" y="3383280"/>
            <a:ext cx="8778240" cy="201168"/>
          </a:xfrm>
          <a:prstGeom prst="rect">
            <a:avLst/>
          </a:prstGeom>
          <a:solidFill>
            <a:srgbClr val="1C2333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3" name="Text 41"/>
          <p:cNvSpPr/>
          <p:nvPr/>
        </p:nvSpPr>
        <p:spPr>
          <a:xfrm>
            <a:off x="182880" y="3383280"/>
            <a:ext cx="8778240" cy="2011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andExpect() 활용 예시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92608" y="3593592"/>
            <a:ext cx="8558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.andExpect(jsonPath("$.success").value(true))          // 단순 값 검증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.andExpect(jsonPath("$.data[0].name").value("노트북"))   // 배열 요소 접근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.andExpect(jsonPath("$.data", hasSize(2)))               // Hamcrest 매처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.andExpect(jsonPath("$.fieldErrors[*].field", hasItem("name")))  // 배열에 항목 포함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.andExpect(jsonPath("$.data.category").doesNotExist())   // 존재하지 않음 검증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0" y="1280160"/>
            <a:ext cx="1005840" cy="1005840"/>
          </a:xfrm>
          <a:prstGeom prst="ellipse">
            <a:avLst/>
          </a:prstGeom>
          <a:solidFill>
            <a:srgbClr val="22C55E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737360" y="141732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/ When / Then </a:t>
            </a:r>
            <a:r>
              <a:rPr lang="ko-KR" alt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737360" y="2194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BDD (Behavior-Driven Development)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47548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73152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Given / When / Then 패턴 — BDD 스타일 테스트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" y="739576"/>
            <a:ext cx="2834640" cy="3858768"/>
          </a:xfrm>
          <a:prstGeom prst="roundRect">
            <a:avLst>
              <a:gd name="adj" fmla="val 2581"/>
            </a:avLst>
          </a:prstGeom>
          <a:solidFill>
            <a:srgbClr val="1E2A3E"/>
          </a:solidFill>
          <a:ln w="22860">
            <a:solidFill>
              <a:srgbClr val="14B8A6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739576"/>
            <a:ext cx="283464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" y="7395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🔧 Given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" y="11510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</a:rPr>
              <a:t>사전 조건 — Mock 동작 정의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471096"/>
            <a:ext cx="2615184" cy="1691640"/>
          </a:xfrm>
          <a:prstGeom prst="rect">
            <a:avLst/>
          </a:prstGeom>
          <a:solidFill>
            <a:srgbClr val="0D1117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489384"/>
            <a:ext cx="255117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given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p1 =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buildProduct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(1L, "노트북", ...);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when(</a:t>
            </a: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productService.getAllProducts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()).thenReturn(List.of(p1));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99232" y="2668960"/>
            <a:ext cx="1828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2632384"/>
            <a:ext cx="82296" cy="822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Shape 13"/>
          <p:cNvSpPr/>
          <p:nvPr/>
        </p:nvSpPr>
        <p:spPr>
          <a:xfrm>
            <a:off x="3136392" y="739576"/>
            <a:ext cx="2834640" cy="3858768"/>
          </a:xfrm>
          <a:prstGeom prst="roundRect">
            <a:avLst>
              <a:gd name="adj" fmla="val 2581"/>
            </a:avLst>
          </a:prstGeom>
          <a:solidFill>
            <a:srgbClr val="1E2A3E"/>
          </a:solidFill>
          <a:ln w="22860">
            <a:solidFill>
              <a:srgbClr val="3B82F6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36392" y="739576"/>
            <a:ext cx="283464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3136392" y="7395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▶ When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27832" y="11510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</a:rPr>
              <a:t>동작 실행 — HTTP 요청 수행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1471096"/>
            <a:ext cx="2615184" cy="1691640"/>
          </a:xfrm>
          <a:prstGeom prst="rect">
            <a:avLst/>
          </a:prstGeom>
          <a:solidFill>
            <a:srgbClr val="0D1117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1489384"/>
            <a:ext cx="24688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when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mockMvc.perform(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get("/api/products")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.accept(APPLICATION_JSON))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71032" y="2668960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263238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108192" y="739576"/>
            <a:ext cx="2834640" cy="3858768"/>
          </a:xfrm>
          <a:prstGeom prst="roundRect">
            <a:avLst>
              <a:gd name="adj" fmla="val 2581"/>
            </a:avLst>
          </a:prstGeom>
          <a:solidFill>
            <a:srgbClr val="1E2A3E"/>
          </a:solidFill>
          <a:ln w="2286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08192" y="739576"/>
            <a:ext cx="283464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6108192" y="7395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✅ Then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99632" y="11510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</a:rPr>
              <a:t>결과 검증 — 상태코드/바디 확인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1471096"/>
            <a:ext cx="2615184" cy="1691640"/>
          </a:xfrm>
          <a:prstGeom prst="rect">
            <a:avLst/>
          </a:prstGeom>
          <a:solidFill>
            <a:srgbClr val="0D1117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1489384"/>
            <a:ext cx="24688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//then</a:t>
            </a:r>
          </a:p>
          <a:p>
            <a:pPr marL="0" indent="0">
              <a:buNone/>
            </a:pPr>
            <a:endParaRPr lang="en-US" sz="900" dirty="0">
              <a:solidFill>
                <a:srgbClr val="A5D6FF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.andExpect(status().isOk())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.andExpect(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jsonPath("$.data",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hasSize(1)));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743200"/>
            <a:ext cx="2286000" cy="228600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005840" cy="1005840"/>
          </a:xfrm>
          <a:prstGeom prst="ellipse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737360" y="141732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완전 분석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737360" y="2194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ProductApiControllerTest 의 </a:t>
            </a:r>
            <a:r>
              <a:rPr lang="en-US" sz="1500" dirty="0" err="1">
                <a:solidFill>
                  <a:srgbClr val="94A3B8"/>
                </a:solidFill>
              </a:rPr>
              <a:t>테스트</a:t>
            </a:r>
            <a:r>
              <a:rPr lang="en-US" sz="1500" dirty="0">
                <a:solidFill>
                  <a:srgbClr val="94A3B8"/>
                </a:solidFill>
              </a:rPr>
              <a:t> </a:t>
            </a:r>
            <a:r>
              <a:rPr lang="en-US" sz="1500" dirty="0" err="1">
                <a:solidFill>
                  <a:srgbClr val="94A3B8"/>
                </a:solidFill>
              </a:rPr>
              <a:t>해부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73152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ProductApiControllerTest — 전체 구조 &amp; setUp()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" y="566928"/>
            <a:ext cx="4800600" cy="4343400"/>
          </a:xfrm>
          <a:prstGeom prst="rect">
            <a:avLst/>
          </a:prstGeom>
          <a:solidFill>
            <a:srgbClr val="0D1117"/>
          </a:solidFill>
          <a:ln w="1270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566928"/>
            <a:ext cx="4800600" cy="20116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" y="566928"/>
            <a:ext cx="4800600" cy="2011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ProductApiControllerTest.java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786384"/>
            <a:ext cx="4581144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@ExtendWith(MockitoExtension.class)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@DisplayName("Product REST API 단위 테스트")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ProductApiControllerTest {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@Mock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ProductService productService;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@InjectMocks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ProductController productController;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MockMvc mockMvc;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ObjectMapper objectMapper;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@BeforeEach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setUp()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mockMvc = MockMvcBuilders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.standaloneSetup(productController)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.setControllerAdvice(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new GlobalExceptionHandler())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.build();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objectMapper = new ObjectMapper();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594360"/>
            <a:ext cx="3840480" cy="777240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20640" y="594360"/>
            <a:ext cx="73152" cy="7772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266944" y="68580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6C63FF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266944" y="685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@Mock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66944" y="978408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ProductService 가짜 객체 생성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→ 실제 DB 연결 없음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20640" y="1481328"/>
            <a:ext cx="3840480" cy="777240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20640" y="1481328"/>
            <a:ext cx="73152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Shape 16"/>
          <p:cNvSpPr/>
          <p:nvPr/>
        </p:nvSpPr>
        <p:spPr>
          <a:xfrm>
            <a:off x="5266944" y="1572768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14B8A6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266944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@InjectMocks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66944" y="1865376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Mock을 컨트롤러에 자동 주입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→ productService 자동 연결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20640" y="2368296"/>
            <a:ext cx="3840480" cy="777240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20640" y="2368296"/>
            <a:ext cx="73152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5266944" y="2459736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3B82F6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266944" y="24597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standaloneSetup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66944" y="2752344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Spring Context 없이 컨트롤러만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→ 빠른 초기화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3255264"/>
            <a:ext cx="3840480" cy="777240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20640" y="3255264"/>
            <a:ext cx="73152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5266944" y="3346704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266944" y="33467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 setControllerAdvice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66944" y="3639312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@ExceptionHandler 예외처리 포함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→ 실제 오류 응답 테스트 가능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20640" y="4142232"/>
            <a:ext cx="3840480" cy="777240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Shape 30"/>
          <p:cNvSpPr/>
          <p:nvPr/>
        </p:nvSpPr>
        <p:spPr>
          <a:xfrm>
            <a:off x="5120640" y="4142232"/>
            <a:ext cx="73152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3" name="Shape 31"/>
          <p:cNvSpPr/>
          <p:nvPr/>
        </p:nvSpPr>
        <p:spPr>
          <a:xfrm>
            <a:off x="5266944" y="4233672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22C55E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266944" y="42336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⑤ ObjectMapper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66944" y="4526280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Java 객체 ↔ JSON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73152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GET /api/products — 상품 목록 조회 테스트 해부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" y="566928"/>
            <a:ext cx="4892040" cy="4343400"/>
          </a:xfrm>
          <a:prstGeom prst="rect">
            <a:avLst/>
          </a:prstGeom>
          <a:solidFill>
            <a:srgbClr val="0D1117"/>
          </a:solidFill>
          <a:ln w="1270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566928"/>
            <a:ext cx="4892040" cy="20116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" y="566928"/>
            <a:ext cx="4892040" cy="2011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Java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4320" y="786384"/>
            <a:ext cx="4672584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@DisplayName("성공: 상품 2개 반환")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success_returnsTwoProducts()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throws Exception {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① given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 p1 = buildProduct(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1L, "노트북", "전자제품",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 BigDecimal("1500000"), "…");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 p2 = buildProduct(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2L, "마우스", "전자제품",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 BigDecimal("50000"), "…");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when(productService.getAllProducts())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.thenReturn(List.of(p1, p2));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② when + ③ then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mockMvc.perform(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get("/api/products")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.accept(APPLICATION_JSON))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.andDo(print())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.andExpect(status().isOk())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.andExpect(jsonPath("$.success")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.value(true))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.andExpect(jsonPath("$.data",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hasSize(2)))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.andExpect(jsonPath("$.data[0].name")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.value("노트북"));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230368" y="594360"/>
            <a:ext cx="3730752" cy="749808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30368" y="594360"/>
            <a:ext cx="73152" cy="7498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1"/>
          <p:cNvSpPr/>
          <p:nvPr/>
        </p:nvSpPr>
        <p:spPr>
          <a:xfrm>
            <a:off x="5376672" y="667512"/>
            <a:ext cx="3474720" cy="256032"/>
          </a:xfrm>
          <a:prstGeom prst="roundRect">
            <a:avLst>
              <a:gd name="adj" fmla="val 14286"/>
            </a:avLst>
          </a:prstGeom>
          <a:solidFill>
            <a:srgbClr val="14B8A6">
              <a:alpha val="7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376672" y="667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Given — Mock 정의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76672" y="9601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buildProduct()로 테스트 데이터 생성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when()으로 서비스 반환값 지정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30368" y="1463040"/>
            <a:ext cx="3730752" cy="749808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30368" y="1463040"/>
            <a:ext cx="73152" cy="7498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5376672" y="1536192"/>
            <a:ext cx="3474720" cy="256032"/>
          </a:xfrm>
          <a:prstGeom prst="roundRect">
            <a:avLst>
              <a:gd name="adj" fmla="val 14286"/>
            </a:avLst>
          </a:prstGeom>
          <a:solidFill>
            <a:srgbClr val="3B82F6">
              <a:alpha val="7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376672" y="1536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When — HTTP 요청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76672" y="18288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get("/api/products") — GET 요청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.accept() — 응답 형식 지정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30368" y="2331720"/>
            <a:ext cx="3730752" cy="749808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30368" y="2331720"/>
            <a:ext cx="73152" cy="7498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Shape 21"/>
          <p:cNvSpPr/>
          <p:nvPr/>
        </p:nvSpPr>
        <p:spPr>
          <a:xfrm>
            <a:off x="5376672" y="2404872"/>
            <a:ext cx="3474720" cy="256032"/>
          </a:xfrm>
          <a:prstGeom prst="roundRect">
            <a:avLst>
              <a:gd name="adj" fmla="val 14286"/>
            </a:avLst>
          </a:prstGeom>
          <a:solidFill>
            <a:srgbClr val="22C55E">
              <a:alpha val="7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376672" y="2404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Then — 결과 검증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76672" y="26974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status().isOk() → HTTP 200 확인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$.success → true 검증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30368" y="3200400"/>
            <a:ext cx="3730752" cy="749808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30368" y="3200400"/>
            <a:ext cx="73152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5376672" y="3273552"/>
            <a:ext cx="347472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7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376672" y="3273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hasSize(2)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76672" y="35661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Hamcrest 매처 — 배열 크기 검증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import static org.hamcrest.Matchers.*;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230368" y="4069080"/>
            <a:ext cx="3730752" cy="749808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230368" y="4069080"/>
            <a:ext cx="73152" cy="7498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5376672" y="4142232"/>
            <a:ext cx="3474720" cy="256032"/>
          </a:xfrm>
          <a:prstGeom prst="roundRect">
            <a:avLst>
              <a:gd name="adj" fmla="val 14286"/>
            </a:avLst>
          </a:prstGeom>
          <a:solidFill>
            <a:srgbClr val="6C63FF">
              <a:alpha val="7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376672" y="41422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$.data[0].name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76672" y="44348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"노트북" — data 배열 첫 번째 항목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.name 필드 값 검증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73152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DELETE — 성공(200) &amp; 실패(404) 테스트 분석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" y="566928"/>
            <a:ext cx="4206240" cy="4343400"/>
          </a:xfrm>
          <a:prstGeom prst="rect">
            <a:avLst/>
          </a:prstGeom>
          <a:solidFill>
            <a:srgbClr val="1E2A3E"/>
          </a:solidFill>
          <a:ln/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566928"/>
            <a:ext cx="4206240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" y="5669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성공 케이스 — 200 OK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914400"/>
            <a:ext cx="4023360" cy="2514600"/>
          </a:xfrm>
          <a:prstGeom prst="rect">
            <a:avLst/>
          </a:prstGeom>
          <a:solidFill>
            <a:srgbClr val="0D1117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932688"/>
            <a:ext cx="3840480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given: void </a:t>
            </a: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메서드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스텁</a:t>
            </a:r>
            <a:endParaRPr lang="en-US" sz="900" dirty="0"/>
          </a:p>
          <a:p>
            <a:pPr marL="0" indent="0">
              <a:buNone/>
            </a:pP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doNothing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().when(</a:t>
            </a: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productService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deleteProduct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(1L);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when + then</a:t>
            </a:r>
            <a:endParaRPr lang="en-US" sz="900" dirty="0"/>
          </a:p>
          <a:p>
            <a:pPr marL="0" indent="0">
              <a:buNone/>
            </a:pP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mockMvc.perform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delete("/</a:t>
            </a: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/products/1"))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andExpect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(status().</a:t>
            </a: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isOk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andExpect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jsonPath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("$.success")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.value(true))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andExpect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jsonPath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("$.message")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.value("</a:t>
            </a: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상품이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삭제되었습니다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."));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서비스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1번 </a:t>
            </a: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호출됐는지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확인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verify(</a:t>
            </a: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productService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times(1))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r>
              <a:rPr lang="en-US" sz="900" dirty="0" err="1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deleteProduct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(1L);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3502152"/>
            <a:ext cx="4023360" cy="1280160"/>
          </a:xfrm>
          <a:prstGeom prst="roundRect">
            <a:avLst>
              <a:gd name="adj" fmla="val 3571"/>
            </a:avLst>
          </a:prstGeom>
          <a:solidFill>
            <a:srgbClr val="152A1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3502152"/>
            <a:ext cx="384048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</a:rPr>
              <a:t>핵심 포인트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• doNothing() → void 메서드 스텁 처리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• verify(times(1)) → 정확히 1번 호출 확인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• $.message 문자열 검증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36592" y="566928"/>
            <a:ext cx="4224528" cy="4343400"/>
          </a:xfrm>
          <a:prstGeom prst="rect">
            <a:avLst/>
          </a:prstGeom>
          <a:solidFill>
            <a:srgbClr val="1E2A3E"/>
          </a:solidFill>
          <a:ln/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36592" y="566928"/>
            <a:ext cx="422452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4736592" y="566928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❌  실패 케이스 — 404 Not Found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28032" y="914400"/>
            <a:ext cx="4041648" cy="2514600"/>
          </a:xfrm>
          <a:prstGeom prst="rect">
            <a:avLst/>
          </a:prstGeom>
          <a:solidFill>
            <a:srgbClr val="0D1117"/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932688"/>
            <a:ext cx="3858768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given: 없는 상품 → Optional.empty()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when(productService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.getProductById(999L))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.thenReturn(Optional.empty());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when + then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mockMvc.perform(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delete("/api/products/999"))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.andExpect(status().isNotFound())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.andExpect(jsonPath("$.status")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.value(404))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.andExpect(jsonPath("$.error")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.value("Not Found"));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deleteProduct() 절대 호출 안 됨!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verify(productService, never())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.deleteProduct(anyLong());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28032" y="3502152"/>
            <a:ext cx="4041648" cy="1280160"/>
          </a:xfrm>
          <a:prstGeom prst="roundRect">
            <a:avLst>
              <a:gd name="adj" fmla="val 3571"/>
            </a:avLst>
          </a:prstGeom>
          <a:solidFill>
            <a:srgbClr val="2A152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502152"/>
            <a:ext cx="3858768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</a:rPr>
              <a:t>🔑  핵심 포인트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• Optional.empty() → 404 상황 시뮬레이션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• verify(never()) → 삭제 로직 미호출 확인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• GlobalExceptionHandler가 404 응답 생성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73152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 — Validation 실패 테스트 (400 Bad Request)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" y="566928"/>
            <a:ext cx="4773168" cy="4343400"/>
          </a:xfrm>
          <a:prstGeom prst="rect">
            <a:avLst/>
          </a:prstGeom>
          <a:solidFill>
            <a:srgbClr val="0D1117"/>
          </a:solidFill>
          <a:ln w="12700">
            <a:solidFill>
              <a:srgbClr val="2E3F5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566928"/>
            <a:ext cx="4773168" cy="20116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" y="566928"/>
            <a:ext cx="4773168" cy="2011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Java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4320" y="786384"/>
            <a:ext cx="4553712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@DisplayName("실패: 상품명 없음 → 400")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fail_noName_returns400()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throws Exception {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given: name 필드 누락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ProductForm form = buildForm(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null, "전자제품",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 BigDecimal("1500000"), "설명");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when + then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mockMvc.perform(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post("/api/products")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.contentType(APPLICATION_JSON)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.content(objectMapper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.writeValueAsString(form)))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.andExpect(status().isBadRequest())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.andExpect(jsonPath("$.status")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.value(400))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.andExpect(jsonPath("$.error")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.value("Bad Request"))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.andExpect(jsonPath("$.fieldErrors",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hasSize(greaterThan(0))))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.andExpect(jsonPath(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"$.fieldErrors[*].field",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hasItem("name")));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93208" y="566928"/>
            <a:ext cx="3867912" cy="1051560"/>
          </a:xfrm>
          <a:prstGeom prst="roundRect">
            <a:avLst>
              <a:gd name="adj" fmla="val 5217"/>
            </a:avLst>
          </a:prstGeom>
          <a:solidFill>
            <a:srgbClr val="25304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84648" y="594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검증되는 @Validation 규칙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84648" y="914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Controller 진입 전 Spring이 자동으로 입력값 검증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93208" y="1737360"/>
            <a:ext cx="3867912" cy="493776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93208" y="1737360"/>
            <a:ext cx="73152" cy="4937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5230368" y="1737360"/>
            <a:ext cx="27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32120" y="17647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== null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32120" y="199339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fieldErrors에 'name' 포함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93208" y="2304288"/>
            <a:ext cx="3867912" cy="493776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93208" y="2304288"/>
            <a:ext cx="73152" cy="4937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230368" y="2304288"/>
            <a:ext cx="27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✗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32120" y="23317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== null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32120" y="256032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fieldErrors에 'price' 포함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93208" y="2871216"/>
            <a:ext cx="3867912" cy="493776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93208" y="2871216"/>
            <a:ext cx="73152" cy="49377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6" name="Text 24"/>
          <p:cNvSpPr/>
          <p:nvPr/>
        </p:nvSpPr>
        <p:spPr>
          <a:xfrm>
            <a:off x="5230368" y="2871216"/>
            <a:ext cx="27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D34D"/>
                </a:solidFill>
              </a:rPr>
              <a:t>✗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32120" y="28986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&lt; 0 (음수)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32120" y="312724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price 필드 음수 검증 실패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93208" y="3438144"/>
            <a:ext cx="3867912" cy="493776"/>
          </a:xfrm>
          <a:prstGeom prst="rect">
            <a:avLst/>
          </a:prstGeom>
          <a:solidFill>
            <a:srgbClr val="253047"/>
          </a:solidFill>
          <a:ln w="6350">
            <a:solidFill>
              <a:srgbClr val="2E3F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93208" y="3438144"/>
            <a:ext cx="73152" cy="4937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5230368" y="3438144"/>
            <a:ext cx="27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</a:rPr>
              <a:t>✗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32120" y="346557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name.length &gt; 100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32120" y="369417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name 필드 길이 초과 실패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93208" y="4050792"/>
            <a:ext cx="3867912" cy="868680"/>
          </a:xfrm>
          <a:prstGeom prst="roundRect">
            <a:avLst>
              <a:gd name="adj" fmla="val 6316"/>
            </a:avLst>
          </a:prstGeom>
          <a:solidFill>
            <a:srgbClr val="253047"/>
          </a:solidFill>
          <a:ln w="12700">
            <a:solidFill>
              <a:srgbClr val="9D97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84648" y="4050792"/>
            <a:ext cx="3703320" cy="8686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9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$.fieldErrors[*].field
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[*]  → 배열 전체 요소의 field 속성 추출
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</a:rPr>
              <a:t>hasItem("name")  → 배열에 'name'이 포함됐는지 확인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3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47548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📊  정리 — 통합 테스트 vs 단위 테스트 비교표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592504"/>
            <a:ext cx="1920240" cy="384048"/>
          </a:xfrm>
          <a:prstGeom prst="rect">
            <a:avLst/>
          </a:prstGeom>
          <a:solidFill>
            <a:srgbClr val="253047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5925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항목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592504"/>
            <a:ext cx="320040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5925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통합 테스트 (@SpringBootTest)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0" y="592504"/>
            <a:ext cx="3657600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5925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단위 테스트 (MockMvc + Mockito)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976552"/>
            <a:ext cx="1920240" cy="402336"/>
          </a:xfrm>
          <a:prstGeom prst="rect">
            <a:avLst/>
          </a:prstGeom>
          <a:solidFill>
            <a:srgbClr val="1E2A3E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" y="976552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</a:rPr>
              <a:t>Spring 컨텍스트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976552"/>
            <a:ext cx="3200400" cy="402336"/>
          </a:xfrm>
          <a:prstGeom prst="rect">
            <a:avLst/>
          </a:prstGeom>
          <a:solidFill>
            <a:srgbClr val="253047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57984" y="976552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전체 로딩 (느림)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0" y="976552"/>
            <a:ext cx="3657600" cy="402336"/>
          </a:xfrm>
          <a:prstGeom prst="rect">
            <a:avLst/>
          </a:prstGeom>
          <a:solidFill>
            <a:srgbClr val="253047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8384" y="976552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</a:rPr>
              <a:t>불필요 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1378888"/>
            <a:ext cx="1920240" cy="402336"/>
          </a:xfrm>
          <a:prstGeom prst="rect">
            <a:avLst/>
          </a:prstGeom>
          <a:solidFill>
            <a:srgbClr val="1E2A3E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378888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</a:rPr>
              <a:t>DB 연결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03120" y="1378888"/>
            <a:ext cx="3200400" cy="402336"/>
          </a:xfrm>
          <a:prstGeom prst="rect">
            <a:avLst/>
          </a:prstGeom>
          <a:solidFill>
            <a:srgbClr val="1E2A3E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57984" y="1378888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실제 DB 필요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0" y="1378888"/>
            <a:ext cx="3657600" cy="402336"/>
          </a:xfrm>
          <a:prstGeom prst="rect">
            <a:avLst/>
          </a:prstGeom>
          <a:solidFill>
            <a:srgbClr val="1E2A3E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58384" y="1378888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</a:rPr>
              <a:t>불필요 ✅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" y="1781224"/>
            <a:ext cx="1920240" cy="402336"/>
          </a:xfrm>
          <a:prstGeom prst="rect">
            <a:avLst/>
          </a:prstGeom>
          <a:solidFill>
            <a:srgbClr val="1E2A3E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" y="178122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</a:rPr>
              <a:t>서버 기동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03120" y="1781224"/>
            <a:ext cx="3200400" cy="402336"/>
          </a:xfrm>
          <a:prstGeom prst="rect">
            <a:avLst/>
          </a:prstGeom>
          <a:solidFill>
            <a:srgbClr val="253047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57984" y="1781224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Tomcat 필요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03520" y="1781224"/>
            <a:ext cx="3657600" cy="402336"/>
          </a:xfrm>
          <a:prstGeom prst="rect">
            <a:avLst/>
          </a:prstGeom>
          <a:solidFill>
            <a:srgbClr val="253047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58384" y="1781224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</a:rPr>
              <a:t>불필요 ✅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2880" y="2183560"/>
            <a:ext cx="1920240" cy="402336"/>
          </a:xfrm>
          <a:prstGeom prst="rect">
            <a:avLst/>
          </a:prstGeom>
          <a:solidFill>
            <a:srgbClr val="1E2A3E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" y="218356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</a:rPr>
              <a:t>테스트 속도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03120" y="2183560"/>
            <a:ext cx="3200400" cy="402336"/>
          </a:xfrm>
          <a:prstGeom prst="rect">
            <a:avLst/>
          </a:prstGeom>
          <a:solidFill>
            <a:srgbClr val="1E2A3E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57984" y="2183560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느림 (수십 초)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03520" y="2183560"/>
            <a:ext cx="3657600" cy="402336"/>
          </a:xfrm>
          <a:prstGeom prst="rect">
            <a:avLst/>
          </a:prstGeom>
          <a:solidFill>
            <a:srgbClr val="1E2A3E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58384" y="2183560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</a:rPr>
              <a:t>빠름 (&lt; 1초) ✅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82880" y="2585896"/>
            <a:ext cx="1920240" cy="402336"/>
          </a:xfrm>
          <a:prstGeom prst="rect">
            <a:avLst/>
          </a:prstGeom>
          <a:solidFill>
            <a:srgbClr val="1E2A3E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7744" y="2585896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</a:rPr>
              <a:t>HTTP 계층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03120" y="2585896"/>
            <a:ext cx="3200400" cy="402336"/>
          </a:xfrm>
          <a:prstGeom prst="rect">
            <a:avLst/>
          </a:prstGeom>
          <a:solidFill>
            <a:srgbClr val="253047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57984" y="2585896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실제 네트워크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03520" y="2585896"/>
            <a:ext cx="3657600" cy="402336"/>
          </a:xfrm>
          <a:prstGeom prst="rect">
            <a:avLst/>
          </a:prstGeom>
          <a:solidFill>
            <a:srgbClr val="253047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58384" y="258589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</a:rPr>
              <a:t>MockMvc 가상 처리 ✅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82880" y="2988232"/>
            <a:ext cx="1920240" cy="402336"/>
          </a:xfrm>
          <a:prstGeom prst="rect">
            <a:avLst/>
          </a:prstGeom>
          <a:solidFill>
            <a:srgbClr val="1E2A3E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7744" y="2988232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</a:rPr>
              <a:t>Service 레이어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103120" y="2988232"/>
            <a:ext cx="3200400" cy="402336"/>
          </a:xfrm>
          <a:prstGeom prst="rect">
            <a:avLst/>
          </a:prstGeom>
          <a:solidFill>
            <a:srgbClr val="1E2A3E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57984" y="2988232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실제 Bean 사용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303520" y="2988232"/>
            <a:ext cx="3657600" cy="402336"/>
          </a:xfrm>
          <a:prstGeom prst="rect">
            <a:avLst/>
          </a:prstGeom>
          <a:solidFill>
            <a:srgbClr val="1E2A3E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58384" y="2988232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</a:rPr>
              <a:t>Mock 객체 (@Mock) ✅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82880" y="3390568"/>
            <a:ext cx="1920240" cy="402336"/>
          </a:xfrm>
          <a:prstGeom prst="rect">
            <a:avLst/>
          </a:prstGeom>
          <a:solidFill>
            <a:srgbClr val="1E2A3E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3390568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</a:rPr>
              <a:t>어노테이션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103120" y="3390568"/>
            <a:ext cx="3200400" cy="402336"/>
          </a:xfrm>
          <a:prstGeom prst="rect">
            <a:avLst/>
          </a:prstGeom>
          <a:solidFill>
            <a:srgbClr val="253047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57984" y="3390568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@SpringBootTest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303520" y="3390568"/>
            <a:ext cx="3657600" cy="402336"/>
          </a:xfrm>
          <a:prstGeom prst="rect">
            <a:avLst/>
          </a:prstGeom>
          <a:solidFill>
            <a:srgbClr val="253047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58384" y="3390568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</a:rPr>
              <a:t>@ExtendWith(MockitoExtension) ✅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82880" y="3792904"/>
            <a:ext cx="1920240" cy="402336"/>
          </a:xfrm>
          <a:prstGeom prst="rect">
            <a:avLst/>
          </a:prstGeom>
          <a:solidFill>
            <a:srgbClr val="1E2A3E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7744" y="379290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</a:rPr>
              <a:t>테스트 범위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103120" y="3792904"/>
            <a:ext cx="3200400" cy="402336"/>
          </a:xfrm>
          <a:prstGeom prst="rect">
            <a:avLst/>
          </a:prstGeom>
          <a:solidFill>
            <a:srgbClr val="1E2A3E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57984" y="3792904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시스템 전체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303520" y="3792904"/>
            <a:ext cx="3657600" cy="402336"/>
          </a:xfrm>
          <a:prstGeom prst="rect">
            <a:avLst/>
          </a:prstGeom>
          <a:solidFill>
            <a:srgbClr val="1E2A3E"/>
          </a:solidFill>
          <a:ln w="3810">
            <a:solidFill>
              <a:srgbClr val="2E3F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58384" y="3792904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</a:rPr>
              <a:t>컨트롤러 단독 격리 ✅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82880" y="4663440"/>
            <a:ext cx="8778240" cy="320040"/>
          </a:xfrm>
          <a:prstGeom prst="roundRect">
            <a:avLst>
              <a:gd name="adj" fmla="val 11429"/>
            </a:avLst>
          </a:prstGeom>
          <a:solidFill>
            <a:srgbClr val="253047"/>
          </a:solidFill>
          <a:ln w="12700">
            <a:solidFill>
              <a:srgbClr val="9D97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2608" y="4663440"/>
            <a:ext cx="8558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97FF"/>
                </a:solidFill>
              </a:rPr>
              <a:t>🎯  단위 테스트는 빠른 피드백을 통해 개발 생산성을 높이고 코드 품질을 지속적으로 유지합니다.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2952</Words>
  <Application>Microsoft Office PowerPoint</Application>
  <PresentationFormat>화면 슬라이드 쇼(16:9)</PresentationFormat>
  <Paragraphs>615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단위 테스트 완전 정복</dc:title>
  <dc:subject>PptxGenJS Presentation</dc:subject>
  <dc:creator>PptxGenJS</dc:creator>
  <cp:lastModifiedBy>user</cp:lastModifiedBy>
  <cp:revision>24</cp:revision>
  <dcterms:created xsi:type="dcterms:W3CDTF">2026-04-20T23:51:42Z</dcterms:created>
  <dcterms:modified xsi:type="dcterms:W3CDTF">2026-04-22T02:23:54Z</dcterms:modified>
</cp:coreProperties>
</file>