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81" r:id="rId4"/>
    <p:sldId id="285" r:id="rId5"/>
    <p:sldId id="260" r:id="rId6"/>
    <p:sldId id="261" r:id="rId7"/>
    <p:sldId id="262" r:id="rId8"/>
    <p:sldId id="263" r:id="rId9"/>
    <p:sldId id="286" r:id="rId10"/>
    <p:sldId id="287" r:id="rId11"/>
    <p:sldId id="265" r:id="rId12"/>
    <p:sldId id="266" r:id="rId13"/>
    <p:sldId id="267" r:id="rId14"/>
    <p:sldId id="284" r:id="rId15"/>
    <p:sldId id="268" r:id="rId16"/>
    <p:sldId id="269" r:id="rId17"/>
    <p:sldId id="271" r:id="rId18"/>
    <p:sldId id="272" r:id="rId19"/>
    <p:sldId id="273" r:id="rId20"/>
    <p:sldId id="274" r:id="rId21"/>
    <p:sldId id="28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1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76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30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87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4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47472" y="2450592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6334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전통적인 DAO 방식과 문제점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" y="29809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Spring Data JPA &amp; Repository 인터페이스 계층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" y="3328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CrudRepository / PagingAndSortingRepository / JpaRepository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" y="3675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Query Method — 메서드 이름으로 자동 쿼리 생성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@Query 어노테이션 (JPQL / </a:t>
            </a:r>
            <a:r>
              <a:rPr lang="en-US" sz="125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84048" y="46451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4.0.6  /  Spring Data JPA 4.x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4663440"/>
            <a:ext cx="2468880" cy="329184"/>
          </a:xfrm>
          <a:prstGeom prst="roundRect">
            <a:avLst>
              <a:gd name="adj" fmla="val 13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92240" y="4663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github.com/stelladream/hello-spring-data-jpa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Access</a:t>
            </a:r>
            <a:endParaRPr lang="en-US" sz="2700" dirty="0"/>
          </a:p>
        </p:txBody>
      </p:sp>
      <p:sp>
        <p:nvSpPr>
          <p:cNvPr id="60" name="Shape 2"/>
          <p:cNvSpPr/>
          <p:nvPr/>
        </p:nvSpPr>
        <p:spPr>
          <a:xfrm>
            <a:off x="1390205" y="2228706"/>
            <a:ext cx="2103120" cy="1042416"/>
          </a:xfrm>
          <a:prstGeom prst="roundRect">
            <a:avLst>
              <a:gd name="adj" fmla="val 10526"/>
            </a:avLst>
          </a:prstGeom>
          <a:ln w="25400">
            <a:solidFill>
              <a:srgbClr val="43A047"/>
            </a:solidFill>
            <a:prstDash val="lgDash"/>
          </a:ln>
        </p:spPr>
      </p:sp>
      <p:sp>
        <p:nvSpPr>
          <p:cNvPr id="61" name="Shape 3"/>
          <p:cNvSpPr/>
          <p:nvPr/>
        </p:nvSpPr>
        <p:spPr>
          <a:xfrm>
            <a:off x="1490263" y="842928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1E88E5"/>
          </a:solidFill>
          <a:ln w="20320">
            <a:solidFill>
              <a:srgbClr val="1565C0"/>
            </a:solidFill>
            <a:prstDash val="solid"/>
          </a:ln>
        </p:spPr>
      </p:sp>
      <p:sp>
        <p:nvSpPr>
          <p:cNvPr id="62" name="Text 4"/>
          <p:cNvSpPr/>
          <p:nvPr/>
        </p:nvSpPr>
        <p:spPr>
          <a:xfrm>
            <a:off x="1490263" y="84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63" name="Shape 5"/>
          <p:cNvSpPr/>
          <p:nvPr/>
        </p:nvSpPr>
        <p:spPr>
          <a:xfrm>
            <a:off x="1901743" y="1245264"/>
            <a:ext cx="0" cy="310896"/>
          </a:xfrm>
          <a:prstGeom prst="line">
            <a:avLst/>
          </a:prstGeom>
          <a:noFill/>
          <a:ln w="30480">
            <a:solidFill>
              <a:srgbClr val="2E7D32"/>
            </a:solidFill>
            <a:prstDash val="solid"/>
            <a:tailEnd type="arrow"/>
          </a:ln>
        </p:spPr>
      </p:sp>
      <p:sp>
        <p:nvSpPr>
          <p:cNvPr id="65" name="Shape 7"/>
          <p:cNvSpPr/>
          <p:nvPr/>
        </p:nvSpPr>
        <p:spPr>
          <a:xfrm>
            <a:off x="2980735" y="1276166"/>
            <a:ext cx="0" cy="1071412"/>
          </a:xfrm>
          <a:prstGeom prst="line">
            <a:avLst/>
          </a:prstGeom>
          <a:noFill/>
          <a:ln w="30480">
            <a:solidFill>
              <a:srgbClr val="C62828"/>
            </a:solidFill>
            <a:prstDash val="solid"/>
            <a:tailEnd type="arrow"/>
          </a:ln>
        </p:spPr>
      </p:sp>
      <p:sp>
        <p:nvSpPr>
          <p:cNvPr id="67" name="Text 9"/>
          <p:cNvSpPr/>
          <p:nvPr/>
        </p:nvSpPr>
        <p:spPr>
          <a:xfrm>
            <a:off x="677448" y="116296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250" dirty="0"/>
          </a:p>
        </p:txBody>
      </p:sp>
      <p:sp>
        <p:nvSpPr>
          <p:cNvPr id="69" name="Shape 12"/>
          <p:cNvSpPr/>
          <p:nvPr/>
        </p:nvSpPr>
        <p:spPr>
          <a:xfrm>
            <a:off x="1490263" y="1556160"/>
            <a:ext cx="1248156" cy="402336"/>
          </a:xfrm>
          <a:prstGeom prst="roundRect">
            <a:avLst>
              <a:gd name="adj" fmla="val 15909"/>
            </a:avLst>
          </a:prstGeom>
          <a:solidFill>
            <a:srgbClr val="43A047"/>
          </a:solidFill>
          <a:ln w="20320">
            <a:solidFill>
              <a:srgbClr val="2E7D32"/>
            </a:solidFill>
            <a:prstDash val="solid"/>
          </a:ln>
        </p:spPr>
      </p:sp>
      <p:sp>
        <p:nvSpPr>
          <p:cNvPr id="70" name="Text 13"/>
          <p:cNvSpPr/>
          <p:nvPr/>
        </p:nvSpPr>
        <p:spPr>
          <a:xfrm>
            <a:off x="1490263" y="1556160"/>
            <a:ext cx="12481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(Repository)</a:t>
            </a:r>
            <a:endParaRPr lang="en-US" sz="1250" dirty="0"/>
          </a:p>
        </p:txBody>
      </p:sp>
      <p:sp>
        <p:nvSpPr>
          <p:cNvPr id="71" name="Shape 14"/>
          <p:cNvSpPr/>
          <p:nvPr/>
        </p:nvSpPr>
        <p:spPr>
          <a:xfrm>
            <a:off x="1490263" y="2347578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E53935"/>
          </a:solidFill>
          <a:ln w="20320">
            <a:solidFill>
              <a:srgbClr val="B71C1C"/>
            </a:solidFill>
            <a:prstDash val="solid"/>
          </a:ln>
        </p:spPr>
      </p:sp>
      <p:sp>
        <p:nvSpPr>
          <p:cNvPr id="72" name="Text 15"/>
          <p:cNvSpPr/>
          <p:nvPr/>
        </p:nvSpPr>
        <p:spPr>
          <a:xfrm>
            <a:off x="1490263" y="234757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1500" dirty="0"/>
          </a:p>
        </p:txBody>
      </p:sp>
      <p:sp>
        <p:nvSpPr>
          <p:cNvPr id="75" name="Shape 18"/>
          <p:cNvSpPr/>
          <p:nvPr/>
        </p:nvSpPr>
        <p:spPr>
          <a:xfrm>
            <a:off x="1490263" y="2798473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A1701A"/>
          </a:solidFill>
          <a:ln w="20320">
            <a:solidFill>
              <a:srgbClr val="6D4C14"/>
            </a:solidFill>
            <a:prstDash val="solid"/>
          </a:ln>
        </p:spPr>
      </p:sp>
      <p:sp>
        <p:nvSpPr>
          <p:cNvPr id="76" name="Text 19"/>
          <p:cNvSpPr/>
          <p:nvPr/>
        </p:nvSpPr>
        <p:spPr>
          <a:xfrm>
            <a:off x="1490263" y="2798473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500" dirty="0"/>
          </a:p>
        </p:txBody>
      </p:sp>
      <p:sp>
        <p:nvSpPr>
          <p:cNvPr id="79" name="Shape 22"/>
          <p:cNvSpPr/>
          <p:nvPr/>
        </p:nvSpPr>
        <p:spPr>
          <a:xfrm>
            <a:off x="1527365" y="3501201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42A5F5"/>
          </a:solidFill>
          <a:ln w="20320">
            <a:solidFill>
              <a:srgbClr val="1565C0"/>
            </a:solidFill>
            <a:prstDash val="solid"/>
          </a:ln>
        </p:spPr>
      </p:sp>
      <p:sp>
        <p:nvSpPr>
          <p:cNvPr id="80" name="Text 23"/>
          <p:cNvSpPr/>
          <p:nvPr/>
        </p:nvSpPr>
        <p:spPr>
          <a:xfrm>
            <a:off x="1527365" y="3501201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500" dirty="0"/>
          </a:p>
        </p:txBody>
      </p:sp>
      <p:sp>
        <p:nvSpPr>
          <p:cNvPr id="81" name="Shape 24"/>
          <p:cNvSpPr/>
          <p:nvPr/>
        </p:nvSpPr>
        <p:spPr>
          <a:xfrm>
            <a:off x="2441765" y="3912371"/>
            <a:ext cx="0" cy="279994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  <a:tailEnd type="arrow"/>
          </a:ln>
        </p:spPr>
      </p:sp>
      <p:sp>
        <p:nvSpPr>
          <p:cNvPr id="83" name="Shape 26"/>
          <p:cNvSpPr/>
          <p:nvPr/>
        </p:nvSpPr>
        <p:spPr>
          <a:xfrm>
            <a:off x="1874837" y="4262361"/>
            <a:ext cx="1225296" cy="530352"/>
          </a:xfrm>
          <a:prstGeom prst="rect">
            <a:avLst/>
          </a:prstGeom>
          <a:solidFill>
            <a:srgbClr val="29B6F6"/>
          </a:solidFill>
          <a:ln w="17780">
            <a:solidFill>
              <a:srgbClr val="0277BD"/>
            </a:solidFill>
            <a:prstDash val="solid"/>
          </a:ln>
        </p:spPr>
      </p:sp>
      <p:sp>
        <p:nvSpPr>
          <p:cNvPr id="84" name="Shape 27"/>
          <p:cNvSpPr/>
          <p:nvPr/>
        </p:nvSpPr>
        <p:spPr>
          <a:xfrm>
            <a:off x="1874837" y="4701273"/>
            <a:ext cx="1225296" cy="182880"/>
          </a:xfrm>
          <a:prstGeom prst="ellipse">
            <a:avLst/>
          </a:prstGeom>
          <a:solidFill>
            <a:srgbClr val="29B6F6"/>
          </a:solidFill>
          <a:ln w="17780">
            <a:solidFill>
              <a:srgbClr val="0277BD"/>
            </a:solidFill>
            <a:prstDash val="solid"/>
          </a:ln>
        </p:spPr>
      </p:sp>
      <p:sp>
        <p:nvSpPr>
          <p:cNvPr id="85" name="Shape 28"/>
          <p:cNvSpPr/>
          <p:nvPr/>
        </p:nvSpPr>
        <p:spPr>
          <a:xfrm>
            <a:off x="1874837" y="4152631"/>
            <a:ext cx="1225296" cy="182880"/>
          </a:xfrm>
          <a:prstGeom prst="ellipse">
            <a:avLst/>
          </a:prstGeom>
          <a:solidFill>
            <a:srgbClr val="64B5F6"/>
          </a:solidFill>
          <a:ln w="17780">
            <a:solidFill>
              <a:srgbClr val="0277BD"/>
            </a:solidFill>
            <a:prstDash val="solid"/>
          </a:ln>
        </p:spPr>
      </p:sp>
      <p:sp>
        <p:nvSpPr>
          <p:cNvPr id="86" name="Text 29"/>
          <p:cNvSpPr/>
          <p:nvPr/>
        </p:nvSpPr>
        <p:spPr>
          <a:xfrm>
            <a:off x="1874837" y="4353801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1" name="Shape 24"/>
          <p:cNvSpPr/>
          <p:nvPr/>
        </p:nvSpPr>
        <p:spPr>
          <a:xfrm>
            <a:off x="2441765" y="3221207"/>
            <a:ext cx="0" cy="279994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  <a:tailEnd type="arrow"/>
          </a:ln>
        </p:spPr>
      </p:sp>
      <p:sp>
        <p:nvSpPr>
          <p:cNvPr id="92" name="Text 9"/>
          <p:cNvSpPr/>
          <p:nvPr/>
        </p:nvSpPr>
        <p:spPr>
          <a:xfrm>
            <a:off x="2999549" y="1523139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 smtClean="0">
                <a:solidFill>
                  <a:srgbClr val="2E7D32"/>
                </a:solidFill>
                <a:latin typeface="Calibri" pitchFamily="34" charset="0"/>
                <a:cs typeface="Calibri" pitchFamily="34" charset="-120"/>
              </a:rPr>
              <a:t>EntityManager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250" dirty="0"/>
          </a:p>
        </p:txBody>
      </p:sp>
      <p:sp>
        <p:nvSpPr>
          <p:cNvPr id="93" name="Shape 24"/>
          <p:cNvSpPr/>
          <p:nvPr/>
        </p:nvSpPr>
        <p:spPr>
          <a:xfrm>
            <a:off x="1874837" y="1957231"/>
            <a:ext cx="0" cy="279994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  <a:tailEnd type="arrow"/>
          </a:ln>
        </p:spPr>
      </p:sp>
      <p:sp>
        <p:nvSpPr>
          <p:cNvPr id="94" name="Shape 30"/>
          <p:cNvSpPr/>
          <p:nvPr/>
        </p:nvSpPr>
        <p:spPr>
          <a:xfrm>
            <a:off x="4544885" y="1428454"/>
            <a:ext cx="4023360" cy="692106"/>
          </a:xfrm>
          <a:prstGeom prst="roundRect">
            <a:avLst>
              <a:gd name="adj" fmla="val 9677"/>
            </a:avLst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5" name="Shape 31"/>
          <p:cNvSpPr/>
          <p:nvPr/>
        </p:nvSpPr>
        <p:spPr>
          <a:xfrm>
            <a:off x="4469205" y="1428454"/>
            <a:ext cx="64008" cy="692106"/>
          </a:xfrm>
          <a:prstGeom prst="roundRect">
            <a:avLst>
              <a:gd name="adj" fmla="val 57143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6" name="Text 32"/>
          <p:cNvSpPr/>
          <p:nvPr/>
        </p:nvSpPr>
        <p:spPr>
          <a:xfrm>
            <a:off x="4691189" y="1491305"/>
            <a:ext cx="3822192" cy="267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(Repository)</a:t>
            </a:r>
            <a:endParaRPr lang="en-US" sz="1150" dirty="0"/>
          </a:p>
        </p:txBody>
      </p:sp>
      <p:sp>
        <p:nvSpPr>
          <p:cNvPr id="97" name="Text 33"/>
          <p:cNvSpPr/>
          <p:nvPr/>
        </p:nvSpPr>
        <p:spPr>
          <a:xfrm>
            <a:off x="4691189" y="1710627"/>
            <a:ext cx="3822192" cy="334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인터페이스 선언만으로 CRUD 구현체 자동 생성</a:t>
            </a:r>
            <a:endParaRPr lang="en-US" sz="1000" dirty="0"/>
          </a:p>
          <a:p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</a:t>
            </a:r>
            <a:r>
              <a:rPr lang="en-US" sz="100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ko-KR" altLang="en-US" sz="100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</a:t>
            </a:r>
            <a:r>
              <a:rPr lang="en-US" sz="100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권장 방식</a:t>
            </a:r>
            <a:endParaRPr lang="en-US" sz="1000" dirty="0"/>
          </a:p>
        </p:txBody>
      </p:sp>
      <p:sp>
        <p:nvSpPr>
          <p:cNvPr id="98" name="Shape 35"/>
          <p:cNvSpPr/>
          <p:nvPr/>
        </p:nvSpPr>
        <p:spPr>
          <a:xfrm>
            <a:off x="4544885" y="2108578"/>
            <a:ext cx="4023360" cy="633140"/>
          </a:xfrm>
          <a:prstGeom prst="roundRect">
            <a:avLst>
              <a:gd name="adj" fmla="val 9677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9" name="Shape 36"/>
          <p:cNvSpPr/>
          <p:nvPr/>
        </p:nvSpPr>
        <p:spPr>
          <a:xfrm>
            <a:off x="4469205" y="2108578"/>
            <a:ext cx="64008" cy="633140"/>
          </a:xfrm>
          <a:prstGeom prst="roundRect">
            <a:avLst>
              <a:gd name="adj" fmla="val 571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0" name="Text 37"/>
          <p:cNvSpPr/>
          <p:nvPr/>
        </p:nvSpPr>
        <p:spPr>
          <a:xfrm>
            <a:off x="4691189" y="2185736"/>
            <a:ext cx="3822192" cy="24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 (Java Persistence API)</a:t>
            </a:r>
            <a:endParaRPr lang="en-US" sz="1150" dirty="0"/>
          </a:p>
        </p:txBody>
      </p:sp>
      <p:sp>
        <p:nvSpPr>
          <p:cNvPr id="101" name="Text 38"/>
          <p:cNvSpPr/>
          <p:nvPr/>
        </p:nvSpPr>
        <p:spPr>
          <a:xfrm>
            <a:off x="4691189" y="2466471"/>
            <a:ext cx="3822192" cy="195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표준 ORM 명세 / </a:t>
            </a:r>
            <a:r>
              <a:rPr lang="en-US" sz="1000" dirty="0" err="1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EntityManager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000" dirty="0"/>
          </a:p>
        </p:txBody>
      </p:sp>
      <p:sp>
        <p:nvSpPr>
          <p:cNvPr id="102" name="Shape 40"/>
          <p:cNvSpPr/>
          <p:nvPr/>
        </p:nvSpPr>
        <p:spPr>
          <a:xfrm>
            <a:off x="4544885" y="2758110"/>
            <a:ext cx="4023360" cy="646810"/>
          </a:xfrm>
          <a:prstGeom prst="roundRect">
            <a:avLst>
              <a:gd name="adj" fmla="val 9677"/>
            </a:avLst>
          </a:prstGeom>
          <a:solidFill>
            <a:srgbClr val="FFF8E1"/>
          </a:solidFill>
          <a:ln w="12700">
            <a:solidFill>
              <a:srgbClr val="A1701A"/>
            </a:solidFill>
            <a:prstDash val="solid"/>
          </a:ln>
        </p:spPr>
      </p:sp>
      <p:sp>
        <p:nvSpPr>
          <p:cNvPr id="103" name="Shape 41"/>
          <p:cNvSpPr/>
          <p:nvPr/>
        </p:nvSpPr>
        <p:spPr>
          <a:xfrm>
            <a:off x="4469205" y="2758110"/>
            <a:ext cx="64008" cy="646810"/>
          </a:xfrm>
          <a:prstGeom prst="roundRect">
            <a:avLst>
              <a:gd name="adj" fmla="val 57143"/>
            </a:avLst>
          </a:prstGeom>
          <a:solidFill>
            <a:srgbClr val="A1701A"/>
          </a:solidFill>
          <a:ln w="12700">
            <a:solidFill>
              <a:srgbClr val="A1701A"/>
            </a:solidFill>
            <a:prstDash val="solid"/>
          </a:ln>
        </p:spPr>
      </p:sp>
      <p:sp>
        <p:nvSpPr>
          <p:cNvPr id="104" name="Text 42"/>
          <p:cNvSpPr/>
          <p:nvPr/>
        </p:nvSpPr>
        <p:spPr>
          <a:xfrm>
            <a:off x="4691189" y="2794686"/>
            <a:ext cx="3822192" cy="250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1150" dirty="0"/>
          </a:p>
        </p:txBody>
      </p:sp>
      <p:sp>
        <p:nvSpPr>
          <p:cNvPr id="105" name="Text 43"/>
          <p:cNvSpPr/>
          <p:nvPr/>
        </p:nvSpPr>
        <p:spPr>
          <a:xfrm>
            <a:off x="4691189" y="2988287"/>
            <a:ext cx="3822192" cy="31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구현체 (ORM 엔진) — SQL 자동 생성 및 실행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현재 가장 널리 사용되는 JPA 구현체</a:t>
            </a:r>
            <a:endParaRPr lang="en-US" sz="1000" dirty="0"/>
          </a:p>
        </p:txBody>
      </p:sp>
      <p:sp>
        <p:nvSpPr>
          <p:cNvPr id="106" name="Shape 45"/>
          <p:cNvSpPr/>
          <p:nvPr/>
        </p:nvSpPr>
        <p:spPr>
          <a:xfrm>
            <a:off x="4544885" y="3429714"/>
            <a:ext cx="4023360" cy="650399"/>
          </a:xfrm>
          <a:prstGeom prst="roundRect">
            <a:avLst>
              <a:gd name="adj" fmla="val 9677"/>
            </a:avLst>
          </a:prstGeom>
          <a:solidFill>
            <a:srgbClr val="EFF8FF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7" name="Shape 46"/>
          <p:cNvSpPr/>
          <p:nvPr/>
        </p:nvSpPr>
        <p:spPr>
          <a:xfrm>
            <a:off x="4469205" y="3429714"/>
            <a:ext cx="64008" cy="650399"/>
          </a:xfrm>
          <a:prstGeom prst="roundRect">
            <a:avLst>
              <a:gd name="adj" fmla="val 57143"/>
            </a:avLst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8" name="Text 47"/>
          <p:cNvSpPr/>
          <p:nvPr/>
        </p:nvSpPr>
        <p:spPr>
          <a:xfrm>
            <a:off x="4691189" y="3466290"/>
            <a:ext cx="3822192" cy="25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150" dirty="0"/>
          </a:p>
        </p:txBody>
      </p:sp>
      <p:sp>
        <p:nvSpPr>
          <p:cNvPr id="109" name="Text 48"/>
          <p:cNvSpPr/>
          <p:nvPr/>
        </p:nvSpPr>
        <p:spPr>
          <a:xfrm>
            <a:off x="4691189" y="3704034"/>
            <a:ext cx="3822192" cy="31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Database Connectivity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모든 DB 연결의 최하위 표준 인터페이스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Access — 전통적인 DAO 방식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4267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JPA/Hibernate를 직접 사용하는 DAO 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120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애플리케이션</a:t>
            </a:r>
            <a:r>
              <a:rPr lang="en-US" sz="11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516008"/>
            <a:ext cx="374904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1600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(웹 요청 처리)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48840" y="2046360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74376"/>
            <a:ext cx="3749040" cy="530352"/>
          </a:xfrm>
          <a:prstGeom prst="rect">
            <a:avLst/>
          </a:prstGeom>
          <a:solidFill>
            <a:srgbClr val="F0FDF4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7437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(비즈니스 로직)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48840" y="2704728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832744"/>
            <a:ext cx="3749040" cy="530352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274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 (데이터 접근 객체)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48840" y="3363096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491112"/>
            <a:ext cx="3749040" cy="530352"/>
          </a:xfrm>
          <a:prstGeom prst="rect">
            <a:avLst/>
          </a:prstGeom>
          <a:solidFill>
            <a:srgbClr val="FEE2E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911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 (ORM)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48840" y="4021464"/>
            <a:ext cx="0" cy="12801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149480"/>
            <a:ext cx="3749040" cy="530352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494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(MySQL / H2 등)</a:t>
            </a:r>
            <a:endParaRPr lang="en-US" sz="1250" dirty="0"/>
          </a:p>
        </p:txBody>
      </p:sp>
      <p:sp>
        <p:nvSpPr>
          <p:cNvPr id="32" name="Shape 17"/>
          <p:cNvSpPr/>
          <p:nvPr/>
        </p:nvSpPr>
        <p:spPr>
          <a:xfrm>
            <a:off x="4114800" y="797736"/>
            <a:ext cx="4535424" cy="4320540"/>
          </a:xfrm>
          <a:prstGeom prst="roundRect">
            <a:avLst>
              <a:gd name="adj" fmla="val 1732"/>
            </a:avLst>
          </a:prstGeom>
          <a:solidFill>
            <a:srgbClr val="1B2333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3" name="Shape 18"/>
          <p:cNvSpPr/>
          <p:nvPr/>
        </p:nvSpPr>
        <p:spPr>
          <a:xfrm>
            <a:off x="4114800" y="797736"/>
            <a:ext cx="4535424" cy="274320"/>
          </a:xfrm>
          <a:prstGeom prst="roundRect">
            <a:avLst>
              <a:gd name="adj" fmla="val 26667"/>
            </a:avLst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</p:spPr>
      </p:sp>
      <p:sp>
        <p:nvSpPr>
          <p:cNvPr id="34" name="Shape 19"/>
          <p:cNvSpPr/>
          <p:nvPr/>
        </p:nvSpPr>
        <p:spPr>
          <a:xfrm>
            <a:off x="4114800" y="934896"/>
            <a:ext cx="4535424" cy="137160"/>
          </a:xfrm>
          <a:prstGeom prst="rect">
            <a:avLst/>
          </a:prstGeom>
          <a:solidFill>
            <a:srgbClr val="111927"/>
          </a:solidFill>
          <a:ln w="12700">
            <a:solidFill>
              <a:srgbClr val="111927"/>
            </a:solidFill>
            <a:prstDash val="solid"/>
          </a:ln>
        </p:spPr>
      </p:sp>
      <p:sp>
        <p:nvSpPr>
          <p:cNvPr id="35" name="Text 20"/>
          <p:cNvSpPr/>
          <p:nvPr/>
        </p:nvSpPr>
        <p:spPr>
          <a:xfrm>
            <a:off x="4206240" y="79773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ProductDao.java  (전통 DAO 방식)</a:t>
            </a:r>
            <a:endParaRPr lang="en-US" sz="900" dirty="0"/>
          </a:p>
        </p:txBody>
      </p:sp>
      <p:sp>
        <p:nvSpPr>
          <p:cNvPr id="36" name="Text 21"/>
          <p:cNvSpPr/>
          <p:nvPr/>
        </p:nvSpPr>
        <p:spPr>
          <a:xfrm>
            <a:off x="4242816" y="1108632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900" dirty="0"/>
          </a:p>
        </p:txBody>
      </p:sp>
      <p:sp>
        <p:nvSpPr>
          <p:cNvPr id="37" name="Text 22"/>
          <p:cNvSpPr/>
          <p:nvPr/>
        </p:nvSpPr>
        <p:spPr>
          <a:xfrm>
            <a:off x="4242816" y="1243963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900" dirty="0"/>
          </a:p>
        </p:txBody>
      </p:sp>
      <p:sp>
        <p:nvSpPr>
          <p:cNvPr id="38" name="Text 23"/>
          <p:cNvSpPr/>
          <p:nvPr/>
        </p:nvSpPr>
        <p:spPr>
          <a:xfrm>
            <a:off x="4242816" y="1379294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ProductDao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</p:txBody>
      </p:sp>
      <p:sp>
        <p:nvSpPr>
          <p:cNvPr id="39" name="Text 24"/>
          <p:cNvSpPr/>
          <p:nvPr/>
        </p:nvSpPr>
        <p:spPr>
          <a:xfrm>
            <a:off x="4242816" y="1514626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@PersistenceContext</a:t>
            </a:r>
            <a:endParaRPr lang="en-US" sz="900" dirty="0"/>
          </a:p>
        </p:txBody>
      </p:sp>
      <p:sp>
        <p:nvSpPr>
          <p:cNvPr id="40" name="Text 25"/>
          <p:cNvSpPr/>
          <p:nvPr/>
        </p:nvSpPr>
        <p:spPr>
          <a:xfrm>
            <a:off x="4242816" y="1649957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 entityManager;</a:t>
            </a:r>
            <a:endParaRPr lang="en-US" sz="900" dirty="0"/>
          </a:p>
        </p:txBody>
      </p:sp>
      <p:sp>
        <p:nvSpPr>
          <p:cNvPr id="41" name="Text 26"/>
          <p:cNvSpPr/>
          <p:nvPr/>
        </p:nvSpPr>
        <p:spPr>
          <a:xfrm>
            <a:off x="4242816" y="1785288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2" name="Text 27"/>
          <p:cNvSpPr/>
          <p:nvPr/>
        </p:nvSpPr>
        <p:spPr>
          <a:xfrm>
            <a:off x="4242816" y="1920619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 — Create</a:t>
            </a:r>
            <a:endParaRPr lang="en-US" sz="900" dirty="0"/>
          </a:p>
        </p:txBody>
      </p:sp>
      <p:sp>
        <p:nvSpPr>
          <p:cNvPr id="43" name="Text 28"/>
          <p:cNvSpPr/>
          <p:nvPr/>
        </p:nvSpPr>
        <p:spPr>
          <a:xfrm>
            <a:off x="4242816" y="2055950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 p) {</a:t>
            </a:r>
            <a:endParaRPr lang="en-US" sz="900" dirty="0"/>
          </a:p>
        </p:txBody>
      </p:sp>
      <p:sp>
        <p:nvSpPr>
          <p:cNvPr id="44" name="Text 29"/>
          <p:cNvSpPr/>
          <p:nvPr/>
        </p:nvSpPr>
        <p:spPr>
          <a:xfrm>
            <a:off x="4242816" y="2191282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entityManager.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(p);</a:t>
            </a:r>
            <a:endParaRPr lang="en-US" sz="900" dirty="0"/>
          </a:p>
        </p:txBody>
      </p:sp>
      <p:sp>
        <p:nvSpPr>
          <p:cNvPr id="45" name="Text 30"/>
          <p:cNvSpPr/>
          <p:nvPr/>
        </p:nvSpPr>
        <p:spPr>
          <a:xfrm>
            <a:off x="4242816" y="2326613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p;</a:t>
            </a:r>
            <a:endParaRPr lang="en-US" sz="900" dirty="0"/>
          </a:p>
        </p:txBody>
      </p:sp>
      <p:sp>
        <p:nvSpPr>
          <p:cNvPr id="46" name="Text 31"/>
          <p:cNvSpPr/>
          <p:nvPr/>
        </p:nvSpPr>
        <p:spPr>
          <a:xfrm>
            <a:off x="4242816" y="2461944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47" name="Text 32"/>
          <p:cNvSpPr/>
          <p:nvPr/>
        </p:nvSpPr>
        <p:spPr>
          <a:xfrm>
            <a:off x="4242816" y="2597275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Text 33"/>
          <p:cNvSpPr/>
          <p:nvPr/>
        </p:nvSpPr>
        <p:spPr>
          <a:xfrm>
            <a:off x="4242816" y="2732606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 — Read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4242816" y="2867938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(Long id) {</a:t>
            </a:r>
            <a:endParaRPr lang="en-US" sz="900" dirty="0"/>
          </a:p>
        </p:txBody>
      </p:sp>
      <p:sp>
        <p:nvSpPr>
          <p:cNvPr id="50" name="Text 35"/>
          <p:cNvSpPr/>
          <p:nvPr/>
        </p:nvSpPr>
        <p:spPr>
          <a:xfrm>
            <a:off x="4242816" y="3003269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entityManager.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</p:txBody>
      </p:sp>
      <p:sp>
        <p:nvSpPr>
          <p:cNvPr id="51" name="Text 36"/>
          <p:cNvSpPr/>
          <p:nvPr/>
        </p:nvSpPr>
        <p:spPr>
          <a:xfrm>
            <a:off x="4242816" y="3138600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.class, id);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4242816" y="3273931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53" name="Text 38"/>
          <p:cNvSpPr/>
          <p:nvPr/>
        </p:nvSpPr>
        <p:spPr>
          <a:xfrm>
            <a:off x="4242816" y="3409262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4" name="Text 39"/>
          <p:cNvSpPr/>
          <p:nvPr/>
        </p:nvSpPr>
        <p:spPr>
          <a:xfrm>
            <a:off x="4242816" y="3544594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 — Update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4242816" y="3679925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updateProduct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 p) {</a:t>
            </a:r>
            <a:endParaRPr lang="en-US" sz="900" dirty="0"/>
          </a:p>
        </p:txBody>
      </p:sp>
      <p:sp>
        <p:nvSpPr>
          <p:cNvPr id="56" name="Text 41"/>
          <p:cNvSpPr/>
          <p:nvPr/>
        </p:nvSpPr>
        <p:spPr>
          <a:xfrm>
            <a:off x="4242816" y="3815256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entityManager.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(p);</a:t>
            </a:r>
            <a:endParaRPr lang="en-US" sz="900" dirty="0"/>
          </a:p>
        </p:txBody>
      </p:sp>
      <p:sp>
        <p:nvSpPr>
          <p:cNvPr id="57" name="Text 42"/>
          <p:cNvSpPr/>
          <p:nvPr/>
        </p:nvSpPr>
        <p:spPr>
          <a:xfrm>
            <a:off x="4242816" y="3950587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58" name="Text 43"/>
          <p:cNvSpPr/>
          <p:nvPr/>
        </p:nvSpPr>
        <p:spPr>
          <a:xfrm>
            <a:off x="4242816" y="4085918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9" name="Text 44"/>
          <p:cNvSpPr/>
          <p:nvPr/>
        </p:nvSpPr>
        <p:spPr>
          <a:xfrm>
            <a:off x="4242816" y="4221250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 — Delete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4242816" y="4356581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(Long id) {</a:t>
            </a:r>
            <a:endParaRPr lang="en-US" sz="900" dirty="0"/>
          </a:p>
        </p:txBody>
      </p:sp>
      <p:sp>
        <p:nvSpPr>
          <p:cNvPr id="61" name="Text 46"/>
          <p:cNvSpPr/>
          <p:nvPr/>
        </p:nvSpPr>
        <p:spPr>
          <a:xfrm>
            <a:off x="4242816" y="4491912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 p = 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findProduct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(id);</a:t>
            </a:r>
            <a:endParaRPr lang="en-US" sz="900" dirty="0"/>
          </a:p>
        </p:txBody>
      </p:sp>
      <p:sp>
        <p:nvSpPr>
          <p:cNvPr id="62" name="Text 47"/>
          <p:cNvSpPr/>
          <p:nvPr/>
        </p:nvSpPr>
        <p:spPr>
          <a:xfrm>
            <a:off x="4242816" y="4627243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 != null) entityManager.</a:t>
            </a:r>
            <a:r>
              <a:rPr lang="en-US" sz="9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(p);</a:t>
            </a:r>
            <a:endParaRPr lang="en-US" sz="900" dirty="0"/>
          </a:p>
        </p:txBody>
      </p:sp>
      <p:sp>
        <p:nvSpPr>
          <p:cNvPr id="63" name="Text 48"/>
          <p:cNvSpPr/>
          <p:nvPr/>
        </p:nvSpPr>
        <p:spPr>
          <a:xfrm>
            <a:off x="4242816" y="4762574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64" name="Text 49"/>
          <p:cNvSpPr/>
          <p:nvPr/>
        </p:nvSpPr>
        <p:spPr>
          <a:xfrm>
            <a:off x="4242816" y="4897906"/>
            <a:ext cx="4224528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8741664" y="1959024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6" name="Text 51"/>
          <p:cNvSpPr/>
          <p:nvPr/>
        </p:nvSpPr>
        <p:spPr>
          <a:xfrm>
            <a:off x="8741664" y="1959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7" name="Shape 52"/>
          <p:cNvSpPr/>
          <p:nvPr/>
        </p:nvSpPr>
        <p:spPr>
          <a:xfrm>
            <a:off x="8741664" y="2771011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8741664" y="277101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69" name="Shape 54"/>
          <p:cNvSpPr/>
          <p:nvPr/>
        </p:nvSpPr>
        <p:spPr>
          <a:xfrm>
            <a:off x="8741664" y="3582998"/>
            <a:ext cx="329184" cy="32918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8741664" y="35829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71" name="Shape 56"/>
          <p:cNvSpPr/>
          <p:nvPr/>
        </p:nvSpPr>
        <p:spPr>
          <a:xfrm>
            <a:off x="8741664" y="4259654"/>
            <a:ext cx="329184" cy="32918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2" name="Text 57"/>
          <p:cNvSpPr/>
          <p:nvPr/>
        </p:nvSpPr>
        <p:spPr>
          <a:xfrm>
            <a:off x="8741664" y="42596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17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1-1.  The Problem — 반복 코드 문제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84048" y="676656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DAO를 만들었는데 다른 엔티티에도 똑같은 코드가 필요하다면?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ProductDao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432304" y="932688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932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CustomerDao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08576" y="932688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932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StudentDao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84848" y="932688"/>
            <a:ext cx="2011680" cy="475488"/>
          </a:xfrm>
          <a:prstGeom prst="roundRect">
            <a:avLst>
              <a:gd name="adj" fmla="val 1153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9326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BookDao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6032" y="1499616"/>
            <a:ext cx="8595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32918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모두 동일한 패턴!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56032" y="1816188"/>
            <a:ext cx="8595360" cy="3017520"/>
          </a:xfrm>
          <a:prstGeom prst="roundRect">
            <a:avLst>
              <a:gd name="adj" fmla="val 1818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7105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패턴 (엔티티 타입만 다를 뿐, 코드는 완전히 동일)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2145372"/>
            <a:ext cx="4023360" cy="256032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27668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엔티티 타입 →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573834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findProduct(Long id) {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919999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entityManager.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266165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.class,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엔티티 타입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12331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PK 타입(Long)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958497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304662"/>
            <a:ext cx="380390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34840" y="31877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로직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타입만 다름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2145372"/>
            <a:ext cx="3657600" cy="256032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227668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엔티티 타입 →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76088" y="2573834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findCustomer(Long id){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76088" y="2919999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entityManager.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76088" y="3266165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.class,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엔티티 타입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76088" y="3612331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← PK 타입(Long)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76088" y="3958497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76088" y="4304662"/>
            <a:ext cx="3438144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56032" y="4870284"/>
            <a:ext cx="8595360" cy="194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855361"/>
            <a:ext cx="8394192" cy="224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이 패턴을 엔티티마다 반복 작성해야 할까요?  Customer, Student, Book, Order, Review ... 모두?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9990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Spring Data JPA의 아이디어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타입과 PK 타입만 알려주면 CRUD를 자동으로 만들어준다면?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개발자의 바람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384048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08176"/>
            <a:ext cx="36210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"Spring아, 나 </a:t>
            </a:r>
            <a:r>
              <a:rPr lang="en-US" sz="1300" dirty="0" err="1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대신</a:t>
            </a:r>
            <a:r>
              <a:rPr lang="en-US" sz="1300" dirty="0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r>
              <a:rPr lang="en-US" sz="13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만들어줘!
</a:t>
            </a: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타입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과 </a:t>
            </a: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r>
              <a:rPr lang="en-US" sz="1300" b="1" dirty="0" err="1" smtClean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</a:t>
            </a:r>
            <a:r>
              <a:rPr lang="en-US" sz="1300" dirty="0" err="1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</a:t>
            </a:r>
            <a:r>
              <a:rPr lang="en-US" sz="1300" dirty="0" smtClean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알려줄게.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CRUD는 다 줘!"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176227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2926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자동으로 제공되는 메서드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135331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save(entity)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/ 수정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3291840"/>
            <a:ext cx="1353312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findById(id)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PK로 단건 조회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291840"/>
            <a:ext cx="1353312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목록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291840"/>
            <a:ext cx="135331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deleteById(id)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PK로 삭제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135331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건수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3291840"/>
            <a:ext cx="135331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31012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existsById(id)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35240" y="35478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 여부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8595360" cy="105156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050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클래스가 필요 없습니다!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3342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</a:t>
            </a:r>
            <a:r>
              <a:rPr lang="en-US" sz="1300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JPA가</a:t>
            </a: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</a:t>
            </a:r>
            <a:r>
              <a:rPr lang="en-US" sz="1300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구현체를 생성합니다. </a:t>
            </a:r>
            <a:endParaRPr lang="en-US" sz="1300" dirty="0" smtClean="0">
              <a:solidFill>
                <a:srgbClr val="7C3AE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dirty="0" err="1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</a:t>
            </a:r>
            <a:r>
              <a:rPr lang="en-US" sz="1300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선언만으로 완전한 CRUD 기능을 사용할 수 있습니다.</a:t>
            </a:r>
            <a:endParaRPr lang="en-US" sz="1300" dirty="0"/>
          </a:p>
        </p:txBody>
      </p:sp>
      <p:sp>
        <p:nvSpPr>
          <p:cNvPr id="35" name="Shape 7"/>
          <p:cNvSpPr/>
          <p:nvPr/>
        </p:nvSpPr>
        <p:spPr>
          <a:xfrm>
            <a:off x="5010912" y="1303493"/>
            <a:ext cx="3877056" cy="320040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36" name="Text 8"/>
          <p:cNvSpPr/>
          <p:nvPr/>
        </p:nvSpPr>
        <p:spPr>
          <a:xfrm>
            <a:off x="5120640" y="1303493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Spring Data JPA 해결책</a:t>
            </a:r>
            <a:endParaRPr lang="en-US" sz="1250" dirty="0"/>
          </a:p>
        </p:txBody>
      </p:sp>
      <p:sp>
        <p:nvSpPr>
          <p:cNvPr id="37" name="Shape 9"/>
          <p:cNvSpPr/>
          <p:nvPr/>
        </p:nvSpPr>
        <p:spPr>
          <a:xfrm>
            <a:off x="5010912" y="1650965"/>
            <a:ext cx="3877056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10"/>
          <p:cNvSpPr/>
          <p:nvPr/>
        </p:nvSpPr>
        <p:spPr>
          <a:xfrm>
            <a:off x="5120640" y="1733261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이것만 선언하면 끝!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5120640" y="1943573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ProductRepository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5120640" y="2153885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&lt;Product, Long&gt; {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5120640" y="2364197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비어있어도 됩니다!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5120640" y="2574509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Spring Data JPA —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" y="1862854"/>
            <a:ext cx="2743200" cy="237491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" y="1862854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86285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186285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기반 데이터 접근 모듈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2411495"/>
            <a:ext cx="2523744" cy="178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JPA를 사용하는 Spring </a:t>
            </a:r>
            <a:r>
              <a:rPr lang="en-US" sz="12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</a:t>
            </a:r>
            <a:endParaRPr lang="en-US" sz="12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위에서 </a:t>
            </a:r>
            <a:r>
              <a:rPr lang="en-US" sz="12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동작하는</a:t>
            </a: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25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추상화</a:t>
            </a:r>
            <a:r>
              <a:rPr 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55264" y="1862854"/>
            <a:ext cx="2743200" cy="237491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55264" y="1862854"/>
            <a:ext cx="2743200" cy="47548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86285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12464" y="186285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Repository 인터페이스 제공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64992" y="2411495"/>
            <a:ext cx="2523744" cy="1826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</a:t>
            </a:r>
            <a:endParaRPr lang="en-US" sz="12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PagingAndSortingRepository</a:t>
            </a:r>
            <a:endParaRPr lang="en-US" sz="12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862854"/>
            <a:ext cx="2743200" cy="237491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62854"/>
            <a:ext cx="27432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86285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11696" y="186285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페이징/정렬 자동 제공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91072" y="2411495"/>
            <a:ext cx="2578608" cy="1826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선언만으로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페이징, 정렬 </a:t>
            </a:r>
            <a:r>
              <a:rPr lang="en-US" sz="12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</a:t>
            </a:r>
            <a:r>
              <a:rPr lang="ko-KR" alt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457200" y="822959"/>
            <a:ext cx="8229600" cy="72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JPA는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 smtClean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데이터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액세스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계층을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최소한의</a:t>
            </a:r>
            <a:r>
              <a:rPr lang="en-US" sz="14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코드로 구현할 수 있게 해주는 Spring </a:t>
            </a:r>
            <a:r>
              <a:rPr lang="en-US" sz="14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</a:t>
            </a:r>
            <a:endParaRPr lang="en-US" sz="1300" dirty="0"/>
          </a:p>
        </p:txBody>
      </p:sp>
      <p:sp>
        <p:nvSpPr>
          <p:cNvPr id="20" name="Text 21"/>
          <p:cNvSpPr/>
          <p:nvPr/>
        </p:nvSpPr>
        <p:spPr>
          <a:xfrm>
            <a:off x="256032" y="4373987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 smtClean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</a:t>
            </a:r>
            <a:r>
              <a:rPr lang="en-US" sz="1200" b="1" dirty="0" smtClean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1200" dirty="0"/>
          </a:p>
        </p:txBody>
      </p:sp>
      <p:sp>
        <p:nvSpPr>
          <p:cNvPr id="21" name="Shape 22"/>
          <p:cNvSpPr/>
          <p:nvPr/>
        </p:nvSpPr>
        <p:spPr>
          <a:xfrm>
            <a:off x="256032" y="4648307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3"/>
          <p:cNvSpPr/>
          <p:nvPr/>
        </p:nvSpPr>
        <p:spPr>
          <a:xfrm>
            <a:off x="292608" y="4648307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1200" dirty="0"/>
          </a:p>
        </p:txBody>
      </p:sp>
      <p:sp>
        <p:nvSpPr>
          <p:cNvPr id="23" name="Text 24"/>
          <p:cNvSpPr/>
          <p:nvPr/>
        </p:nvSpPr>
        <p:spPr>
          <a:xfrm>
            <a:off x="1847088" y="4721459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5"/>
          <p:cNvSpPr/>
          <p:nvPr/>
        </p:nvSpPr>
        <p:spPr>
          <a:xfrm>
            <a:off x="1993392" y="4648307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6"/>
          <p:cNvSpPr/>
          <p:nvPr/>
        </p:nvSpPr>
        <p:spPr>
          <a:xfrm>
            <a:off x="2029968" y="4648307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</a:t>
            </a:r>
            <a:endParaRPr lang="en-US" sz="1200" dirty="0"/>
          </a:p>
        </p:txBody>
      </p:sp>
      <p:sp>
        <p:nvSpPr>
          <p:cNvPr id="26" name="Text 27"/>
          <p:cNvSpPr/>
          <p:nvPr/>
        </p:nvSpPr>
        <p:spPr>
          <a:xfrm>
            <a:off x="3584448" y="4721459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8"/>
          <p:cNvSpPr/>
          <p:nvPr/>
        </p:nvSpPr>
        <p:spPr>
          <a:xfrm>
            <a:off x="3730752" y="4648307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9"/>
          <p:cNvSpPr/>
          <p:nvPr/>
        </p:nvSpPr>
        <p:spPr>
          <a:xfrm>
            <a:off x="3767328" y="4648307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 Data JPA)</a:t>
            </a:r>
            <a:endParaRPr lang="en-US" sz="1000" dirty="0"/>
          </a:p>
        </p:txBody>
      </p:sp>
      <p:sp>
        <p:nvSpPr>
          <p:cNvPr id="29" name="Text 30"/>
          <p:cNvSpPr/>
          <p:nvPr/>
        </p:nvSpPr>
        <p:spPr>
          <a:xfrm>
            <a:off x="5321808" y="4721459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31"/>
          <p:cNvSpPr/>
          <p:nvPr/>
        </p:nvSpPr>
        <p:spPr>
          <a:xfrm>
            <a:off x="5468112" y="4648307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FFEB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32"/>
          <p:cNvSpPr/>
          <p:nvPr/>
        </p:nvSpPr>
        <p:spPr>
          <a:xfrm>
            <a:off x="5504688" y="4648307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200" dirty="0"/>
          </a:p>
        </p:txBody>
      </p:sp>
      <p:sp>
        <p:nvSpPr>
          <p:cNvPr id="32" name="Text 33"/>
          <p:cNvSpPr/>
          <p:nvPr/>
        </p:nvSpPr>
        <p:spPr>
          <a:xfrm>
            <a:off x="7059168" y="4721459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4"/>
          <p:cNvSpPr/>
          <p:nvPr/>
        </p:nvSpPr>
        <p:spPr>
          <a:xfrm>
            <a:off x="7205472" y="4648307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5"/>
          <p:cNvSpPr/>
          <p:nvPr/>
        </p:nvSpPr>
        <p:spPr>
          <a:xfrm>
            <a:off x="7242048" y="4648307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Repository 인터페이스 계층 구조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274320" y="4636956"/>
            <a:ext cx="8595360" cy="347472"/>
          </a:xfrm>
          <a:prstGeom prst="rect">
            <a:avLst/>
          </a:prstGeom>
          <a:solidFill>
            <a:srgbClr val="FFFF00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6369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실무에서는 JpaRepository를 사용하는 것을 권장합니다. CrudRepository의 모든 기능 + 페이징/정렬 + JPA 전용 메서드까지 모두 포함!</a:t>
            </a:r>
            <a:endParaRPr lang="en-US" sz="1100" dirty="0"/>
          </a:p>
        </p:txBody>
      </p:sp>
      <p:sp>
        <p:nvSpPr>
          <p:cNvPr id="28" name="Text 1"/>
          <p:cNvSpPr/>
          <p:nvPr/>
        </p:nvSpPr>
        <p:spPr>
          <a:xfrm>
            <a:off x="384048" y="739716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4.x (Spring Boot </a:t>
            </a:r>
            <a:r>
              <a:rPr lang="en-US" sz="12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4.x)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200" dirty="0"/>
          </a:p>
        </p:txBody>
      </p:sp>
      <p:sp>
        <p:nvSpPr>
          <p:cNvPr id="29" name="Shape 5"/>
          <p:cNvSpPr/>
          <p:nvPr/>
        </p:nvSpPr>
        <p:spPr>
          <a:xfrm>
            <a:off x="3291840" y="977460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0" name="Text 6"/>
          <p:cNvSpPr/>
          <p:nvPr/>
        </p:nvSpPr>
        <p:spPr>
          <a:xfrm>
            <a:off x="3291840" y="9774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Repository&lt;T, ID&gt;</a:t>
            </a:r>
            <a:endParaRPr lang="en-US" sz="1100" dirty="0"/>
          </a:p>
        </p:txBody>
      </p:sp>
      <p:sp>
        <p:nvSpPr>
          <p:cNvPr id="31" name="Shape 7"/>
          <p:cNvSpPr/>
          <p:nvPr/>
        </p:nvSpPr>
        <p:spPr>
          <a:xfrm>
            <a:off x="4572000" y="1361508"/>
            <a:ext cx="0" cy="20116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2" name="Shape 8"/>
          <p:cNvSpPr/>
          <p:nvPr/>
        </p:nvSpPr>
        <p:spPr>
          <a:xfrm>
            <a:off x="2560320" y="1562676"/>
            <a:ext cx="4023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3" name="Shape 9"/>
          <p:cNvSpPr/>
          <p:nvPr/>
        </p:nvSpPr>
        <p:spPr>
          <a:xfrm>
            <a:off x="2560320" y="1562676"/>
            <a:ext cx="0" cy="20116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4" name="Shape 10"/>
          <p:cNvSpPr/>
          <p:nvPr/>
        </p:nvSpPr>
        <p:spPr>
          <a:xfrm>
            <a:off x="1097280" y="176384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DBEA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35" name="Text 11"/>
          <p:cNvSpPr/>
          <p:nvPr/>
        </p:nvSpPr>
        <p:spPr>
          <a:xfrm>
            <a:off x="1097280" y="17638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CrudRepository&lt;T, ID&gt;</a:t>
            </a:r>
            <a:endParaRPr lang="en-US" sz="1050" dirty="0"/>
          </a:p>
        </p:txBody>
      </p:sp>
      <p:sp>
        <p:nvSpPr>
          <p:cNvPr id="36" name="Shape 12"/>
          <p:cNvSpPr/>
          <p:nvPr/>
        </p:nvSpPr>
        <p:spPr>
          <a:xfrm>
            <a:off x="2560320" y="2147892"/>
            <a:ext cx="0" cy="182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7" name="Text 13"/>
          <p:cNvSpPr/>
          <p:nvPr/>
        </p:nvSpPr>
        <p:spPr>
          <a:xfrm>
            <a:off x="1920240" y="21478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850" dirty="0"/>
          </a:p>
        </p:txBody>
      </p:sp>
      <p:sp>
        <p:nvSpPr>
          <p:cNvPr id="38" name="Shape 14"/>
          <p:cNvSpPr/>
          <p:nvPr/>
        </p:nvSpPr>
        <p:spPr>
          <a:xfrm>
            <a:off x="914400" y="2330772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BFDBFE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39" name="Text 15"/>
          <p:cNvSpPr/>
          <p:nvPr/>
        </p:nvSpPr>
        <p:spPr>
          <a:xfrm>
            <a:off x="914400" y="23307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ListCrudRepository&lt;T, ID&gt;</a:t>
            </a: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1005840" y="27513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findAll() → List&lt;T&gt;</a:t>
            </a:r>
            <a:endParaRPr lang="en-US" sz="950" dirty="0"/>
          </a:p>
        </p:txBody>
      </p:sp>
      <p:sp>
        <p:nvSpPr>
          <p:cNvPr id="41" name="Shape 17"/>
          <p:cNvSpPr/>
          <p:nvPr/>
        </p:nvSpPr>
        <p:spPr>
          <a:xfrm>
            <a:off x="6583680" y="1562676"/>
            <a:ext cx="0" cy="20116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2" name="Shape 18"/>
          <p:cNvSpPr/>
          <p:nvPr/>
        </p:nvSpPr>
        <p:spPr>
          <a:xfrm>
            <a:off x="5120640" y="176384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3" name="Text 19"/>
          <p:cNvSpPr/>
          <p:nvPr/>
        </p:nvSpPr>
        <p:spPr>
          <a:xfrm>
            <a:off x="5120640" y="17638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PagingAndSortingRepository</a:t>
            </a:r>
            <a:r>
              <a:rPr lang="en-US" sz="950" b="1" dirty="0" smtClean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</a:t>
            </a: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ID&gt;</a:t>
            </a:r>
            <a:endParaRPr lang="en-US" sz="950" dirty="0"/>
          </a:p>
        </p:txBody>
      </p:sp>
      <p:sp>
        <p:nvSpPr>
          <p:cNvPr id="44" name="Shape 20"/>
          <p:cNvSpPr/>
          <p:nvPr/>
        </p:nvSpPr>
        <p:spPr>
          <a:xfrm>
            <a:off x="6583680" y="2147892"/>
            <a:ext cx="0" cy="182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5" name="Text 21"/>
          <p:cNvSpPr/>
          <p:nvPr/>
        </p:nvSpPr>
        <p:spPr>
          <a:xfrm>
            <a:off x="5943600" y="21478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850" dirty="0"/>
          </a:p>
        </p:txBody>
      </p:sp>
      <p:sp>
        <p:nvSpPr>
          <p:cNvPr id="46" name="Shape 22"/>
          <p:cNvSpPr/>
          <p:nvPr/>
        </p:nvSpPr>
        <p:spPr>
          <a:xfrm>
            <a:off x="4937760" y="2330772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BBFABE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7" name="Text 23"/>
          <p:cNvSpPr/>
          <p:nvPr/>
        </p:nvSpPr>
        <p:spPr>
          <a:xfrm>
            <a:off x="4937760" y="23307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 smtClean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ListPagingAndSortingRepository</a:t>
            </a:r>
            <a:r>
              <a:rPr lang="en-US" sz="950" b="1" dirty="0" smtClean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</a:t>
            </a:r>
            <a:r>
              <a:rPr lang="en-US" sz="95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ID&gt;</a:t>
            </a:r>
            <a:endParaRPr lang="en-US" sz="950" dirty="0"/>
          </a:p>
        </p:txBody>
      </p:sp>
      <p:sp>
        <p:nvSpPr>
          <p:cNvPr id="48" name="Text 24"/>
          <p:cNvSpPr/>
          <p:nvPr/>
        </p:nvSpPr>
        <p:spPr>
          <a:xfrm>
            <a:off x="5029200" y="27513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findAll(Sort/Pageable) → List&lt;T&gt;</a:t>
            </a:r>
            <a:endParaRPr lang="en-US" sz="950" dirty="0"/>
          </a:p>
        </p:txBody>
      </p:sp>
      <p:sp>
        <p:nvSpPr>
          <p:cNvPr id="49" name="Shape 25"/>
          <p:cNvSpPr/>
          <p:nvPr/>
        </p:nvSpPr>
        <p:spPr>
          <a:xfrm>
            <a:off x="2560320" y="2970852"/>
            <a:ext cx="0" cy="21945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0" name="Shape 26"/>
          <p:cNvSpPr/>
          <p:nvPr/>
        </p:nvSpPr>
        <p:spPr>
          <a:xfrm>
            <a:off x="6583680" y="2970852"/>
            <a:ext cx="0" cy="219456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1" name="Shape 27"/>
          <p:cNvSpPr/>
          <p:nvPr/>
        </p:nvSpPr>
        <p:spPr>
          <a:xfrm>
            <a:off x="2560320" y="3190308"/>
            <a:ext cx="4023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Shape 28"/>
          <p:cNvSpPr/>
          <p:nvPr/>
        </p:nvSpPr>
        <p:spPr>
          <a:xfrm>
            <a:off x="4572000" y="3190308"/>
            <a:ext cx="0" cy="182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Shape 29"/>
          <p:cNvSpPr/>
          <p:nvPr/>
        </p:nvSpPr>
        <p:spPr>
          <a:xfrm>
            <a:off x="914400" y="337318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4" name="Text 30"/>
          <p:cNvSpPr/>
          <p:nvPr/>
        </p:nvSpPr>
        <p:spPr>
          <a:xfrm>
            <a:off x="914400" y="337318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JpaRepository&lt;T, ID&gt;  ★  실무 권장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3-1. </a:t>
            </a:r>
            <a:r>
              <a:rPr lang="en-US" sz="2700" b="1" dirty="0" err="1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</a:t>
            </a: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메서드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CrudRepository&lt;T, ID&gt; 인터페이스의 기본 제공 메서드 목록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3291840" cy="32004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4241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시그니처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38728" y="1024128"/>
            <a:ext cx="3657600" cy="32004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04241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42048" y="1024128"/>
            <a:ext cx="1737360" cy="32004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2" y="104241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 타입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1353312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37160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save(S entity)</a:t>
            </a:r>
            <a:endParaRPr lang="en-US" sz="950" b="1" dirty="0"/>
          </a:p>
        </p:txBody>
      </p:sp>
      <p:sp>
        <p:nvSpPr>
          <p:cNvPr id="13" name="Shape 11"/>
          <p:cNvSpPr/>
          <p:nvPr/>
        </p:nvSpPr>
        <p:spPr>
          <a:xfrm>
            <a:off x="3538728" y="1353312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371600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(id 없음 → INSERT)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</a:t>
            </a:r>
            <a:r>
              <a:rPr lang="en-US" sz="1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(id 있음 → UPDATE)</a:t>
            </a:r>
            <a:endParaRPr lang="en-US" sz="1000" dirty="0">
              <a:solidFill>
                <a:srgbClr val="00B05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42048" y="1353312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137160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 extends T&gt; 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1682496"/>
            <a:ext cx="32918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700784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saveAll(Iterable&lt;S&gt; entities)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38728" y="1682496"/>
            <a:ext cx="36576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1700784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엔티티 일괄 저장/수정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42048" y="1682496"/>
            <a:ext cx="1737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70078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Iterable&lt;S&gt;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" y="2011680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02996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findById(ID id)</a:t>
            </a:r>
            <a:endParaRPr lang="en-US" sz="950" b="1" dirty="0"/>
          </a:p>
        </p:txBody>
      </p:sp>
      <p:sp>
        <p:nvSpPr>
          <p:cNvPr id="25" name="Shape 23"/>
          <p:cNvSpPr/>
          <p:nvPr/>
        </p:nvSpPr>
        <p:spPr>
          <a:xfrm>
            <a:off x="3538728" y="2011680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029968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ID로 단건 조회. 없으면 Optional.empty() 반환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42048" y="2011680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202996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Optional&lt;T&gt;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1168" y="2340864"/>
            <a:ext cx="32918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35915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findAll()</a:t>
            </a:r>
            <a:endParaRPr lang="en-US" sz="950" b="1" dirty="0"/>
          </a:p>
        </p:txBody>
      </p:sp>
      <p:sp>
        <p:nvSpPr>
          <p:cNvPr id="31" name="Shape 29"/>
          <p:cNvSpPr/>
          <p:nvPr/>
        </p:nvSpPr>
        <p:spPr>
          <a:xfrm>
            <a:off x="3538728" y="2340864"/>
            <a:ext cx="36576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35915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엔티티 목록 조회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42048" y="2340864"/>
            <a:ext cx="1737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235915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Iterable&lt;T&gt;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01168" y="2670048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268833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findAllById(Iterable&lt;ID&gt; ids)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38728" y="2670048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268833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목록으로 다건 조회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42048" y="2670048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268833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Iterable&lt;T&gt;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1168" y="2999232"/>
            <a:ext cx="32918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01752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existsById(ID id)</a:t>
            </a:r>
            <a:endParaRPr lang="en-US" sz="950" b="1" dirty="0"/>
          </a:p>
        </p:txBody>
      </p:sp>
      <p:sp>
        <p:nvSpPr>
          <p:cNvPr id="43" name="Shape 41"/>
          <p:cNvSpPr/>
          <p:nvPr/>
        </p:nvSpPr>
        <p:spPr>
          <a:xfrm>
            <a:off x="3538728" y="2999232"/>
            <a:ext cx="36576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3017520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ID의 엔티티 존재 여부 확인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42048" y="2999232"/>
            <a:ext cx="1737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30175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03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000" dirty="0">
              <a:solidFill>
                <a:srgbClr val="7030A0"/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01168" y="3328416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3346704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38728" y="3328416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3346704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엔티티 전체 건수 반환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42048" y="3328416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33467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01168" y="3657600"/>
            <a:ext cx="32918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675888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deleteById(ID id)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38728" y="3657600"/>
            <a:ext cx="36576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93592" y="3675888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ID로 단건 삭제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42048" y="3657600"/>
            <a:ext cx="1737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6912" y="367588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01168" y="3986784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4005072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delete(T entity)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38728" y="3986784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93592" y="4005072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객체로 삭제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242048" y="3986784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6912" y="400507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01168" y="4315968"/>
            <a:ext cx="32918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" y="4334256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deleteAllById(Iterable&lt;? extends ID&gt; ids)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538728" y="4315968"/>
            <a:ext cx="36576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93592" y="4334256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목록으로 다건 삭제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242048" y="4315968"/>
            <a:ext cx="1737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96912" y="433425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01168" y="4645152"/>
            <a:ext cx="329184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" y="4663440"/>
            <a:ext cx="3200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deleteAll()</a:t>
            </a:r>
            <a:endParaRPr lang="en-US" sz="950" b="1" dirty="0"/>
          </a:p>
        </p:txBody>
      </p:sp>
      <p:sp>
        <p:nvSpPr>
          <p:cNvPr id="73" name="Shape 71"/>
          <p:cNvSpPr/>
          <p:nvPr/>
        </p:nvSpPr>
        <p:spPr>
          <a:xfrm>
            <a:off x="3538728" y="4645152"/>
            <a:ext cx="365760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93592" y="4663440"/>
            <a:ext cx="3566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삭제 (주의: 개별 DELETE 쿼리 실행)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242048" y="4645152"/>
            <a:ext cx="1737360" cy="32004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96912" y="466344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01168" y="4983480"/>
            <a:ext cx="8741664" cy="731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983480"/>
            <a:ext cx="85587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3-2.  PagingAndSortingRepository 인터페이스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84048" y="676656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정렬(Sort)과 페이지네이션(Pageable)을 지원하는 인터페이스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8631936" cy="357530"/>
          </a:xfrm>
          <a:prstGeom prst="roundRect">
            <a:avLst>
              <a:gd name="adj" fmla="val 13043"/>
            </a:avLst>
          </a:prstGeom>
          <a:solidFill>
            <a:srgbClr val="FEE2E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8430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Spring Data JPA 3.x+부터 CrudRepository와 </a:t>
            </a:r>
            <a:r>
              <a:rPr lang="en-US" sz="1100" dirty="0" err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</a:t>
            </a: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26464"/>
            <a:ext cx="8631936" cy="950976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26464"/>
            <a:ext cx="8631936" cy="246888"/>
          </a:xfrm>
          <a:prstGeom prst="roundRect">
            <a:avLst>
              <a:gd name="adj" fmla="val 2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549908"/>
            <a:ext cx="8631936" cy="1234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26464"/>
            <a:ext cx="8449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PagingAndSortingRepository 인터페이스 정의 (Spring Data JPA 3.x+)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54070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PagingAndSortingRepository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&lt;T, ID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altLang="ko-KR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altLang="ko-KR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r>
              <a:rPr lang="en-US" altLang="ko-KR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&lt;T, ID&gt; {</a:t>
            </a:r>
            <a:r>
              <a:rPr lang="en-US" altLang="ko-KR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★ </a:t>
            </a:r>
            <a:r>
              <a:rPr lang="en-US" altLang="ko-KR" sz="1050" dirty="0" err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CrudRepository가</a:t>
            </a:r>
            <a:r>
              <a:rPr lang="en-US" altLang="ko-KR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1050" dirty="0" err="1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아님</a:t>
            </a:r>
            <a:r>
              <a:rPr lang="en-US" altLang="ko-KR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altLang="ko-KR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895206"/>
            <a:ext cx="8412480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Iterable&lt;T&gt; findAll(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sort);          // 정렬된 목록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063516"/>
            <a:ext cx="8412480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Page&lt;T&gt;     findAll(</a:t>
            </a:r>
            <a:r>
              <a:rPr lang="en-US" sz="10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Pageable</a:t>
            </a:r>
            <a:r>
              <a:rPr lang="en-US" sz="10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pageable);  // 페이징 + 정렬된 목록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2175073"/>
            <a:ext cx="8412480" cy="111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2395728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PageRequest.of() 구성 요소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6032" y="2688336"/>
            <a:ext cx="8631936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8833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PageRequest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</a:t>
            </a: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Sort.by(Direction.DESC, "price")</a:t>
            </a: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 flipH="1">
            <a:off x="2569226" y="3072384"/>
            <a:ext cx="602795" cy="29260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9187" y="3364992"/>
            <a:ext cx="822960" cy="402336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5763" y="33649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번호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(0부터 시작!)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21450" y="3200400"/>
            <a:ext cx="0" cy="201168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410" y="3401568"/>
            <a:ext cx="941910" cy="402336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7986" y="34015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크기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(한 페이지 건수)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3163824"/>
            <a:ext cx="0" cy="201168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364992"/>
            <a:ext cx="822960" cy="402336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33649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조건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(생략 가능)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858768"/>
            <a:ext cx="8631936" cy="1207008"/>
          </a:xfrm>
          <a:prstGeom prst="roundRect">
            <a:avLst>
              <a:gd name="adj" fmla="val 5303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3858768"/>
            <a:ext cx="8631936" cy="246888"/>
          </a:xfrm>
          <a:prstGeom prst="roundRect">
            <a:avLst>
              <a:gd name="adj" fmla="val 2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982212"/>
            <a:ext cx="8631936" cy="1234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858768"/>
            <a:ext cx="8449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예시 — ProductService.java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142232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sort = Sort.by(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Sort.Direction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"price");      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내림차순 정렬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315968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Iterable&lt;Product&gt; sorted = productRepository.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(sort);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// 정렬만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489704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Pageable pageable = PageRequest.of(0, 5, Sort.by(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"name"));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37176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Page&lt;Product&gt; page = productRepository.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(pageable);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페이징 + 정렬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87196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페이지네이션 개념 시각화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84048" y="676656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200건 → 페이지당 5건 → 총 40페이지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32688"/>
            <a:ext cx="8631936" cy="36576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8430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😱 페이징 없이 전체 조회하면?  상품 수십만 건 전부 메모리에 로딩 → 서버 과부하 · 응답 지연 · 메모리 부족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8631936" cy="329184"/>
          </a:xfrm>
          <a:prstGeom prst="roundRect">
            <a:avLst>
              <a:gd name="adj" fmla="val 13889"/>
            </a:avLst>
          </a:prstGeom>
          <a:solidFill>
            <a:srgbClr val="0D1754"/>
          </a:solidFill>
          <a:ln w="12700">
            <a:solidFill>
              <a:srgbClr val="0D1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71600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상품 200건  (페이지당 5건  →  총 40페이지)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737360"/>
            <a:ext cx="1591056" cy="640080"/>
          </a:xfrm>
          <a:prstGeom prst="roundRect">
            <a:avLst>
              <a:gd name="adj" fmla="val 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737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16276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75104" y="1737360"/>
            <a:ext cx="1591056" cy="640080"/>
          </a:xfrm>
          <a:prstGeom prst="roundRect">
            <a:avLst>
              <a:gd name="adj" fmla="val 7143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737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94176" y="1737360"/>
            <a:ext cx="1591056" cy="640080"/>
          </a:xfrm>
          <a:prstGeom prst="roundRect">
            <a:avLst>
              <a:gd name="adj" fmla="val 7143"/>
            </a:avLst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737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13248" y="1737360"/>
            <a:ext cx="1591056" cy="640080"/>
          </a:xfrm>
          <a:prstGeom prst="roundRect">
            <a:avLst>
              <a:gd name="adj" fmla="val 714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737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32320" y="1737360"/>
            <a:ext cx="1591056" cy="640080"/>
          </a:xfrm>
          <a:prstGeom prst="roundRect">
            <a:avLst>
              <a:gd name="adj" fmla="val 714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73736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1560" y="2377440"/>
            <a:ext cx="0" cy="164592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914400" y="2414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 내용 (5건)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2596896"/>
            <a:ext cx="1591056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5968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75104" y="2596896"/>
            <a:ext cx="1591056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75104" y="25968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Air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799원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94176" y="2596896"/>
            <a:ext cx="1591056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25968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13248" y="2596896"/>
            <a:ext cx="1591056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25968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MacBook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1,299원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2596896"/>
            <a:ext cx="1591056" cy="475488"/>
          </a:xfrm>
          <a:prstGeom prst="roundRect">
            <a:avLst>
              <a:gd name="adj" fmla="val 9615"/>
            </a:avLst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59689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145536"/>
            <a:ext cx="8631936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1455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PageRequest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Sort.by(Direction.ASC, "price")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 flipH="1">
            <a:off x="2802636" y="3568055"/>
            <a:ext cx="457200" cy="25729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82596" y="3787511"/>
            <a:ext cx="777240" cy="384048"/>
          </a:xfrm>
          <a:prstGeom prst="roundRect">
            <a:avLst>
              <a:gd name="adj" fmla="val 952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82596" y="3787511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번호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(0부터 시작!)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88454" y="3619764"/>
            <a:ext cx="0" cy="18288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68414" y="3796338"/>
            <a:ext cx="777240" cy="384048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68414" y="379633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크기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건수/페이지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3602736"/>
            <a:ext cx="0" cy="18288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791922"/>
            <a:ext cx="777240" cy="384048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79192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6032" y="42793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 제공 정보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6032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6032" y="4553712"/>
            <a:ext cx="138988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getContent()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0896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페이지 List&lt;T&gt;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37360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37360" y="4553712"/>
            <a:ext cx="138988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92224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getTotalElements()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792224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건수  → 200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18688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18688" y="4553712"/>
            <a:ext cx="138988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73552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getTotalPages()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73552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페이지  → 40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0016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0016" y="4553712"/>
            <a:ext cx="138988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getNumber()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54880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페이지  → 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81344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81344" y="4553712"/>
            <a:ext cx="138988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36208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getSize()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236208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크기  → 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662672" y="4553712"/>
            <a:ext cx="1389888" cy="475488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62672" y="4553712"/>
            <a:ext cx="138988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17536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isFirst()/isLast()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17536" y="48280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첫/마지막 여부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20616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3-3. </a:t>
            </a:r>
            <a:r>
              <a:rPr lang="en-US" sz="2700" b="1" dirty="0" err="1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 + PagingAndSorting + JPA 전용 메서드까지 포함 — 가장 많이 사용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24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 추가 제공 메서드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9903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영속성 컨텍스트 → DB 즉시 반영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6596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saveAndFlush(entity)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+ flush 동시 실행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41481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068913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deleteAllInBatch</a:t>
            </a:r>
            <a:r>
              <a:rPr lang="en-US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1677" y="4140976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405" y="416840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findAll(Sort sort)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1405" y="439700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정렬된 전체 목록 (List 반환)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024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 vs JpaRepository 차이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371600"/>
            <a:ext cx="1463040" cy="475488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3716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항목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371600"/>
            <a:ext cx="1280160" cy="475488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1371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1280160" cy="475488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2944" y="1371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892808"/>
            <a:ext cx="1463040" cy="43891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8928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findAll() 반환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1892808"/>
            <a:ext cx="1280160" cy="43891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Iterable&lt;T&gt;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0" y="1892808"/>
            <a:ext cx="1280160" cy="43891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2944" y="18928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 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395098"/>
            <a:ext cx="146304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395098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saveAllAndFlush</a:t>
            </a:r>
            <a:r>
              <a:rPr lang="en-US" sz="105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반환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2395098"/>
            <a:ext cx="128016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239509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Iterable&lt;T&gt;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98080" y="2395098"/>
            <a:ext cx="128016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52944" y="239509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 ✓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2859552"/>
            <a:ext cx="146304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85955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flush() 지원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72200" y="2859552"/>
            <a:ext cx="128016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28595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98080" y="2859552"/>
            <a:ext cx="128016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52944" y="28595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3342924"/>
            <a:ext cx="146304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3429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deleteAllInBatch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72200" y="3342924"/>
            <a:ext cx="128016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27064" y="33429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98080" y="3342924"/>
            <a:ext cx="1280160" cy="402336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33429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663440" y="3819989"/>
            <a:ext cx="146304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819989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Pageable 지원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72200" y="3819989"/>
            <a:ext cx="128016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27064" y="3819989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98080" y="3819989"/>
            <a:ext cx="1280160" cy="393192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52944" y="3819989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4278138"/>
            <a:ext cx="146304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4278138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지원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172200" y="4278138"/>
            <a:ext cx="128016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27064" y="427813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7498080" y="4278138"/>
            <a:ext cx="1280160" cy="3931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52944" y="427813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74320" y="4811329"/>
            <a:ext cx="8595360" cy="245303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" y="4793041"/>
            <a:ext cx="8412480" cy="263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JpaRepository 사용 시 List&lt;T&gt;로 바로 받을 수 있어 코드가 더 간결합니다.</a:t>
            </a:r>
            <a:endParaRPr lang="en-US" sz="1100" dirty="0"/>
          </a:p>
        </p:txBody>
      </p:sp>
      <p:sp>
        <p:nvSpPr>
          <p:cNvPr id="69" name="Shape 10"/>
          <p:cNvSpPr/>
          <p:nvPr/>
        </p:nvSpPr>
        <p:spPr>
          <a:xfrm>
            <a:off x="281677" y="3584864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0" name="Text 11"/>
          <p:cNvSpPr/>
          <p:nvPr/>
        </p:nvSpPr>
        <p:spPr>
          <a:xfrm>
            <a:off x="391405" y="361229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deleteAllInBatch</a:t>
            </a:r>
            <a:r>
              <a:rPr lang="en-US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b="1" dirty="0" err="1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&lt;T&gt;)</a:t>
            </a:r>
            <a:endParaRPr lang="en-US" sz="1050" dirty="0"/>
          </a:p>
        </p:txBody>
      </p:sp>
      <p:sp>
        <p:nvSpPr>
          <p:cNvPr id="71" name="Text 12"/>
          <p:cNvSpPr/>
          <p:nvPr/>
        </p:nvSpPr>
        <p:spPr>
          <a:xfrm>
            <a:off x="391405" y="384089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DELETE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쿼리로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</a:t>
            </a:r>
            <a:r>
              <a:rPr lang="ko-KR" alt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삭제</a:t>
            </a:r>
            <a:endParaRPr lang="en-US" sz="1000" dirty="0"/>
          </a:p>
        </p:txBody>
      </p:sp>
      <p:sp>
        <p:nvSpPr>
          <p:cNvPr id="72" name="Text 12"/>
          <p:cNvSpPr/>
          <p:nvPr/>
        </p:nvSpPr>
        <p:spPr>
          <a:xfrm>
            <a:off x="374904" y="330712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DELETE 쿼리로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(빠름)</a:t>
            </a:r>
            <a:endParaRPr lang="en-US" sz="1000" dirty="0"/>
          </a:p>
        </p:txBody>
      </p:sp>
      <p:sp>
        <p:nvSpPr>
          <p:cNvPr id="73" name="Shape 7"/>
          <p:cNvSpPr/>
          <p:nvPr/>
        </p:nvSpPr>
        <p:spPr>
          <a:xfrm>
            <a:off x="287985" y="2494524"/>
            <a:ext cx="4114800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74" name="Text 8"/>
          <p:cNvSpPr/>
          <p:nvPr/>
        </p:nvSpPr>
        <p:spPr>
          <a:xfrm>
            <a:off x="397713" y="25219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 err="1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saveAllAndFlush</a:t>
            </a:r>
            <a:r>
              <a:rPr lang="en-US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50" b="1" dirty="0" err="1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Iterable</a:t>
            </a:r>
            <a:r>
              <a:rPr lang="en-US" altLang="ko-KR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r>
              <a:rPr lang="en-US" sz="1050" b="1" dirty="0" smtClean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5" name="Text 9"/>
          <p:cNvSpPr/>
          <p:nvPr/>
        </p:nvSpPr>
        <p:spPr>
          <a:xfrm>
            <a:off x="397713" y="275055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saveAll</a:t>
            </a:r>
            <a:r>
              <a:rPr lang="en-US" sz="10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flush 동시 실행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JPA </a:t>
            </a: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2700" dirty="0"/>
          </a:p>
        </p:txBody>
      </p:sp>
      <p:sp>
        <p:nvSpPr>
          <p:cNvPr id="13" name="Shape 3"/>
          <p:cNvSpPr/>
          <p:nvPr/>
        </p:nvSpPr>
        <p:spPr>
          <a:xfrm>
            <a:off x="256032" y="932688"/>
            <a:ext cx="41148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4"/>
          <p:cNvSpPr/>
          <p:nvPr/>
        </p:nvSpPr>
        <p:spPr>
          <a:xfrm>
            <a:off x="256032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Spring Data JPA</a:t>
            </a:r>
            <a:endParaRPr lang="en-US" sz="1150" dirty="0"/>
          </a:p>
        </p:txBody>
      </p:sp>
      <p:sp>
        <p:nvSpPr>
          <p:cNvPr id="15" name="Shape 5"/>
          <p:cNvSpPr/>
          <p:nvPr/>
        </p:nvSpPr>
        <p:spPr>
          <a:xfrm>
            <a:off x="4773168" y="932688"/>
            <a:ext cx="41148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6"/>
          <p:cNvSpPr/>
          <p:nvPr/>
        </p:nvSpPr>
        <p:spPr>
          <a:xfrm>
            <a:off x="4773168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Spring Data JPA</a:t>
            </a:r>
            <a:endParaRPr lang="en-US" sz="1150" dirty="0"/>
          </a:p>
        </p:txBody>
      </p:sp>
      <p:sp>
        <p:nvSpPr>
          <p:cNvPr id="17" name="Shape 7"/>
          <p:cNvSpPr/>
          <p:nvPr/>
        </p:nvSpPr>
        <p:spPr>
          <a:xfrm>
            <a:off x="256032" y="1261872"/>
            <a:ext cx="4114800" cy="2450592"/>
          </a:xfrm>
          <a:prstGeom prst="roundRect">
            <a:avLst>
              <a:gd name="adj" fmla="val 2612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8"/>
          <p:cNvSpPr/>
          <p:nvPr/>
        </p:nvSpPr>
        <p:spPr>
          <a:xfrm>
            <a:off x="365760" y="1344168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950" dirty="0"/>
          </a:p>
        </p:txBody>
      </p:sp>
      <p:sp>
        <p:nvSpPr>
          <p:cNvPr id="19" name="Text 9"/>
          <p:cNvSpPr/>
          <p:nvPr/>
        </p:nvSpPr>
        <p:spPr>
          <a:xfrm>
            <a:off x="365760" y="1465928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ProductDao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</p:txBody>
      </p:sp>
      <p:sp>
        <p:nvSpPr>
          <p:cNvPr id="20" name="Text 10"/>
          <p:cNvSpPr/>
          <p:nvPr/>
        </p:nvSpPr>
        <p:spPr>
          <a:xfrm>
            <a:off x="365760" y="1587687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@PersistenceContext EntityManager em;</a:t>
            </a:r>
            <a:endParaRPr lang="en-US" sz="950" dirty="0"/>
          </a:p>
        </p:txBody>
      </p:sp>
      <p:sp>
        <p:nvSpPr>
          <p:cNvPr id="21" name="Text 11"/>
          <p:cNvSpPr/>
          <p:nvPr/>
        </p:nvSpPr>
        <p:spPr>
          <a:xfrm>
            <a:off x="365760" y="1709447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2" name="Text 12"/>
          <p:cNvSpPr/>
          <p:nvPr/>
        </p:nvSpPr>
        <p:spPr>
          <a:xfrm>
            <a:off x="365760" y="1831206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365760" y="1952966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 p) {</a:t>
            </a:r>
            <a:endParaRPr lang="en-US" sz="950" dirty="0"/>
          </a:p>
        </p:txBody>
      </p:sp>
      <p:sp>
        <p:nvSpPr>
          <p:cNvPr id="24" name="Text 14"/>
          <p:cNvSpPr/>
          <p:nvPr/>
        </p:nvSpPr>
        <p:spPr>
          <a:xfrm>
            <a:off x="365760" y="2074725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(p.getId()==null) { em.persist(p); return p; }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365760" y="2196485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return em.merge(p);</a:t>
            </a:r>
            <a:endParaRPr lang="en-US" sz="950" dirty="0"/>
          </a:p>
        </p:txBody>
      </p:sp>
      <p:sp>
        <p:nvSpPr>
          <p:cNvPr id="26" name="Text 16"/>
          <p:cNvSpPr/>
          <p:nvPr/>
        </p:nvSpPr>
        <p:spPr>
          <a:xfrm>
            <a:off x="365760" y="2318245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27" name="Text 17"/>
          <p:cNvSpPr/>
          <p:nvPr/>
        </p:nvSpPr>
        <p:spPr>
          <a:xfrm>
            <a:off x="365760" y="2440004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(Long id) {</a:t>
            </a:r>
            <a:endParaRPr lang="en-US" sz="950" dirty="0"/>
          </a:p>
        </p:txBody>
      </p:sp>
      <p:sp>
        <p:nvSpPr>
          <p:cNvPr id="28" name="Text 18"/>
          <p:cNvSpPr/>
          <p:nvPr/>
        </p:nvSpPr>
        <p:spPr>
          <a:xfrm>
            <a:off x="365760" y="2561764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em.find(Product.class, id);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365760" y="2683523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30" name="Text 20"/>
          <p:cNvSpPr/>
          <p:nvPr/>
        </p:nvSpPr>
        <p:spPr>
          <a:xfrm>
            <a:off x="365760" y="2805283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365760" y="2927043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deleteById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(Long id) {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365760" y="3048802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 p = findById(id);</a:t>
            </a:r>
            <a:endParaRPr lang="en-US" sz="950" dirty="0"/>
          </a:p>
        </p:txBody>
      </p:sp>
      <p:sp>
        <p:nvSpPr>
          <p:cNvPr id="33" name="Text 23"/>
          <p:cNvSpPr/>
          <p:nvPr/>
        </p:nvSpPr>
        <p:spPr>
          <a:xfrm>
            <a:off x="365760" y="3170562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(p!=null) em.remove(p);</a:t>
            </a:r>
            <a:endParaRPr lang="en-US" sz="950" dirty="0"/>
          </a:p>
        </p:txBody>
      </p:sp>
      <p:sp>
        <p:nvSpPr>
          <p:cNvPr id="34" name="Text 24"/>
          <p:cNvSpPr/>
          <p:nvPr/>
        </p:nvSpPr>
        <p:spPr>
          <a:xfrm>
            <a:off x="365760" y="3292321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35" name="Text 25"/>
          <p:cNvSpPr/>
          <p:nvPr/>
        </p:nvSpPr>
        <p:spPr>
          <a:xfrm>
            <a:off x="365760" y="3414081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count, existsById, findAll ...</a:t>
            </a:r>
            <a:endParaRPr lang="en-US" sz="950" dirty="0"/>
          </a:p>
        </p:txBody>
      </p:sp>
      <p:sp>
        <p:nvSpPr>
          <p:cNvPr id="36" name="Text 26"/>
          <p:cNvSpPr/>
          <p:nvPr/>
        </p:nvSpPr>
        <p:spPr>
          <a:xfrm>
            <a:off x="365760" y="3535840"/>
            <a:ext cx="3895344" cy="12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4304617" y="146894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8" name="Shape 28"/>
          <p:cNvSpPr/>
          <p:nvPr/>
        </p:nvSpPr>
        <p:spPr>
          <a:xfrm>
            <a:off x="4773168" y="1261872"/>
            <a:ext cx="4114800" cy="694944"/>
          </a:xfrm>
          <a:prstGeom prst="roundRect">
            <a:avLst>
              <a:gd name="adj" fmla="val 9211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4882896" y="1344168"/>
            <a:ext cx="389534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 한 줄이 전부!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882896" y="1530096"/>
            <a:ext cx="389534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1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ProductRepository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4882896" y="1716024"/>
            <a:ext cx="3895344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&lt;Product, Long&gt; { }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4765914" y="2092716"/>
            <a:ext cx="4114800" cy="2971168"/>
          </a:xfrm>
          <a:prstGeom prst="roundRect">
            <a:avLst>
              <a:gd name="adj" fmla="val 228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4765914" y="2092716"/>
            <a:ext cx="4114800" cy="246888"/>
          </a:xfrm>
          <a:prstGeom prst="roundRect">
            <a:avLst>
              <a:gd name="adj" fmla="val 259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765914" y="2216160"/>
            <a:ext cx="4114800" cy="1234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857354" y="209271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ProductService.java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4875642" y="2376180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@Transactional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4875642" y="2551875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ProductService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4875642" y="2727571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4875642" y="2903266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r>
              <a:rPr lang="en-US" sz="9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ProductRepository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repo;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4875642" y="3078962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4875642" y="3254657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@Transactional(readOnly=true)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읽기 최적화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4875642" y="3430353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get(Long id) {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4875642" y="3606048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repo.findById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4875642" y="3781743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.orElseThrow(EntityNotFoundException::new);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4875642" y="3957439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4875642" y="4202500"/>
            <a:ext cx="4005072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List&lt;Product&gt; listAll() { return 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repo.findAll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}</a:t>
            </a:r>
            <a:endParaRPr lang="en-US" sz="900" dirty="0"/>
          </a:p>
        </p:txBody>
      </p:sp>
      <p:sp>
        <p:nvSpPr>
          <p:cNvPr id="60" name="Text 50"/>
          <p:cNvSpPr/>
          <p:nvPr/>
        </p:nvSpPr>
        <p:spPr>
          <a:xfrm>
            <a:off x="4875642" y="4378196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Product save(Product p){ return 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repo.save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(p); }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4875642" y="4553891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delete(Long id)   { repo.</a:t>
            </a:r>
            <a:r>
              <a:rPr lang="en-US" sz="9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deleteById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(id); }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4875642" y="4729587"/>
            <a:ext cx="3895344" cy="175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 — 개념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92608" y="199149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 작명 규칙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2272440"/>
            <a:ext cx="8595360" cy="448056"/>
          </a:xfrm>
          <a:prstGeom prst="rect">
            <a:avLst/>
          </a:prstGeom>
          <a:solidFill>
            <a:srgbClr val="F5F3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8752"/>
            <a:ext cx="83210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2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24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 flipH="1">
            <a:off x="2948151" y="2623382"/>
            <a:ext cx="638504" cy="307426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0952" y="2939952"/>
            <a:ext cx="13716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0951" y="2939952"/>
            <a:ext cx="1371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동사 (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find/get/read/count</a:t>
            </a:r>
          </a:p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exists/delete)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2670048"/>
            <a:ext cx="67792" cy="26076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08272" y="2939952"/>
            <a:ext cx="88602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8272" y="2939952"/>
            <a:ext cx="886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구분자 (필수)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6497" y="2574192"/>
            <a:ext cx="220717" cy="356616"/>
          </a:xfrm>
          <a:prstGeom prst="line">
            <a:avLst/>
          </a:prstGeom>
          <a:noFill/>
          <a:ln w="15240">
            <a:solidFill>
              <a:srgbClr val="028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0014" y="2939952"/>
            <a:ext cx="860797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0014" y="2939952"/>
            <a:ext cx="860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r>
              <a:rPr lang="en-US" sz="9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필드명</a:t>
            </a:r>
            <a:endParaRPr lang="en-US" sz="9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9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엔티티필드명</a:t>
            </a:r>
            <a:r>
              <a:rPr lang="en-US" altLang="ko-KR" sz="9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3305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사용 (메서드 선언만)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305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JPA로 구현할 경우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98320"/>
            <a:ext cx="4114800" cy="148132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71472"/>
            <a:ext cx="3931920" cy="13533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MemberRepository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JpaRepository&lt;Member, Long&gt;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이것만 선언하면 끝!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</a:t>
            </a:r>
            <a:r>
              <a:rPr lang="en-US" sz="10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findByUsername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username);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find + By + 변수 이름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3598320"/>
            <a:ext cx="4251960" cy="148132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671472"/>
            <a:ext cx="4069080" cy="135331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List&lt;Member&gt; </a:t>
            </a:r>
            <a:r>
              <a:rPr lang="en-US" sz="105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findByUsernam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e(String un)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TypedQuery&lt;Member&gt; query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em.createQuery(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"SELECT m FROM Member m 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m.username = ?1",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Member.class);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query.setParameter(1, un);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query.getResultList();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5134512"/>
            <a:ext cx="8595360" cy="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5134512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Shape 2"/>
          <p:cNvSpPr/>
          <p:nvPr/>
        </p:nvSpPr>
        <p:spPr>
          <a:xfrm>
            <a:off x="256032" y="932688"/>
            <a:ext cx="8631936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3"/>
          <p:cNvSpPr/>
          <p:nvPr/>
        </p:nvSpPr>
        <p:spPr>
          <a:xfrm>
            <a:off x="384048" y="9326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정의:  </a:t>
            </a: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이름 규칙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따르면, Spring Data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JPA가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</a:t>
            </a:r>
            <a:r>
              <a:rPr lang="en-US" sz="13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쿼리를 실행하는 </a:t>
            </a: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구현체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자동으로 생성합니다.</a:t>
            </a:r>
            <a:endParaRPr lang="en-US" sz="1300" dirty="0"/>
          </a:p>
        </p:txBody>
      </p:sp>
      <p:sp>
        <p:nvSpPr>
          <p:cNvPr id="29" name="Shape 4"/>
          <p:cNvSpPr/>
          <p:nvPr/>
        </p:nvSpPr>
        <p:spPr>
          <a:xfrm>
            <a:off x="256032" y="1572768"/>
            <a:ext cx="8631936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30" name="Text 5"/>
          <p:cNvSpPr/>
          <p:nvPr/>
        </p:nvSpPr>
        <p:spPr>
          <a:xfrm>
            <a:off x="384048" y="1572768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id가 아닌 다른 조건으로 검색하고 싶다면?  예) 이름(name)으로 상품 검색, 가격(price)이 특정 금액 이하인 상품 조회 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Method:</a:t>
            </a:r>
            <a:r>
              <a:rPr lang="ko-KR" altLang="en-US" sz="2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6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이름만으로 자동 쿼리 생성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859536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07592"/>
            <a:ext cx="859536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MemberRepository.java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8321040" cy="2788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MemberRepository extends JpaRepository&lt;Member, Long&gt;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이름으로 검색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find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username);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이름과 나이 조건 (AND)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find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username, int age);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이름에 특정 문자 포함 (LIKE '%keyword%')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find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Containing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keyword);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나이 범위 (BETWEEN)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find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min, int max);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이메일로 단건 조회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Optional&lt;Member&gt; find</a:t>
            </a:r>
            <a:r>
              <a:rPr lang="en-US" sz="105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05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email);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05372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</a:t>
            </a:r>
            <a:r>
              <a:rPr lang="ko-KR" alt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이름에 사용할 수 있는 키워드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64592" y="722700"/>
            <a:ext cx="1645920" cy="235915"/>
          </a:xfrm>
          <a:prstGeom prst="rect">
            <a:avLst/>
          </a:prstGeom>
          <a:solidFill>
            <a:srgbClr val="1A237E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" y="731844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56232" y="722700"/>
            <a:ext cx="3017520" cy="235915"/>
          </a:xfrm>
          <a:prstGeom prst="rect">
            <a:avLst/>
          </a:prstGeom>
          <a:solidFill>
            <a:srgbClr val="1A237E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731844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예시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19472" y="722700"/>
            <a:ext cx="3749040" cy="235915"/>
          </a:xfrm>
          <a:prstGeom prst="rect">
            <a:avLst/>
          </a:prstGeom>
          <a:solidFill>
            <a:srgbClr val="1A237E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731844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JPQL 조건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" y="966845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975989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50" b="1" dirty="0"/>
          </a:p>
        </p:txBody>
      </p:sp>
      <p:sp>
        <p:nvSpPr>
          <p:cNvPr id="13" name="Shape 11"/>
          <p:cNvSpPr/>
          <p:nvPr/>
        </p:nvSpPr>
        <p:spPr>
          <a:xfrm>
            <a:off x="1856232" y="966845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975989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findByLastname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19472" y="966845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975989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x.lastname=?1 and x.firstname=?2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64592" y="1210990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" y="1220134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950" b="1" dirty="0"/>
          </a:p>
        </p:txBody>
      </p:sp>
      <p:sp>
        <p:nvSpPr>
          <p:cNvPr id="19" name="Shape 17"/>
          <p:cNvSpPr/>
          <p:nvPr/>
        </p:nvSpPr>
        <p:spPr>
          <a:xfrm>
            <a:off x="1856232" y="1210990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1220134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findByLastname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919472" y="1210990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220134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x.lastname=?1 or x.firstname=?2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164592" y="1455134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" y="1464278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LessThan</a:t>
            </a:r>
            <a:endParaRPr lang="en-US" sz="950" b="1" dirty="0"/>
          </a:p>
        </p:txBody>
      </p:sp>
      <p:sp>
        <p:nvSpPr>
          <p:cNvPr id="25" name="Shape 23"/>
          <p:cNvSpPr/>
          <p:nvPr/>
        </p:nvSpPr>
        <p:spPr>
          <a:xfrm>
            <a:off x="1856232" y="1455134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1464278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LessThan</a:t>
            </a:r>
            <a:endParaRPr lang="en-US" sz="980" dirty="0">
              <a:solidFill>
                <a:srgbClr val="0070C0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919472" y="1455134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464278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&lt; ?1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164592" y="1699279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" y="1708423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LessThanEqual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56232" y="1699279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1708423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findByAgeLessThanEqual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919472" y="1699279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1708423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&lt;= ?1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64592" y="1943424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952568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</a:t>
            </a:r>
            <a:endParaRPr lang="en-US" sz="950" b="1" dirty="0"/>
          </a:p>
        </p:txBody>
      </p:sp>
      <p:sp>
        <p:nvSpPr>
          <p:cNvPr id="37" name="Shape 35"/>
          <p:cNvSpPr/>
          <p:nvPr/>
        </p:nvSpPr>
        <p:spPr>
          <a:xfrm>
            <a:off x="1856232" y="1943424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01952" y="1952568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GreaterThan</a:t>
            </a:r>
            <a:endParaRPr lang="en-US" sz="980" dirty="0">
              <a:solidFill>
                <a:srgbClr val="0070C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919472" y="1943424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1952568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&gt; ?1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164592" y="2187569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" y="2196713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GreaterThanEqual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56232" y="2187569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2196713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findByAgeGreaterThanEqual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4919472" y="2187569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2196713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&gt;= ?1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164592" y="2431714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2440858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56232" y="2431714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01952" y="2440858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findByStartDateAfter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919472" y="2431714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2440858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x.startDate &gt; ?1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164592" y="2675858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" y="2685002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56232" y="2675858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01952" y="2685002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findByStartDateBefore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4919472" y="2675858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65192" y="2685002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x.startDate &lt; ?1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164592" y="2920003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0312" y="2929147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 / Null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856232" y="2920003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01952" y="2929147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findByAge(Is)Null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4919472" y="2920003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65192" y="2929147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is null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164592" y="3164148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0312" y="3173292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IsNotNull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856232" y="3164148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01952" y="3173292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findByAge(Is)NotNull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4919472" y="3164148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65192" y="3173292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is not null</a:t>
            </a:r>
            <a:endParaRPr lang="en-US" sz="980" dirty="0"/>
          </a:p>
        </p:txBody>
      </p:sp>
      <p:sp>
        <p:nvSpPr>
          <p:cNvPr id="71" name="Shape 69"/>
          <p:cNvSpPr/>
          <p:nvPr/>
        </p:nvSpPr>
        <p:spPr>
          <a:xfrm>
            <a:off x="164592" y="3408293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0312" y="3417437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856232" y="3408293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01952" y="3417437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findByFirstnameLike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4919472" y="3408293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65192" y="3417437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x.firstname like ?1</a:t>
            </a:r>
            <a:endParaRPr lang="en-US" sz="980" dirty="0"/>
          </a:p>
        </p:txBody>
      </p:sp>
      <p:sp>
        <p:nvSpPr>
          <p:cNvPr id="77" name="Shape 75"/>
          <p:cNvSpPr/>
          <p:nvPr/>
        </p:nvSpPr>
        <p:spPr>
          <a:xfrm>
            <a:off x="164592" y="3652438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0312" y="3661582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StartingWith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856232" y="3652438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01952" y="3661582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findByFirstnameStartingWith</a:t>
            </a:r>
            <a:endParaRPr lang="en-US" sz="980" dirty="0"/>
          </a:p>
        </p:txBody>
      </p:sp>
      <p:sp>
        <p:nvSpPr>
          <p:cNvPr id="81" name="Shape 79"/>
          <p:cNvSpPr/>
          <p:nvPr/>
        </p:nvSpPr>
        <p:spPr>
          <a:xfrm>
            <a:off x="4919472" y="3652438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965192" y="3661582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x.firstname like '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?1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%'  (한성*)</a:t>
            </a:r>
            <a:endParaRPr lang="en-US" sz="980" dirty="0"/>
          </a:p>
        </p:txBody>
      </p:sp>
      <p:sp>
        <p:nvSpPr>
          <p:cNvPr id="83" name="Shape 81"/>
          <p:cNvSpPr/>
          <p:nvPr/>
        </p:nvSpPr>
        <p:spPr>
          <a:xfrm>
            <a:off x="164592" y="3896582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0312" y="3905726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EndingWith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856232" y="3896582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01952" y="3905726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findByFirstnameEndingWith</a:t>
            </a:r>
            <a:endParaRPr lang="en-US" sz="980" dirty="0"/>
          </a:p>
        </p:txBody>
      </p:sp>
      <p:sp>
        <p:nvSpPr>
          <p:cNvPr id="87" name="Shape 85"/>
          <p:cNvSpPr/>
          <p:nvPr/>
        </p:nvSpPr>
        <p:spPr>
          <a:xfrm>
            <a:off x="4919472" y="3896582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65192" y="3905726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x.firstname like '%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?1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 (*한성)</a:t>
            </a:r>
            <a:endParaRPr lang="en-US" sz="980" dirty="0"/>
          </a:p>
        </p:txBody>
      </p:sp>
      <p:sp>
        <p:nvSpPr>
          <p:cNvPr id="89" name="Shape 87"/>
          <p:cNvSpPr/>
          <p:nvPr/>
        </p:nvSpPr>
        <p:spPr>
          <a:xfrm>
            <a:off x="164592" y="4140727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0312" y="4149871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Containing</a:t>
            </a:r>
            <a:endParaRPr lang="en-US" sz="950" b="1" dirty="0"/>
          </a:p>
        </p:txBody>
      </p:sp>
      <p:sp>
        <p:nvSpPr>
          <p:cNvPr id="91" name="Shape 89"/>
          <p:cNvSpPr/>
          <p:nvPr/>
        </p:nvSpPr>
        <p:spPr>
          <a:xfrm>
            <a:off x="1856232" y="4140727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901952" y="4149871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findByFirstname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</a:t>
            </a:r>
            <a:endParaRPr lang="en-US" sz="980" dirty="0">
              <a:solidFill>
                <a:srgbClr val="0070C0"/>
              </a:solidFill>
            </a:endParaRPr>
          </a:p>
        </p:txBody>
      </p:sp>
      <p:sp>
        <p:nvSpPr>
          <p:cNvPr id="93" name="Shape 91"/>
          <p:cNvSpPr/>
          <p:nvPr/>
        </p:nvSpPr>
        <p:spPr>
          <a:xfrm>
            <a:off x="4919472" y="4140727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965192" y="4149871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x.firstname like '%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?1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%'  (*한성*)</a:t>
            </a:r>
            <a:endParaRPr lang="en-US" sz="980" dirty="0"/>
          </a:p>
        </p:txBody>
      </p:sp>
      <p:sp>
        <p:nvSpPr>
          <p:cNvPr id="95" name="Shape 93"/>
          <p:cNvSpPr/>
          <p:nvPr/>
        </p:nvSpPr>
        <p:spPr>
          <a:xfrm>
            <a:off x="164592" y="4384872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10312" y="4394016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endParaRPr lang="en-US" sz="950" b="1" dirty="0"/>
          </a:p>
        </p:txBody>
      </p:sp>
      <p:sp>
        <p:nvSpPr>
          <p:cNvPr id="97" name="Shape 95"/>
          <p:cNvSpPr/>
          <p:nvPr/>
        </p:nvSpPr>
        <p:spPr>
          <a:xfrm>
            <a:off x="1856232" y="4384872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01952" y="4394016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</a:t>
            </a:r>
            <a:r>
              <a:rPr lang="en-US" sz="98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OrderBy</a:t>
            </a: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LastnameDesc</a:t>
            </a:r>
            <a:endParaRPr lang="en-US" sz="980" dirty="0"/>
          </a:p>
        </p:txBody>
      </p:sp>
      <p:sp>
        <p:nvSpPr>
          <p:cNvPr id="99" name="Shape 97"/>
          <p:cNvSpPr/>
          <p:nvPr/>
        </p:nvSpPr>
        <p:spPr>
          <a:xfrm>
            <a:off x="4919472" y="4384872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65192" y="4394016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x.age=?1 order by x.lastname desc</a:t>
            </a:r>
            <a:endParaRPr lang="en-US" sz="980" dirty="0"/>
          </a:p>
        </p:txBody>
      </p:sp>
      <p:sp>
        <p:nvSpPr>
          <p:cNvPr id="101" name="Shape 99"/>
          <p:cNvSpPr/>
          <p:nvPr/>
        </p:nvSpPr>
        <p:spPr>
          <a:xfrm>
            <a:off x="164592" y="4629017"/>
            <a:ext cx="16459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0312" y="4638161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1856232" y="4629017"/>
            <a:ext cx="301752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901952" y="4638161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findByLastnameNot</a:t>
            </a:r>
            <a:endParaRPr lang="en-US" sz="980" dirty="0"/>
          </a:p>
        </p:txBody>
      </p:sp>
      <p:sp>
        <p:nvSpPr>
          <p:cNvPr id="105" name="Shape 103"/>
          <p:cNvSpPr/>
          <p:nvPr/>
        </p:nvSpPr>
        <p:spPr>
          <a:xfrm>
            <a:off x="4919472" y="4629017"/>
            <a:ext cx="3749040" cy="235915"/>
          </a:xfrm>
          <a:prstGeom prst="rect">
            <a:avLst/>
          </a:prstGeom>
          <a:solidFill>
            <a:srgbClr val="FFFFFF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965192" y="4638161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x.lastname &lt;&gt; ?1</a:t>
            </a:r>
            <a:endParaRPr lang="en-US" sz="980" dirty="0"/>
          </a:p>
        </p:txBody>
      </p:sp>
      <p:sp>
        <p:nvSpPr>
          <p:cNvPr id="107" name="Shape 105"/>
          <p:cNvSpPr/>
          <p:nvPr/>
        </p:nvSpPr>
        <p:spPr>
          <a:xfrm>
            <a:off x="164592" y="4873162"/>
            <a:ext cx="16459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0312" y="4882306"/>
            <a:ext cx="15727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856232" y="4873162"/>
            <a:ext cx="301752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901952" y="4882306"/>
            <a:ext cx="294436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findByAgeIn(Collection&lt;Age&gt;)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4919472" y="4873162"/>
            <a:ext cx="3749040" cy="235915"/>
          </a:xfrm>
          <a:prstGeom prst="rect">
            <a:avLst/>
          </a:prstGeom>
          <a:solidFill>
            <a:srgbClr val="F1F5F9"/>
          </a:solidFill>
          <a:ln w="2794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65192" y="4882306"/>
            <a:ext cx="3675888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x.age in ?1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활용 예시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게시판(Board) 예시로 살펴보는 Query Method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12565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13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99974"/>
            <a:ext cx="8595360" cy="168123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99974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9997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</a:t>
            </a: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content에 특정 단어가 포함된 글 목록 조회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01726"/>
            <a:ext cx="8412480" cy="131673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BoardRepository extends JpaRepository&lt;Board, Long&gt; {</a:t>
            </a:r>
            <a:endParaRPr lang="en-US" sz="1050" dirty="0"/>
          </a:p>
          <a:p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List&lt;Board&gt; </a:t>
            </a:r>
            <a:r>
              <a:rPr lang="en-US" altLang="ko-KR" sz="105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altLang="ko-KR" sz="1050" dirty="0" err="1" smtClean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altLang="ko-KR" sz="1050" dirty="0" err="1" smtClean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altLang="ko-KR" sz="1050" dirty="0" err="1" smtClean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ContainingOr</a:t>
            </a:r>
            <a:r>
              <a:rPr lang="en-US" altLang="ko-KR" sz="1050" dirty="0" err="1" smtClean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altLang="ko-KR" sz="1050" dirty="0" err="1" smtClean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Containing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String content);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테스트 코드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List&lt;Board&gt; list = repo.findByTitleContainingOrContentContaining("17", "17");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list.forEach(b -&gt; System.out.println(b.toString()));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335552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AND + </a:t>
            </a:r>
            <a:r>
              <a:rPr lang="en-US" sz="1300" b="1" dirty="0" err="1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GreaterThan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629846"/>
            <a:ext cx="8595360" cy="126187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629846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62984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이름이 같고 나이가 특정 값보다 큰 회원 조회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931598"/>
            <a:ext cx="8412480" cy="9052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Data JPA — 선언만!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MemberRepository extends JpaRepository&lt;Member, Long&gt; {</a:t>
            </a:r>
            <a:endParaRPr lang="en-US" sz="1050" dirty="0"/>
          </a:p>
          <a:p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List&lt;Member&gt; </a:t>
            </a:r>
            <a:r>
              <a:rPr lang="en-US" altLang="ko-KR" sz="105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altLang="ko-KR" sz="1050" dirty="0" err="1" smtClean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altLang="ko-KR" sz="1050" dirty="0" err="1" smtClean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r>
              <a:rPr lang="en-US" altLang="ko-KR" sz="1050" dirty="0" err="1" smtClean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altLang="ko-KR" sz="1050" dirty="0" err="1" smtClean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altLang="ko-KR" sz="1050" dirty="0" err="1" smtClean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int age);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반환 타입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대신 Page&lt;T&gt;를 쓰면 페이징 메타 정보까지 함께 제공됩니다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88136"/>
            <a:ext cx="8595360" cy="1728216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88136"/>
            <a:ext cx="8595360" cy="2987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88136"/>
            <a:ext cx="841248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 사용 예시 — BoardRepository + 테스트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8412480" cy="131216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Repository: 반환 타입을 Page&lt;T&gt;로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BoardRepository extends JpaRepository&lt;Board, Long&gt;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Page&lt;Board&gt;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findByTitleContaining(String keyword, Pageable paging);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테스트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Pageable paging = PageRequest.of(0, 5, Sort.Direction.DESC, "seq");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7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Page&lt;Board&gt; pageInfo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repo.findByTitleContaining("한성대", paging);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87121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Page&lt;T&gt;가 제공하는 메타 정보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163824"/>
            <a:ext cx="4114800" cy="1600200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163824"/>
            <a:ext cx="411480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163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 메서드 활용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27740"/>
            <a:ext cx="3931920" cy="124358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페이지 정보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pageInfo.getSize();          // →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pageInfo.getTotalPages();    // → 40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pageInfo.getTotalElements(); // → 200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데이터 목록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List&lt;Board&gt; list = pageInfo.getContent();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list.forEach(b -&gt; System.out.println(b));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3163824"/>
            <a:ext cx="4297680" cy="16002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2004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Page&lt;Board&gt; 객체 구조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493008"/>
            <a:ext cx="4114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content: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[Board1, Board2, Board3, Board4, Board5]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803904"/>
            <a:ext cx="4114800" cy="2743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803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1148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totalPages: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425696"/>
            <a:ext cx="4114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425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totalElements: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  =  데이터 목록(getContent())  +  페이지 메타정보(getSize / getTotalPages / getTotalElements)  +  탐색 정보(isFirst / isLast / hasNext)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@Query 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어노테이션 — 소개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4320" y="752645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이름으로 표현하기 어려운 복잡한 쿼리를 직접 작성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056288"/>
            <a:ext cx="859536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457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Method로 표현이 어려운 상황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294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findByFirstnameStartingWithAndAgeGreaterThanEqualAndStatusNotAndCreatedDateBetween...  </a:t>
            </a:r>
            <a:endParaRPr lang="en-US" sz="1150" dirty="0" smtClean="0">
              <a:solidFill>
                <a:srgbClr val="DC2626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5042" y="17272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사용법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00958"/>
            <a:ext cx="8595360" cy="65836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4110"/>
            <a:ext cx="8412480" cy="53035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u from User u where u.email=?1 and u.password=?2")</a:t>
            </a:r>
            <a:endParaRPr lang="en-US" sz="12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findByEmailAndPassword(String email, String password);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76905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이란?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61662"/>
            <a:ext cx="1463040" cy="36576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306166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3061662"/>
            <a:ext cx="3657600" cy="36576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7944" y="306166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(Java Persistence Query Language)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061662"/>
            <a:ext cx="3200400" cy="365760"/>
          </a:xfrm>
          <a:prstGeom prst="rect">
            <a:avLst/>
          </a:prstGeom>
          <a:solidFill>
            <a:srgbClr val="1A237E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306166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45710"/>
            <a:ext cx="146304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44571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3445710"/>
            <a:ext cx="365760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344571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 클래스명, 필드명 사용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3445710"/>
            <a:ext cx="320040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344571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테이블명, 컬럼명 사용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29758"/>
            <a:ext cx="146304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82975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3829758"/>
            <a:ext cx="3657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37944" y="382975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 FROM Board b WHERE b.title LIKE %?1%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3829758"/>
            <a:ext cx="32004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382975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board WHERE title LIKE '%?1%'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13806"/>
            <a:ext cx="146304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421380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83080" y="4213806"/>
            <a:ext cx="365760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37944" y="421380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종류에 무관 (플랫폼 독립적)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4213806"/>
            <a:ext cx="3200400" cy="365760"/>
          </a:xfrm>
          <a:prstGeom prst="rect">
            <a:avLst/>
          </a:prstGeom>
          <a:solidFill>
            <a:srgbClr val="F1F5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421380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특정 DB에 종속될 수 있음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597854"/>
            <a:ext cx="146304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459785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대소문자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83080" y="4597854"/>
            <a:ext cx="36576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37944" y="459785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엔티티/필드명 대소문자 구분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4597854"/>
            <a:ext cx="3200400" cy="365760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264" y="459785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설정에 따라 다름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5000190"/>
            <a:ext cx="8595360" cy="7315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5000190"/>
            <a:ext cx="8412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— JPQL 위치/이름 기반 파라미터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463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Parameter (?1) vs Named Parameter (@Param)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위치 기반 파라미터 (Positional Parameter Binding)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1917718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98448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BoardRepository.java — ?1, ?2 ... 순서 기반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00199"/>
            <a:ext cx="8412480" cy="1552903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BoardRepository extends JpaRepository&lt;Board, Long&gt;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b FROM Board b </a:t>
            </a:r>
            <a:r>
              <a:rPr lang="en-US" sz="105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b.title like %</a:t>
            </a:r>
            <a:r>
              <a:rPr lang="en-US" sz="105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?1</a:t>
            </a:r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ORDER BY b.seq DESC")</a:t>
            </a:r>
            <a:endParaRPr lang="en-US" sz="10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List&lt;Board&gt; </a:t>
            </a:r>
            <a:r>
              <a:rPr lang="en-US" sz="10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queryAnnotationTest1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</a:t>
            </a:r>
            <a:r>
              <a:rPr lang="en-US" sz="105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searchKeyword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</a:t>
            </a:r>
            <a:r>
              <a:rPr lang="en-US" altLang="ko-KR" sz="90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altLang="ko-KR" sz="90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JPQL</a:t>
            </a:r>
            <a:r>
              <a:rPr lang="en-US" altLang="ko-KR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은</a:t>
            </a:r>
            <a:r>
              <a:rPr lang="en-US" altLang="ko-KR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엔티티명</a:t>
            </a:r>
            <a:r>
              <a:rPr lang="en-US" altLang="ko-KR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(Board)과 </a:t>
            </a:r>
            <a:r>
              <a:rPr lang="en-US" altLang="ko-KR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필드명</a:t>
            </a:r>
            <a:r>
              <a:rPr lang="en-US" altLang="ko-KR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(title, </a:t>
            </a:r>
            <a:r>
              <a:rPr lang="en-US" altLang="ko-KR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r>
              <a:rPr lang="en-US" altLang="ko-KR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altLang="ko-KR" sz="90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</a:t>
            </a:r>
            <a:r>
              <a:rPr lang="en-US" altLang="ko-KR" sz="90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대소문자</a:t>
            </a:r>
            <a:r>
              <a:rPr lang="en-US" altLang="ko-KR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90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테스트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List&lt;Board&gt; list = repo.</a:t>
            </a:r>
            <a:r>
              <a:rPr lang="en-US" sz="10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queryAnnotationTest1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("한성대");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list.forEach(b -&gt; 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b.toString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33454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이름 기반 파라미터 (Named Parameter Binding — 권장)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638048"/>
            <a:ext cx="8595360" cy="1356467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638048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638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BoardRepository.java — :paramName 기반 (가독성 좋음)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939800"/>
            <a:ext cx="8412480" cy="105471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BoardRepository extends JpaRepository&lt;Board, Long&gt;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b FROM Board b </a:t>
            </a:r>
            <a:r>
              <a:rPr lang="en-US" sz="1050" dirty="0" smtClean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b.title like %</a:t>
            </a:r>
            <a:r>
              <a:rPr lang="en-US" sz="105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:searchKeyword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ORDER BY b.seq DESC")</a:t>
            </a:r>
            <a:endParaRPr lang="en-US" sz="105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List&lt;Board&gt; queryAnnotationTest1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smtClean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05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Param("searchKeyword")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searchKeyword);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smtClean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2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— Native SQL (nativeQuery = true)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1480" y="7589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JPQL이 아닌 실제 SQL 쿼리를 직접 작성할 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124712"/>
            <a:ext cx="8595360" cy="356616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0185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사용?  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벤더 전용 함수 사용 (MySQL의 DATE_FORMAT 등) /  복잡한 집계 쿼리 / JPQL로 표현 불가능한 문법이 필요할 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1627632"/>
          </a:xfrm>
          <a:prstGeom prst="rect">
            <a:avLst/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72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BoardRepository.java — nativeQuery = true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412480" cy="12710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BoardRepository extends JpaRepository&lt;Board, Long&gt; {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@Query(value = "select seq, title from board 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like </a:t>
            </a:r>
            <a:r>
              <a:rPr lang="en-US" sz="1050" dirty="0" err="1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(‘%’,</a:t>
            </a:r>
            <a:r>
              <a:rPr lang="en-US" sz="1050" dirty="0" smtClean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:keyword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‘%’) order by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desc",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0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nativeQuery = 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// ← SQL 직접 작성!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List&lt;Object[]&gt; queryAnnotationTest2</a:t>
            </a:r>
            <a:r>
              <a:rPr lang="en-US" sz="1050" dirty="0" smtClean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(@</a:t>
            </a:r>
            <a:r>
              <a:rPr lang="en-US" sz="1050" dirty="0" err="1" smtClean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50" dirty="0" smtClean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(“keyword”) </a:t>
            </a:r>
            <a:r>
              <a:rPr lang="en-US" sz="1050" dirty="0" smtClean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searchKeyword);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291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vs Native SQL 비교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621024"/>
            <a:ext cx="4114800" cy="1426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621024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210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DB 독립적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(플랫폼 무관)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엔티티 객체로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매핑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400507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복잡한 SQL 표현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621024"/>
            <a:ext cx="4114800" cy="14264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621024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6210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8888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DB 전용 기능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가능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기존 SQL 재사용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20840" y="400507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특정 DB에 종속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될 수 있음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5084064"/>
            <a:ext cx="8595360" cy="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5084064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/>
          </a:lstStyle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886968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0292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0972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DAO의 문제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4475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Entity마다</a:t>
            </a: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CRUD 코드 반복.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보일러플레이트 코드 증가.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0584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05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0972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해결책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44475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 선언만으로 CRUD 자동 생성.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클래스 필요 없음.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22576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22576"/>
            <a:ext cx="502920" cy="1188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22576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24140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계층 구조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276148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PagingAndSorting → JpaRepository.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실무에서는 JpaRepository 권장.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322576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322576"/>
            <a:ext cx="5029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22576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24140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761488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findByName() → 자동 JPQL 생성.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조합으로 다양한 조건 표현.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639312"/>
            <a:ext cx="50292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3931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0120" y="3730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Sorting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0782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PageRequest.of(page, size, Sort).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Page&lt;T&gt;로 페이징 메타정보 제공.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639312"/>
            <a:ext cx="420624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639312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63931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37307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 어노테이션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94960" y="4078224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JPQL/Native SQL 직접 작성.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위치/이름 파라미터 바인딩 지원.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2726</Words>
  <Application>Microsoft Office PowerPoint</Application>
  <PresentationFormat>화면 슬라이드 쇼(16:9)</PresentationFormat>
  <Paragraphs>612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Data JPA</dc:title>
  <dc:subject>PptxGenJS Presentation</dc:subject>
  <dc:creator>PptxGenJS</dc:creator>
  <cp:lastModifiedBy>Hansung</cp:lastModifiedBy>
  <cp:revision>33</cp:revision>
  <dcterms:created xsi:type="dcterms:W3CDTF">2026-05-08T06:25:23Z</dcterms:created>
  <dcterms:modified xsi:type="dcterms:W3CDTF">2026-05-11T08:59:39Z</dcterms:modified>
</cp:coreProperties>
</file>