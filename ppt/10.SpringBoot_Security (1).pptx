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96" r:id="rId4"/>
    <p:sldId id="259" r:id="rId5"/>
    <p:sldId id="260" r:id="rId6"/>
    <p:sldId id="261" r:id="rId7"/>
    <p:sldId id="294" r:id="rId8"/>
    <p:sldId id="297" r:id="rId9"/>
    <p:sldId id="295" r:id="rId10"/>
    <p:sldId id="291" r:id="rId11"/>
    <p:sldId id="298" r:id="rId12"/>
    <p:sldId id="299" r:id="rId13"/>
    <p:sldId id="265" r:id="rId14"/>
    <p:sldId id="266" r:id="rId15"/>
    <p:sldId id="267" r:id="rId16"/>
    <p:sldId id="304" r:id="rId17"/>
    <p:sldId id="268" r:id="rId18"/>
    <p:sldId id="269" r:id="rId19"/>
    <p:sldId id="307" r:id="rId20"/>
    <p:sldId id="305" r:id="rId21"/>
    <p:sldId id="306" r:id="rId22"/>
    <p:sldId id="300" r:id="rId23"/>
    <p:sldId id="270" r:id="rId24"/>
    <p:sldId id="303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33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38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59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32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77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65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89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95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9265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47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61698"/>
            <a:ext cx="20574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6169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Boot 4.0.6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2961698"/>
            <a:ext cx="205740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96169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Security 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961698"/>
            <a:ext cx="20574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96169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jjwt 0.12</a:t>
            </a:r>
            <a:endParaRPr lang="en-US" sz="11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AD4AD3C2-095D-4168-8C69-9D59E0752A83}"/>
              </a:ext>
            </a:extLst>
          </p:cNvPr>
          <p:cNvSpPr/>
          <p:nvPr/>
        </p:nvSpPr>
        <p:spPr>
          <a:xfrm>
            <a:off x="502920" y="4402836"/>
            <a:ext cx="50292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A4DC7435-6067-4151-86C4-1741038B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75988"/>
            <a:ext cx="274320" cy="274320"/>
          </a:xfrm>
          <a:prstGeom prst="rect">
            <a:avLst/>
          </a:prstGeom>
        </p:spPr>
      </p:pic>
      <p:sp>
        <p:nvSpPr>
          <p:cNvPr id="28" name="Text 7">
            <a:extLst>
              <a:ext uri="{FF2B5EF4-FFF2-40B4-BE49-F238E27FC236}">
                <a16:creationId xmlns:a16="http://schemas.microsoft.com/office/drawing/2014/main" id="{F4F6FE60-1A58-4D19-8D65-F22F9E31E10E}"/>
              </a:ext>
            </a:extLst>
          </p:cNvPr>
          <p:cNvSpPr/>
          <p:nvPr/>
        </p:nvSpPr>
        <p:spPr>
          <a:xfrm>
            <a:off x="978408" y="440283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https://github.com/stelladream/hello-spring-security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기반 인증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기본 </a:t>
            </a:r>
            <a:r>
              <a:rPr lang="en-US" sz="16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</a:t>
            </a: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32004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spring-boot-starter-security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73798"/>
            <a:ext cx="9144000" cy="388620"/>
          </a:xfrm>
          <a:prstGeom prst="rect">
            <a:avLst/>
          </a:prstGeom>
          <a:solidFill>
            <a:srgbClr val="162638"/>
          </a:solidFill>
          <a:ln w="12700">
            <a:solidFill>
              <a:srgbClr val="16263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Session 기반 인증 동작 원리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1206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시 세션 생성 → JSESSIONID 쿠키 발급 → 이후 요청마다 쿠키로 자동 인증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3076792"/>
            <a:ext cx="1828800" cy="329184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30767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  이후 요청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951932"/>
            <a:ext cx="86319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lgDash"/>
          </a:ln>
        </p:spPr>
      </p:sp>
      <p:sp>
        <p:nvSpPr>
          <p:cNvPr id="9" name="Shape 7"/>
          <p:cNvSpPr/>
          <p:nvPr/>
        </p:nvSpPr>
        <p:spPr>
          <a:xfrm>
            <a:off x="256032" y="1211416"/>
            <a:ext cx="1920240" cy="1451410"/>
          </a:xfrm>
          <a:prstGeom prst="rect">
            <a:avLst/>
          </a:prstGeom>
          <a:solidFill>
            <a:srgbClr val="1A2E4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211416"/>
            <a:ext cx="1920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2114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Browser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13752"/>
            <a:ext cx="1700784" cy="1027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alice@...
password: ●●●●●●</a:t>
            </a:r>
          </a:p>
          <a:p>
            <a:pPr marL="0" indent="0">
              <a:buNone/>
            </a:pPr>
            <a:endParaRPr lang="en-US" sz="900" dirty="0">
              <a:solidFill>
                <a:srgbClr val="94A3B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500" dirty="0">
                <a:solidFill>
                  <a:srgbClr val="000000"/>
                </a:solidFill>
              </a:rPr>
              <a:t>
</a:t>
            </a:r>
            <a:r>
              <a:rPr lang="en-US" sz="1000" dirty="0">
                <a:solidFill>
                  <a:srgbClr val="FFC000"/>
                </a:solidFill>
              </a:rPr>
              <a:t>🍪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JSESSIONID = abc123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3497416"/>
            <a:ext cx="1920240" cy="1012497"/>
          </a:xfrm>
          <a:prstGeom prst="rect">
            <a:avLst/>
          </a:prstGeom>
          <a:solidFill>
            <a:srgbClr val="1A2E4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497416"/>
            <a:ext cx="1920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34974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Browser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68496"/>
            <a:ext cx="1700784" cy="51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C000"/>
                </a:solidFill>
              </a:rPr>
              <a:t>🍪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JSESSIONID = abc123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(쿠키 자동 전송)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1261872"/>
            <a:ext cx="2779776" cy="3423640"/>
          </a:xfrm>
          <a:prstGeom prst="rect">
            <a:avLst/>
          </a:prstGeom>
          <a:solidFill>
            <a:srgbClr val="1A2E46"/>
          </a:solidFill>
          <a:ln w="1524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1211416"/>
            <a:ext cx="2779776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21141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Server (Spring Boot)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1668615"/>
            <a:ext cx="2487168" cy="505407"/>
          </a:xfrm>
          <a:prstGeom prst="rect">
            <a:avLst/>
          </a:prstGeom>
          <a:solidFill>
            <a:srgbClr val="0F1E30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723480"/>
            <a:ext cx="2340864" cy="450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0B981"/>
                </a:solidFill>
              </a:rPr>
              <a:t>인증</a:t>
            </a:r>
            <a:r>
              <a:rPr lang="en-US" sz="1000" b="1" dirty="0">
                <a:solidFill>
                  <a:srgbClr val="10B981"/>
                </a:solidFill>
              </a:rPr>
              <a:t> 처리
</a:t>
            </a: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UserDetailsService → </a:t>
            </a:r>
            <a:r>
              <a:rPr lang="ko-KR" alt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패스워드</a:t>
            </a: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2436712"/>
            <a:ext cx="2487168" cy="969264"/>
          </a:xfrm>
          <a:prstGeom prst="rect">
            <a:avLst/>
          </a:prstGeom>
          <a:solidFill>
            <a:srgbClr val="1E0A4A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436712"/>
            <a:ext cx="2487168" cy="3108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43671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🗄  Session Store (서버 메모리)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27648" y="2802472"/>
            <a:ext cx="2340864" cy="590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JSESSIONID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abc123
  → email: alice@...
  → roles: [ROLE_USER]
  → 만료시간: 30분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3768585"/>
            <a:ext cx="2487168" cy="786384"/>
          </a:xfrm>
          <a:prstGeom prst="rect">
            <a:avLst/>
          </a:prstGeom>
          <a:solidFill>
            <a:srgbClr val="0F1E30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823449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891B2"/>
                </a:solidFill>
              </a:rPr>
              <a:t>세션</a:t>
            </a:r>
            <a:r>
              <a:rPr lang="en-US" sz="1000" b="1" dirty="0">
                <a:solidFill>
                  <a:srgbClr val="0891B2"/>
                </a:solidFill>
              </a:rPr>
              <a:t> 조회 → 인증 확인
</a:t>
            </a: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세션 유효 → 요청 처리 → 응답 반환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76272" y="1705192"/>
            <a:ext cx="393192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5998464" y="162289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1385153"/>
            <a:ext cx="1828800" cy="265175"/>
          </a:xfrm>
          <a:prstGeom prst="rect">
            <a:avLst/>
          </a:prstGeom>
          <a:solidFill>
            <a:srgbClr val="0D1825"/>
          </a:solidFill>
          <a:ln w="12700">
            <a:solidFill>
              <a:srgbClr val="0D1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1332775"/>
            <a:ext cx="1828800" cy="31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① POST /login  { email, password 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76272" y="2290408"/>
            <a:ext cx="393192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121408" y="2208112"/>
            <a:ext cx="164592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36392" y="2363560"/>
            <a:ext cx="2011680" cy="413968"/>
          </a:xfrm>
          <a:prstGeom prst="rect">
            <a:avLst/>
          </a:prstGeom>
          <a:solidFill>
            <a:srgbClr val="0D1825"/>
          </a:solidFill>
          <a:ln w="12700">
            <a:solidFill>
              <a:srgbClr val="0D1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36392" y="2363560"/>
            <a:ext cx="2011680" cy="39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② HTTP 200  </a:t>
            </a:r>
          </a:p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</a:rPr>
              <a:t>Set-Cookie: JSESSIONID=abc123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76272" y="3863176"/>
            <a:ext cx="393192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5998464" y="378088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3381032"/>
            <a:ext cx="1828800" cy="427280"/>
          </a:xfrm>
          <a:prstGeom prst="rect">
            <a:avLst/>
          </a:prstGeom>
          <a:solidFill>
            <a:srgbClr val="0D1825"/>
          </a:solidFill>
          <a:ln w="12700">
            <a:solidFill>
              <a:srgbClr val="0D1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392663"/>
            <a:ext cx="1828800" cy="41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③ GET /home   </a:t>
            </a:r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Cookie: JSESSIONID=abc123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76272" y="4268945"/>
            <a:ext cx="3931920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2203704" y="4189873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2158" y="4349298"/>
            <a:ext cx="2011680" cy="219456"/>
          </a:xfrm>
          <a:prstGeom prst="rect">
            <a:avLst/>
          </a:prstGeom>
          <a:solidFill>
            <a:srgbClr val="0D1825"/>
          </a:solidFill>
          <a:ln w="12700">
            <a:solidFill>
              <a:srgbClr val="0D18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2158" y="434929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④ HTTP 200  홈 페이지 응답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6032" y="4745736"/>
            <a:ext cx="8631936" cy="310896"/>
          </a:xfrm>
          <a:prstGeom prst="rect">
            <a:avLst/>
          </a:prstGeom>
          <a:solidFill>
            <a:srgbClr val="1E293B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4745736"/>
            <a:ext cx="84856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🔑  핵심: </a:t>
            </a:r>
            <a:r>
              <a:rPr lang="en-US" sz="1000" dirty="0">
                <a:solidFill>
                  <a:srgbClr val="FFFFFF"/>
                </a:solidFill>
              </a:rPr>
              <a:t>세션은 서버 메모리에 저장 (Stateful)  |  브라우저는 JSESSIONID 쿠키만 보관  |  매 요청마다 쿠키를 </a:t>
            </a:r>
            <a:r>
              <a:rPr lang="en-US" sz="1000" dirty="0" err="1">
                <a:solidFill>
                  <a:srgbClr val="FFFFFF"/>
                </a:solidFill>
              </a:rPr>
              <a:t>자동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err="1">
                <a:solidFill>
                  <a:srgbClr val="FFFFFF"/>
                </a:solidFill>
              </a:rPr>
              <a:t>전송</a:t>
            </a:r>
            <a:r>
              <a:rPr lang="en-US" sz="1000" dirty="0">
                <a:solidFill>
                  <a:srgbClr val="FFFFFF"/>
                </a:solidFill>
              </a:rPr>
              <a:t>. 서버가 세션을 조회하여 인증 확인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896126" y="1436233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84617" y="240299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</a:rPr>
              <a:t>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98648" y="353231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③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98648" y="436758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④</a:t>
            </a:r>
            <a:endParaRPr lang="en-US" sz="1000" dirty="0"/>
          </a:p>
        </p:txBody>
      </p:sp>
      <p:sp>
        <p:nvSpPr>
          <p:cNvPr id="50" name="Shape 2"/>
          <p:cNvSpPr/>
          <p:nvPr/>
        </p:nvSpPr>
        <p:spPr>
          <a:xfrm>
            <a:off x="256032" y="841248"/>
            <a:ext cx="1828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3"/>
          <p:cNvSpPr/>
          <p:nvPr/>
        </p:nvSpPr>
        <p:spPr>
          <a:xfrm>
            <a:off x="256032" y="841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  로그인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2957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42062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96112" y="237744"/>
            <a:ext cx="790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개요 — 핵심 3요소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32688"/>
            <a:ext cx="2724912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32688"/>
            <a:ext cx="272491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326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🔐  Authentication (인증)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371600"/>
            <a:ext cx="254203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Who are you?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사용자 신원을 확인하는 과정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Username+Password, OAuth2 </a:t>
            </a:r>
            <a:r>
              <a:rPr lang="ko-KR" altLang="en-US" sz="1200" dirty="0">
                <a:solidFill>
                  <a:srgbClr val="162638"/>
                </a:solidFill>
              </a:rPr>
              <a:t>등</a:t>
            </a:r>
            <a:endParaRPr lang="en-US" sz="1200" dirty="0"/>
          </a:p>
          <a:p>
            <a:endParaRPr lang="en-US" altLang="ko-KR" sz="1200" dirty="0">
              <a:solidFill>
                <a:srgbClr val="162638"/>
              </a:solidFill>
            </a:endParaRPr>
          </a:p>
          <a:p>
            <a:r>
              <a:rPr lang="ko-KR" altLang="en-US" sz="1200" dirty="0">
                <a:solidFill>
                  <a:srgbClr val="162638"/>
                </a:solidFill>
              </a:rPr>
              <a:t>인증 성공 시 → </a:t>
            </a:r>
            <a:r>
              <a:rPr lang="en-US" sz="1200" dirty="0" err="1">
                <a:solidFill>
                  <a:srgbClr val="162638"/>
                </a:solidFill>
              </a:rPr>
              <a:t>SecurityContext</a:t>
            </a:r>
            <a:r>
              <a:rPr lang="ko-KR" altLang="en-US" sz="1200" dirty="0">
                <a:solidFill>
                  <a:srgbClr val="162638"/>
                </a:solidFill>
              </a:rPr>
              <a:t>에 </a:t>
            </a:r>
            <a:r>
              <a:rPr lang="en-US" sz="1200" dirty="0">
                <a:solidFill>
                  <a:srgbClr val="162638"/>
                </a:solidFill>
              </a:rPr>
              <a:t>Authentication </a:t>
            </a:r>
            <a:r>
              <a:rPr lang="ko-KR" altLang="en-US" sz="1200" dirty="0">
                <a:solidFill>
                  <a:srgbClr val="162638"/>
                </a:solidFill>
              </a:rPr>
              <a:t>객체 저장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932688"/>
            <a:ext cx="2724912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32688"/>
            <a:ext cx="2724912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9326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🛡️  Authorization (인가)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73552" y="1371600"/>
            <a:ext cx="254203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What can you do?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인증된 사용자가 특정 리소스에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접근할 권한이 있는지 확인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16752" y="932688"/>
            <a:ext cx="2724912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932688"/>
            <a:ext cx="272491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93268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🔒  Protection (보호)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08192" y="1371600"/>
            <a:ext cx="254203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CSRF, XSS, Session Fixation 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62638"/>
                </a:solidFill>
              </a:rPr>
              <a:t>일반적인 웹 </a:t>
            </a:r>
            <a:r>
              <a:rPr lang="en-US" sz="1200" dirty="0" err="1">
                <a:solidFill>
                  <a:srgbClr val="162638"/>
                </a:solidFill>
              </a:rPr>
              <a:t>공격</a:t>
            </a:r>
            <a:r>
              <a:rPr lang="ko-KR" altLang="en-US" sz="1200" dirty="0">
                <a:solidFill>
                  <a:srgbClr val="162638"/>
                </a:solidFill>
              </a:rPr>
              <a:t>에 대한 자동 방어 기능을 제공</a:t>
            </a:r>
            <a:r>
              <a:rPr lang="en-US" sz="1200" dirty="0">
                <a:solidFill>
                  <a:srgbClr val="162638"/>
                </a:solidFill>
              </a:rPr>
              <a:t> </a:t>
            </a:r>
            <a:endParaRPr lang="en-US" sz="1200" dirty="0"/>
          </a:p>
        </p:txBody>
      </p:sp>
      <p:sp>
        <p:nvSpPr>
          <p:cNvPr id="23" name="Shape 23"/>
          <p:cNvSpPr/>
          <p:nvPr/>
        </p:nvSpPr>
        <p:spPr>
          <a:xfrm>
            <a:off x="3288685" y="2103120"/>
            <a:ext cx="1024128" cy="25603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4"/>
          <p:cNvSpPr/>
          <p:nvPr/>
        </p:nvSpPr>
        <p:spPr>
          <a:xfrm>
            <a:off x="3288685" y="21031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ROLE_USER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4404253" y="2103120"/>
            <a:ext cx="1115568" cy="25603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4404253" y="2103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ROLE_ADMIN</a:t>
            </a:r>
            <a:endParaRPr lang="en-US" sz="1100" dirty="0"/>
          </a:p>
        </p:txBody>
      </p:sp>
      <p:sp>
        <p:nvSpPr>
          <p:cNvPr id="27" name="Shape 29"/>
          <p:cNvSpPr/>
          <p:nvPr/>
        </p:nvSpPr>
        <p:spPr>
          <a:xfrm>
            <a:off x="6272784" y="2194560"/>
            <a:ext cx="658368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30"/>
          <p:cNvSpPr/>
          <p:nvPr/>
        </p:nvSpPr>
        <p:spPr>
          <a:xfrm>
            <a:off x="6272784" y="21945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</a:t>
            </a:r>
            <a:endParaRPr lang="en-US" sz="1000" dirty="0"/>
          </a:p>
        </p:txBody>
      </p:sp>
      <p:sp>
        <p:nvSpPr>
          <p:cNvPr id="29" name="Text 31"/>
          <p:cNvSpPr/>
          <p:nvPr/>
        </p:nvSpPr>
        <p:spPr>
          <a:xfrm>
            <a:off x="7004304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</a:t>
            </a:r>
            <a:endParaRPr lang="en-US" sz="1100" dirty="0"/>
          </a:p>
        </p:txBody>
      </p:sp>
      <p:sp>
        <p:nvSpPr>
          <p:cNvPr id="30" name="Shape 32"/>
          <p:cNvSpPr/>
          <p:nvPr/>
        </p:nvSpPr>
        <p:spPr>
          <a:xfrm>
            <a:off x="6272784" y="2724912"/>
            <a:ext cx="658368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33"/>
          <p:cNvSpPr/>
          <p:nvPr/>
        </p:nvSpPr>
        <p:spPr>
          <a:xfrm>
            <a:off x="6272784" y="272491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1000" dirty="0"/>
          </a:p>
        </p:txBody>
      </p:sp>
      <p:sp>
        <p:nvSpPr>
          <p:cNvPr id="32" name="Text 34"/>
          <p:cNvSpPr/>
          <p:nvPr/>
        </p:nvSpPr>
        <p:spPr>
          <a:xfrm>
            <a:off x="7004304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헤더 자동 삽입</a:t>
            </a:r>
            <a:endParaRPr lang="en-US" sz="1100" dirty="0"/>
          </a:p>
        </p:txBody>
      </p:sp>
      <p:sp>
        <p:nvSpPr>
          <p:cNvPr id="33" name="Shape 35"/>
          <p:cNvSpPr/>
          <p:nvPr/>
        </p:nvSpPr>
        <p:spPr>
          <a:xfrm>
            <a:off x="6272784" y="3255264"/>
            <a:ext cx="658368" cy="38404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Text 36"/>
          <p:cNvSpPr/>
          <p:nvPr/>
        </p:nvSpPr>
        <p:spPr>
          <a:xfrm>
            <a:off x="6272784" y="325526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Fixation</a:t>
            </a:r>
            <a:endParaRPr lang="en-US" sz="1000" dirty="0"/>
          </a:p>
        </p:txBody>
      </p:sp>
      <p:sp>
        <p:nvSpPr>
          <p:cNvPr id="35" name="Text 37"/>
          <p:cNvSpPr/>
          <p:nvPr/>
        </p:nvSpPr>
        <p:spPr>
          <a:xfrm>
            <a:off x="7004304" y="3328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ID 자동 교체</a:t>
            </a:r>
            <a:endParaRPr lang="en-US" sz="1100" dirty="0"/>
          </a:p>
        </p:txBody>
      </p:sp>
      <p:sp>
        <p:nvSpPr>
          <p:cNvPr id="36" name="Shape 38"/>
          <p:cNvSpPr/>
          <p:nvPr/>
        </p:nvSpPr>
        <p:spPr>
          <a:xfrm>
            <a:off x="0" y="4334256"/>
            <a:ext cx="914400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7" name="Shape 39"/>
          <p:cNvSpPr/>
          <p:nvPr/>
        </p:nvSpPr>
        <p:spPr>
          <a:xfrm>
            <a:off x="0" y="4334256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40"/>
          <p:cNvSpPr/>
          <p:nvPr/>
        </p:nvSpPr>
        <p:spPr>
          <a:xfrm>
            <a:off x="182880" y="4407408"/>
            <a:ext cx="329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9" name="Text 41"/>
          <p:cNvSpPr/>
          <p:nvPr/>
        </p:nvSpPr>
        <p:spPr>
          <a:xfrm>
            <a:off x="566928" y="4425696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요소는 </a:t>
            </a:r>
            <a:r>
              <a:rPr lang="en-US" sz="12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SecurityFilterChain</a:t>
            </a:r>
            <a:r>
              <a:rPr lang="en-US" sz="1200" dirty="0">
                <a:solidFill>
                  <a:srgbClr val="A0B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위에서 순서대로 적용되며, 인증 없이는 인가가 의미 없음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— Maven Dependencies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4572000" cy="3236976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05840"/>
            <a:ext cx="438912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Web + Thymeleaf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&lt;groupId&gt;org.springframework.boot&lt;/groupId&gt;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&gt;spring-boot-starter-</a:t>
            </a:r>
            <a:r>
              <a:rPr lang="en-US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webmvc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Spring Security (핵심 의존성)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&lt;groupId&gt;org.springframework.boot&lt;/groupId&gt;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</a:t>
            </a:r>
            <a:r>
              <a:rPr lang="en-US" sz="88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spring-boot-starter-security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Thymeleaf + Security </a:t>
            </a:r>
            <a:r>
              <a:rPr lang="en-US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통합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&lt;groupId&gt;org.thymeleaf.extras&lt;/groupId&gt;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</a:t>
            </a:r>
            <a:r>
              <a:rPr lang="en-US" sz="88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thymeleaf-extras-springsecurity6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</a:t>
            </a:r>
            <a:r>
              <a:rPr lang="en-US" altLang="ko-KR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spring-boot-starter-data-</a:t>
            </a:r>
            <a:r>
              <a:rPr lang="en-US" altLang="ko-KR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</a:t>
            </a:r>
            <a:r>
              <a:rPr lang="en-US" altLang="ko-KR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altLang="ko-KR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r>
              <a:rPr lang="en-US" altLang="ko-KR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-connector-j</a:t>
            </a: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</a:p>
          <a:p>
            <a:r>
              <a:rPr lang="en-US" altLang="ko-KR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spring-boot-starter-</a:t>
            </a:r>
            <a:r>
              <a:rPr lang="en-US" altLang="ko-KR" sz="88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thymeleaf</a:t>
            </a:r>
            <a:r>
              <a:rPr lang="en-US" altLang="ko-KR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</a:t>
            </a:r>
            <a:endParaRPr lang="en-US" altLang="ko-KR" sz="880" dirty="0"/>
          </a:p>
          <a:p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084064" y="859536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8"/>
                </a:solidFill>
              </a:rPr>
              <a:t>Auto-Configuration 제공 기능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65776" y="1729162"/>
            <a:ext cx="3712464" cy="5860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65776" y="1729162"/>
            <a:ext cx="54864" cy="58608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784026"/>
            <a:ext cx="3529584" cy="195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User 생성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93792" y="2004431"/>
            <a:ext cx="3529584" cy="272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username: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password: 콘솔 랜덤 출력 (UUID)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65776" y="2336783"/>
            <a:ext cx="3712464" cy="51229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65776" y="2336783"/>
            <a:ext cx="54864" cy="512297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366051"/>
            <a:ext cx="3529584" cy="170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 보호 활성화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93792" y="2574022"/>
            <a:ext cx="3529584" cy="23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POST/PUT/DELETE </a:t>
            </a:r>
            <a:r>
              <a:rPr lang="en-US" sz="950" dirty="0" err="1">
                <a:solidFill>
                  <a:srgbClr val="1E293B"/>
                </a:solidFill>
              </a:rPr>
              <a:t>요청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시_csrf</a:t>
            </a:r>
            <a:r>
              <a:rPr lang="en-US" sz="950" dirty="0">
                <a:solidFill>
                  <a:srgbClr val="1E293B"/>
                </a:solidFill>
              </a:rPr>
              <a:t> 토큰 자동 검증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329184" y="4352544"/>
            <a:ext cx="8449056" cy="530352"/>
          </a:xfrm>
          <a:prstGeom prst="rect">
            <a:avLst/>
          </a:prstGeom>
          <a:solidFill>
            <a:srgbClr val="1E293B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438912" y="4352544"/>
            <a:ext cx="8339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2D3EE"/>
                </a:solidFill>
              </a:rPr>
              <a:t>💡  spring-boot-starter-security </a:t>
            </a:r>
            <a:r>
              <a:rPr lang="en-US" sz="1100" b="1" dirty="0" err="1">
                <a:solidFill>
                  <a:srgbClr val="22D3EE"/>
                </a:solidFill>
              </a:rPr>
              <a:t>추가</a:t>
            </a:r>
            <a:r>
              <a:rPr lang="en-US" sz="1100" b="1" dirty="0">
                <a:solidFill>
                  <a:srgbClr val="22D3EE"/>
                </a:solidFill>
              </a:rPr>
              <a:t> → 자동 </a:t>
            </a:r>
            <a:r>
              <a:rPr lang="en-US" sz="1100" b="1" dirty="0" err="1">
                <a:solidFill>
                  <a:srgbClr val="22D3EE"/>
                </a:solidFill>
              </a:rPr>
              <a:t>설정</a:t>
            </a:r>
            <a:r>
              <a:rPr lang="en-US" sz="1100" b="1" dirty="0">
                <a:solidFill>
                  <a:srgbClr val="22D3EE"/>
                </a:solidFill>
              </a:rPr>
              <a:t> </a:t>
            </a:r>
            <a:r>
              <a:rPr lang="en-US" sz="1100" b="1" dirty="0" err="1">
                <a:solidFill>
                  <a:srgbClr val="22D3EE"/>
                </a:solidFill>
              </a:rPr>
              <a:t>활성화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5065776" y="3490351"/>
            <a:ext cx="3712464" cy="62264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5065776" y="3490351"/>
            <a:ext cx="64008" cy="622642"/>
          </a:xfrm>
          <a:prstGeom prst="rect">
            <a:avLst/>
          </a:prstGeom>
          <a:solidFill>
            <a:srgbClr val="92D05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5193792" y="3545215"/>
            <a:ext cx="3529584" cy="18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92D050"/>
                </a:solidFill>
                <a:latin typeface="Consolas" pitchFamily="34" charset="0"/>
              </a:rPr>
              <a:t>기본 로그인 페이지 자동 생성</a:t>
            </a:r>
            <a:endParaRPr lang="en-US" sz="1050" dirty="0">
              <a:solidFill>
                <a:srgbClr val="92D050"/>
              </a:solidFill>
            </a:endParaRPr>
          </a:p>
        </p:txBody>
      </p:sp>
      <p:sp>
        <p:nvSpPr>
          <p:cNvPr id="31" name="Text 22"/>
          <p:cNvSpPr/>
          <p:nvPr/>
        </p:nvSpPr>
        <p:spPr>
          <a:xfrm>
            <a:off x="5184648" y="3741346"/>
            <a:ext cx="3529584" cy="371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GET /login: HTML </a:t>
            </a:r>
            <a:r>
              <a:rPr lang="ko-KR" altLang="en-US" sz="950" dirty="0">
                <a:solidFill>
                  <a:srgbClr val="1E293B"/>
                </a:solidFill>
              </a:rPr>
              <a:t>폼 자동 렌더링</a:t>
            </a:r>
            <a:endParaRPr lang="en-US" altLang="ko-KR" sz="95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GET /logout: </a:t>
            </a:r>
            <a:r>
              <a:rPr lang="ko-KR" altLang="en-US" sz="950" dirty="0">
                <a:solidFill>
                  <a:srgbClr val="1E293B"/>
                </a:solidFill>
              </a:rPr>
              <a:t>로그아웃 자동 처리</a:t>
            </a:r>
            <a:endParaRPr lang="en-US" sz="950" dirty="0"/>
          </a:p>
        </p:txBody>
      </p:sp>
      <p:sp>
        <p:nvSpPr>
          <p:cNvPr id="32" name="Shape 11"/>
          <p:cNvSpPr/>
          <p:nvPr/>
        </p:nvSpPr>
        <p:spPr>
          <a:xfrm>
            <a:off x="5065776" y="2881148"/>
            <a:ext cx="3712464" cy="569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12"/>
          <p:cNvSpPr/>
          <p:nvPr/>
        </p:nvSpPr>
        <p:spPr>
          <a:xfrm>
            <a:off x="5065776" y="2881148"/>
            <a:ext cx="54864" cy="569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13"/>
          <p:cNvSpPr/>
          <p:nvPr/>
        </p:nvSpPr>
        <p:spPr>
          <a:xfrm>
            <a:off x="5193792" y="2936012"/>
            <a:ext cx="3529584" cy="18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정적 리소스 자동 허용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5193792" y="3163242"/>
            <a:ext cx="3529584" cy="264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/css/** /js/** /images/**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인증 없이 접근 가능</a:t>
            </a:r>
            <a:endParaRPr lang="en-US" sz="950" dirty="0"/>
          </a:p>
        </p:txBody>
      </p:sp>
      <p:sp>
        <p:nvSpPr>
          <p:cNvPr id="36" name="Shape 15"/>
          <p:cNvSpPr/>
          <p:nvPr/>
        </p:nvSpPr>
        <p:spPr>
          <a:xfrm>
            <a:off x="5058840" y="1155174"/>
            <a:ext cx="3712464" cy="5010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16"/>
          <p:cNvSpPr/>
          <p:nvPr/>
        </p:nvSpPr>
        <p:spPr>
          <a:xfrm>
            <a:off x="5058840" y="1155174"/>
            <a:ext cx="54864" cy="501079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17"/>
          <p:cNvSpPr/>
          <p:nvPr/>
        </p:nvSpPr>
        <p:spPr>
          <a:xfrm>
            <a:off x="5186856" y="1210038"/>
            <a:ext cx="3529584" cy="16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EA580C"/>
                </a:solidFill>
                <a:latin typeface="Consolas" pitchFamily="34" charset="0"/>
              </a:rPr>
              <a:t>모든 </a:t>
            </a:r>
            <a:r>
              <a:rPr lang="en-US" altLang="ko-KR" sz="1050" b="1" dirty="0">
                <a:solidFill>
                  <a:srgbClr val="EA580C"/>
                </a:solidFill>
                <a:latin typeface="Consolas" pitchFamily="34" charset="0"/>
              </a:rPr>
              <a:t>URL</a:t>
            </a:r>
            <a:r>
              <a:rPr lang="ko-KR" altLang="en-US" sz="1050" b="1" dirty="0">
                <a:solidFill>
                  <a:srgbClr val="EA580C"/>
                </a:solidFill>
                <a:latin typeface="Consolas" pitchFamily="34" charset="0"/>
              </a:rPr>
              <a:t>에 인증 필요</a:t>
            </a:r>
            <a:endParaRPr lang="en-US" sz="1050" dirty="0"/>
          </a:p>
        </p:txBody>
      </p:sp>
      <p:sp>
        <p:nvSpPr>
          <p:cNvPr id="39" name="Text 22"/>
          <p:cNvSpPr/>
          <p:nvPr/>
        </p:nvSpPr>
        <p:spPr>
          <a:xfrm>
            <a:off x="5186856" y="1454104"/>
            <a:ext cx="3529584" cy="23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/>
              <a:t>전체 </a:t>
            </a:r>
            <a:r>
              <a:rPr lang="en-US" altLang="ko-KR" sz="1000" dirty="0"/>
              <a:t>URL </a:t>
            </a:r>
            <a:r>
              <a:rPr lang="ko-KR" altLang="en-US" sz="1000" dirty="0"/>
              <a:t>접근 차단 → </a:t>
            </a:r>
            <a:r>
              <a:rPr lang="en-US" altLang="ko-KR" sz="1000" dirty="0"/>
              <a:t>/login </a:t>
            </a:r>
            <a:r>
              <a:rPr lang="ko-KR" altLang="en-US" sz="1000" dirty="0"/>
              <a:t>으로 자동 </a:t>
            </a:r>
            <a:r>
              <a:rPr lang="en-US" altLang="ko-KR" sz="1000" dirty="0"/>
              <a:t>Redirect</a:t>
            </a:r>
            <a:r>
              <a:rPr lang="ko-KR" altLang="en-US" sz="1000" dirty="0"/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— application.properties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5029200" cy="3611880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058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기본 사용자 (개발 시에만 사용)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spring.security.user.name=alice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spring.security.user.password=alicepw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spring.security.user.roles=USER,ADMIN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DataSource (MySQL)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spring.datasource.url=jdbc:mysql://localhost:3306/user\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?useSSL=false&amp;characterEncoding=UTF-8&amp;serverTimezone=Asia/Seoul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spring.datasource.username=root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spring.datasource.password=csedbadmin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spring.datasource.driver-class-name=com.mysql.cj.jdbc.Driver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JPA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spring.jpa.hibernate.ddl-auto=create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spring.jpa.show-sql=true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Logging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logging.level.kr.ac.hansung=debug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522976" y="940634"/>
            <a:ext cx="327355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22976" y="940634"/>
            <a:ext cx="54864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99549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 / password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50992" y="127896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테스트용 기본 계정.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실제</a:t>
            </a:r>
            <a:r>
              <a:rPr lang="en-US" sz="950" dirty="0">
                <a:solidFill>
                  <a:srgbClr val="1E293B"/>
                </a:solidFill>
              </a:rPr>
              <a:t> DB 인증 구현 후에는 사용하지 않음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22976" y="1858690"/>
            <a:ext cx="327355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2976" y="1858690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91355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user.roles 형식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50992" y="2197018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DB에 저장 시에는 'ROLE_USER' 형태로.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ROLE_   prefix 직접 추가 필요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22976" y="3695436"/>
            <a:ext cx="327355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22976" y="3695436"/>
            <a:ext cx="54864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37503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비밀번호 환경변수 관리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50992" y="4033764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운영에서는 ${DB_PASS} 환경변수 또는 Vault로 관리.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코드</a:t>
            </a:r>
            <a:r>
              <a:rPr lang="en-US" sz="950" dirty="0">
                <a:solidFill>
                  <a:srgbClr val="1E293B"/>
                </a:solidFill>
              </a:rPr>
              <a:t> 커밋 금지!</a:t>
            </a:r>
            <a:endParaRPr lang="en-US" sz="950" dirty="0"/>
          </a:p>
        </p:txBody>
      </p:sp>
      <p:sp>
        <p:nvSpPr>
          <p:cNvPr id="28" name="Shape 6"/>
          <p:cNvSpPr/>
          <p:nvPr/>
        </p:nvSpPr>
        <p:spPr>
          <a:xfrm>
            <a:off x="5522976" y="2775423"/>
            <a:ext cx="327355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7"/>
          <p:cNvSpPr/>
          <p:nvPr/>
        </p:nvSpPr>
        <p:spPr>
          <a:xfrm>
            <a:off x="5522976" y="2775423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8"/>
          <p:cNvSpPr/>
          <p:nvPr/>
        </p:nvSpPr>
        <p:spPr>
          <a:xfrm>
            <a:off x="5650992" y="2830287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ddl-auto=create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5650992" y="3113751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개발용.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운영에서는</a:t>
            </a:r>
            <a:r>
              <a:rPr lang="en-US" sz="950" dirty="0">
                <a:solidFill>
                  <a:srgbClr val="1E293B"/>
                </a:solidFill>
              </a:rPr>
              <a:t> validate 또는 none 으로 변경 필수!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" y="896112"/>
            <a:ext cx="100584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" y="8961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H="1">
            <a:off x="1243584" y="1161288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1444752" y="896112"/>
            <a:ext cx="1188720" cy="530352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44752" y="89611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Servlet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52928" y="896112"/>
            <a:ext cx="1371600" cy="53035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5292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Delegating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FilterProxy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43984" y="896112"/>
            <a:ext cx="1280160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43984" y="8961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Proxy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896112"/>
            <a:ext cx="1234440" cy="5303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89611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Dispatcher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Servlet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97496" y="896112"/>
            <a:ext cx="1572768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97496" y="89611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@Controller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9456" y="1554480"/>
            <a:ext cx="8705088" cy="3054096"/>
          </a:xfrm>
          <a:prstGeom prst="rect">
            <a:avLst/>
          </a:prstGeom>
          <a:solidFill>
            <a:srgbClr val="12253A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" y="1554480"/>
            <a:ext cx="8705088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55448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</a:t>
            </a:r>
            <a:r>
              <a:rPr lang="en-US" sz="1400" b="1" dirty="0" err="1">
                <a:solidFill>
                  <a:srgbClr val="FFFFFF"/>
                </a:solidFill>
              </a:rPr>
              <a:t>SecurityFilterChain</a:t>
            </a:r>
            <a:r>
              <a:rPr lang="en-US" sz="1200" b="1" dirty="0">
                <a:solidFill>
                  <a:srgbClr val="FFFFFF"/>
                </a:solidFill>
              </a:rPr>
              <a:t>—  주요 7개 필터 순서대로 실행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" y="2011680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" y="2011680"/>
            <a:ext cx="54864" cy="53035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" y="2011680"/>
            <a:ext cx="402336" cy="53035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201168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" y="20482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SecurityContextHolderFilter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6384" y="2257621"/>
            <a:ext cx="3657600" cy="300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334155"/>
                </a:solidFill>
              </a:rPr>
              <a:t>세션에서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en-US" sz="900" dirty="0" err="1">
                <a:solidFill>
                  <a:srgbClr val="334155"/>
                </a:solidFill>
              </a:rPr>
              <a:t>SecurityContext</a:t>
            </a:r>
            <a:r>
              <a:rPr lang="en-US" sz="900" dirty="0">
                <a:solidFill>
                  <a:srgbClr val="334155"/>
                </a:solidFill>
              </a:rPr>
              <a:t>(</a:t>
            </a:r>
            <a:r>
              <a:rPr lang="ko-KR" altLang="en-US" sz="900" dirty="0" err="1">
                <a:solidFill>
                  <a:srgbClr val="334155"/>
                </a:solidFill>
              </a:rPr>
              <a:t>인증정보</a:t>
            </a:r>
            <a:r>
              <a:rPr lang="ko-KR" altLang="en-US" sz="900" dirty="0">
                <a:solidFill>
                  <a:srgbClr val="334155"/>
                </a:solidFill>
              </a:rPr>
              <a:t> 있음</a:t>
            </a:r>
            <a:r>
              <a:rPr lang="en-US" altLang="ko-KR" sz="900" dirty="0">
                <a:solidFill>
                  <a:srgbClr val="334155"/>
                </a:solidFill>
              </a:rPr>
              <a:t>)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ko-KR" altLang="en-US" sz="900" dirty="0">
                <a:solidFill>
                  <a:srgbClr val="334155"/>
                </a:solidFill>
              </a:rPr>
              <a:t>를 꺼내서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en-US" sz="900" dirty="0" err="1">
                <a:solidFill>
                  <a:srgbClr val="334155"/>
                </a:solidFill>
              </a:rPr>
              <a:t>ThreadLocal</a:t>
            </a:r>
            <a:r>
              <a:rPr lang="ko-KR" altLang="en-US" sz="900" dirty="0">
                <a:solidFill>
                  <a:srgbClr val="334155"/>
                </a:solidFill>
              </a:rPr>
              <a:t>에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en-US" sz="900" dirty="0" err="1">
                <a:solidFill>
                  <a:srgbClr val="334155"/>
                </a:solidFill>
              </a:rPr>
              <a:t>저장</a:t>
            </a:r>
            <a:endParaRPr lang="en-US" sz="900" dirty="0">
              <a:solidFill>
                <a:srgbClr val="334155"/>
              </a:solidFill>
            </a:endParaRPr>
          </a:p>
          <a:p>
            <a:r>
              <a:rPr lang="en-US" altLang="ko-KR" sz="900" dirty="0"/>
              <a:t>(</a:t>
            </a:r>
            <a:r>
              <a:rPr lang="ko-KR" altLang="en-US" sz="900" dirty="0"/>
              <a:t>세션 없으면 빈 </a:t>
            </a:r>
            <a:r>
              <a:rPr lang="en-US" altLang="ko-KR" sz="900" dirty="0" err="1"/>
              <a:t>SecurityContext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  <a:r>
              <a:rPr lang="en-US" altLang="ko-KR" sz="900" dirty="0"/>
              <a:t>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14016" y="2542032"/>
            <a:ext cx="0" cy="91440"/>
          </a:xfrm>
          <a:prstGeom prst="line">
            <a:avLst/>
          </a:prstGeom>
          <a:noFill/>
          <a:ln w="15240">
            <a:solidFill>
              <a:srgbClr val="3730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" y="2633472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0896" y="2633472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" y="2633472"/>
            <a:ext cx="402336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2633472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" y="26700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CsrfFilter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" y="2852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POST/PUT/DELETE : _csrf 토큰 검증  ← Session </a:t>
            </a:r>
            <a:r>
              <a:rPr lang="en-US" sz="900" dirty="0" err="1">
                <a:solidFill>
                  <a:srgbClr val="334155"/>
                </a:solidFill>
              </a:rPr>
              <a:t>방식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en-US" sz="900" dirty="0" err="1">
                <a:solidFill>
                  <a:srgbClr val="334155"/>
                </a:solidFill>
              </a:rPr>
              <a:t>필수</a:t>
            </a:r>
            <a:endParaRPr lang="en-US" sz="900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(JWT</a:t>
            </a:r>
            <a:r>
              <a:rPr lang="ko-KR" altLang="en-US" sz="900" dirty="0">
                <a:solidFill>
                  <a:srgbClr val="334155"/>
                </a:solidFill>
              </a:rPr>
              <a:t>에서는 </a:t>
            </a:r>
            <a:r>
              <a:rPr lang="en-US" altLang="ko-KR" sz="900" dirty="0">
                <a:solidFill>
                  <a:srgbClr val="334155"/>
                </a:solidFill>
              </a:rPr>
              <a:t>disable)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14016" y="3163824"/>
            <a:ext cx="0" cy="9144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0896" y="3255264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0896" y="3255264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255264"/>
            <a:ext cx="402336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3255264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" y="32918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LogoutFilter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" y="3547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334155"/>
                </a:solidFill>
              </a:rPr>
              <a:t>/logout 요청 → 세션 무효화 + </a:t>
            </a:r>
            <a:r>
              <a:rPr lang="en-US" sz="900" dirty="0" err="1">
                <a:solidFill>
                  <a:srgbClr val="334155"/>
                </a:solidFill>
              </a:rPr>
              <a:t>쿠키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en-US" sz="900" dirty="0" err="1">
                <a:solidFill>
                  <a:srgbClr val="334155"/>
                </a:solidFill>
              </a:rPr>
              <a:t>삭제</a:t>
            </a:r>
            <a:r>
              <a:rPr lang="en-US" altLang="ko-KR" sz="900" dirty="0">
                <a:solidFill>
                  <a:srgbClr val="334155"/>
                </a:solidFill>
              </a:rPr>
              <a:t> → </a:t>
            </a:r>
            <a:r>
              <a:rPr lang="en-US" altLang="ko-KR" sz="900" dirty="0" err="1">
                <a:solidFill>
                  <a:srgbClr val="334155"/>
                </a:solidFill>
              </a:rPr>
              <a:t>LogoutSuccessHandler</a:t>
            </a:r>
            <a:r>
              <a:rPr lang="en-US" altLang="ko-KR" sz="900" dirty="0">
                <a:solidFill>
                  <a:srgbClr val="334155"/>
                </a:solidFill>
              </a:rPr>
              <a:t> </a:t>
            </a:r>
            <a:r>
              <a:rPr lang="ko-KR" altLang="en-US" sz="900" dirty="0">
                <a:solidFill>
                  <a:srgbClr val="334155"/>
                </a:solidFill>
              </a:rPr>
              <a:t>실행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14016" y="3785616"/>
            <a:ext cx="0" cy="9144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0896" y="3877056"/>
            <a:ext cx="42062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10896" y="3877056"/>
            <a:ext cx="54864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3877056"/>
            <a:ext cx="402336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87705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86384" y="391363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UsernamePasswordAuthFilter</a:t>
            </a: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786384" y="4169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POST /login → credentials 추출 → </a:t>
            </a:r>
            <a:r>
              <a:rPr lang="en-US" sz="900" dirty="0" err="1">
                <a:solidFill>
                  <a:srgbClr val="334155"/>
                </a:solidFill>
              </a:rPr>
              <a:t>AuthenticationManager</a:t>
            </a:r>
            <a:r>
              <a:rPr lang="ko-KR" altLang="en-US" sz="900" dirty="0">
                <a:solidFill>
                  <a:srgbClr val="334155"/>
                </a:solidFill>
              </a:rPr>
              <a:t>에</a:t>
            </a:r>
            <a:r>
              <a:rPr lang="en-US" sz="900" dirty="0">
                <a:solidFill>
                  <a:srgbClr val="334155"/>
                </a:solidFill>
              </a:rPr>
              <a:t> </a:t>
            </a:r>
            <a:r>
              <a:rPr lang="ko-KR" altLang="en-US" sz="900" dirty="0">
                <a:solidFill>
                  <a:srgbClr val="334155"/>
                </a:solidFill>
              </a:rPr>
              <a:t>인증 위임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36592" y="2322576"/>
            <a:ext cx="418795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36592" y="2322576"/>
            <a:ext cx="54864" cy="5303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6592" y="2322576"/>
            <a:ext cx="402336" cy="5303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2322576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12080" y="2359152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AnonymousAuthenticationFilter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212080" y="2615184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미인증 사용자에게 anonymous 권한 부여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30568" y="2852928"/>
            <a:ext cx="0" cy="91440"/>
          </a:xfrm>
          <a:prstGeom prst="line">
            <a:avLst/>
          </a:prstGeom>
          <a:noFill/>
          <a:ln w="15240">
            <a:solidFill>
              <a:srgbClr val="065F4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36592" y="2944368"/>
            <a:ext cx="418795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36592" y="2944368"/>
            <a:ext cx="54864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36592" y="2944368"/>
            <a:ext cx="402336" cy="5303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6592" y="2944368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212080" y="2980944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ExceptionTranslationFilter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86856" y="3236976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334155"/>
                </a:solidFill>
              </a:rPr>
              <a:t>AuthenticationException</a:t>
            </a:r>
            <a:r>
              <a:rPr lang="en-US" sz="900" dirty="0">
                <a:solidFill>
                  <a:srgbClr val="334155"/>
                </a:solidFill>
              </a:rPr>
              <a:t>→ /login Redirect  |  </a:t>
            </a:r>
            <a:r>
              <a:rPr lang="en-US" sz="900" dirty="0" err="1">
                <a:solidFill>
                  <a:srgbClr val="334155"/>
                </a:solidFill>
              </a:rPr>
              <a:t>AccessDeniedException</a:t>
            </a:r>
            <a:r>
              <a:rPr lang="en-US" sz="900" dirty="0">
                <a:solidFill>
                  <a:srgbClr val="334155"/>
                </a:solidFill>
              </a:rPr>
              <a:t> → 403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36592" y="3566160"/>
            <a:ext cx="418795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36592" y="3566160"/>
            <a:ext cx="54864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36592" y="3566160"/>
            <a:ext cx="402336" cy="5303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36592" y="3566160"/>
            <a:ext cx="402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212080" y="3602736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AuthorizationFilter</a:t>
            </a: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5212080" y="3858768"/>
            <a:ext cx="3639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hasRole 등 URL 접근 권한 확인 — </a:t>
            </a:r>
            <a:r>
              <a:rPr lang="ko-KR" altLang="en-US" sz="900" dirty="0">
                <a:solidFill>
                  <a:srgbClr val="334155"/>
                </a:solidFill>
              </a:rPr>
              <a:t>통과해야만 </a:t>
            </a:r>
            <a:r>
              <a:rPr lang="en-US" altLang="ko-KR" sz="900" dirty="0" err="1">
                <a:solidFill>
                  <a:srgbClr val="334155"/>
                </a:solidFill>
              </a:rPr>
              <a:t>DispatcherServlet</a:t>
            </a:r>
            <a:r>
              <a:rPr lang="ko-KR" altLang="en-US" sz="900" dirty="0">
                <a:solidFill>
                  <a:srgbClr val="334155"/>
                </a:solidFill>
              </a:rPr>
              <a:t>으로 전달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19456" y="4690872"/>
            <a:ext cx="8705088" cy="310896"/>
          </a:xfrm>
          <a:prstGeom prst="rect">
            <a:avLst/>
          </a:prstGeom>
          <a:solidFill>
            <a:srgbClr val="0D1B2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4690872"/>
            <a:ext cx="8449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⚡  필터 1→7 순서 실행  |  각 필터는 </a:t>
            </a:r>
            <a:r>
              <a:rPr lang="en-US" sz="900" dirty="0" err="1">
                <a:solidFill>
                  <a:srgbClr val="94A3B8"/>
                </a:solidFill>
              </a:rPr>
              <a:t>doFilter</a:t>
            </a:r>
            <a:r>
              <a:rPr lang="en-US" sz="900" dirty="0">
                <a:solidFill>
                  <a:srgbClr val="94A3B8"/>
                </a:solidFill>
              </a:rPr>
              <a:t>() </a:t>
            </a:r>
            <a:r>
              <a:rPr lang="ko-KR" altLang="en-US" sz="900" dirty="0">
                <a:solidFill>
                  <a:srgbClr val="94A3B8"/>
                </a:solidFill>
              </a:rPr>
              <a:t>수행</a:t>
            </a:r>
            <a:endParaRPr lang="en-US" sz="900" dirty="0"/>
          </a:p>
        </p:txBody>
      </p:sp>
      <p:sp>
        <p:nvSpPr>
          <p:cNvPr id="78" name="Shape 6"/>
          <p:cNvSpPr/>
          <p:nvPr/>
        </p:nvSpPr>
        <p:spPr>
          <a:xfrm flipH="1">
            <a:off x="2633472" y="1161288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79" name="Shape 6"/>
          <p:cNvSpPr/>
          <p:nvPr/>
        </p:nvSpPr>
        <p:spPr>
          <a:xfrm flipH="1">
            <a:off x="4224528" y="1161288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80" name="Shape 6"/>
          <p:cNvSpPr/>
          <p:nvPr/>
        </p:nvSpPr>
        <p:spPr>
          <a:xfrm flipH="1">
            <a:off x="7178040" y="1161288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81" name="Shape 6"/>
          <p:cNvSpPr/>
          <p:nvPr/>
        </p:nvSpPr>
        <p:spPr>
          <a:xfrm rot="5400000" flipH="1" flipV="1">
            <a:off x="5038344" y="1541939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82" name="Shape 6"/>
          <p:cNvSpPr/>
          <p:nvPr/>
        </p:nvSpPr>
        <p:spPr>
          <a:xfrm rot="16200000" flipH="1">
            <a:off x="6454152" y="1527048"/>
            <a:ext cx="201168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olid"/>
            <a:headEnd type="triangle"/>
          </a:ln>
        </p:spPr>
      </p:sp>
      <p:sp>
        <p:nvSpPr>
          <p:cNvPr id="83" name="TextBox 82"/>
          <p:cNvSpPr txBox="1"/>
          <p:nvPr/>
        </p:nvSpPr>
        <p:spPr>
          <a:xfrm flipH="1">
            <a:off x="5110830" y="1408176"/>
            <a:ext cx="549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호출</a:t>
            </a:r>
          </a:p>
        </p:txBody>
      </p:sp>
      <p:sp>
        <p:nvSpPr>
          <p:cNvPr id="84" name="TextBox 83"/>
          <p:cNvSpPr txBox="1"/>
          <p:nvPr/>
        </p:nvSpPr>
        <p:spPr>
          <a:xfrm flipH="1">
            <a:off x="6564726" y="1420866"/>
            <a:ext cx="549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통과</a:t>
            </a:r>
          </a:p>
        </p:txBody>
      </p:sp>
    </p:spTree>
    <p:extLst>
      <p:ext uri="{BB962C8B-B14F-4D97-AF65-F5344CB8AC3E}">
        <p14:creationId xmlns:p14="http://schemas.microsoft.com/office/powerpoint/2010/main" val="261631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237744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동작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5" name="Shape 4"/>
          <p:cNvSpPr/>
          <p:nvPr/>
        </p:nvSpPr>
        <p:spPr>
          <a:xfrm>
            <a:off x="347472" y="914400"/>
            <a:ext cx="2697480" cy="3657600"/>
          </a:xfrm>
          <a:prstGeom prst="rect">
            <a:avLst/>
          </a:prstGeom>
          <a:solidFill>
            <a:srgbClr val="EEF2FF"/>
          </a:solidFill>
          <a:ln w="15240">
            <a:solidFill>
              <a:srgbClr val="3730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5"/>
          <p:cNvSpPr/>
          <p:nvPr/>
        </p:nvSpPr>
        <p:spPr>
          <a:xfrm>
            <a:off x="347472" y="914400"/>
            <a:ext cx="2697480" cy="47548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7" name="Text 6"/>
          <p:cNvSpPr/>
          <p:nvPr/>
        </p:nvSpPr>
        <p:spPr>
          <a:xfrm>
            <a:off x="420624" y="91440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🔀 /logout </a:t>
            </a:r>
            <a:r>
              <a:rPr lang="ko-KR" altLang="en-US" sz="1150" b="1" dirty="0" err="1">
                <a:solidFill>
                  <a:srgbClr val="FFFFFF"/>
                </a:solidFill>
              </a:rPr>
              <a:t>요청시</a:t>
            </a:r>
            <a:endParaRPr lang="en-US" sz="1150" dirty="0"/>
          </a:p>
        </p:txBody>
      </p:sp>
      <p:sp>
        <p:nvSpPr>
          <p:cNvPr id="88" name="Text 7"/>
          <p:cNvSpPr/>
          <p:nvPr/>
        </p:nvSpPr>
        <p:spPr>
          <a:xfrm>
            <a:off x="457200" y="1463040"/>
            <a:ext cx="247802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① </a:t>
            </a:r>
            <a:r>
              <a:rPr lang="en-US" sz="1050" dirty="0" err="1">
                <a:solidFill>
                  <a:srgbClr val="1E293B"/>
                </a:solidFill>
              </a:rPr>
              <a:t>SecurityContextHolderFilter</a:t>
            </a:r>
            <a:r>
              <a:rPr lang="en-US" sz="1050" dirty="0">
                <a:solidFill>
                  <a:srgbClr val="1E293B"/>
                </a:solidFill>
              </a:rPr>
              <a:t>  → </a:t>
            </a:r>
            <a:r>
              <a:rPr lang="en-US" altLang="ko-KR" sz="1050" dirty="0" err="1">
                <a:solidFill>
                  <a:srgbClr val="1E293B"/>
                </a:solidFill>
              </a:rPr>
              <a:t>SecurityContext</a:t>
            </a:r>
            <a:r>
              <a:rPr lang="en-US" altLang="ko-KR" sz="1050" dirty="0">
                <a:solidFill>
                  <a:srgbClr val="1E293B"/>
                </a:solidFill>
              </a:rPr>
              <a:t>(</a:t>
            </a:r>
            <a:r>
              <a:rPr lang="ko-KR" altLang="en-US" sz="1050" dirty="0" err="1">
                <a:solidFill>
                  <a:srgbClr val="1E293B"/>
                </a:solidFill>
              </a:rPr>
              <a:t>인증정보</a:t>
            </a:r>
            <a:r>
              <a:rPr lang="ko-KR" altLang="en-US" sz="1050" dirty="0">
                <a:solidFill>
                  <a:srgbClr val="1E293B"/>
                </a:solidFill>
              </a:rPr>
              <a:t> 있음</a:t>
            </a:r>
            <a:r>
              <a:rPr lang="en-US" altLang="ko-KR" sz="1050" dirty="0">
                <a:solidFill>
                  <a:srgbClr val="1E293B"/>
                </a:solidFill>
              </a:rPr>
              <a:t>)</a:t>
            </a:r>
            <a:r>
              <a:rPr lang="ko-KR" altLang="en-US" sz="1050" dirty="0">
                <a:solidFill>
                  <a:srgbClr val="1E293B"/>
                </a:solidFill>
              </a:rPr>
              <a:t>를 꺼내서 </a:t>
            </a:r>
            <a:r>
              <a:rPr lang="en-US" altLang="ko-KR" sz="1050" dirty="0" err="1">
                <a:solidFill>
                  <a:srgbClr val="1E293B"/>
                </a:solidFill>
              </a:rPr>
              <a:t>ThreadLocal</a:t>
            </a:r>
            <a:r>
              <a:rPr lang="ko-KR" altLang="en-US" sz="1050" dirty="0">
                <a:solidFill>
                  <a:srgbClr val="1E293B"/>
                </a:solidFill>
              </a:rPr>
              <a:t>에 저장</a:t>
            </a:r>
            <a:endParaRPr lang="en-US" altLang="ko-KR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② </a:t>
            </a:r>
            <a:r>
              <a:rPr lang="en-US" sz="1050" dirty="0" err="1">
                <a:solidFill>
                  <a:srgbClr val="1E293B"/>
                </a:solidFill>
              </a:rPr>
              <a:t>CsrfFilter</a:t>
            </a:r>
            <a:r>
              <a:rPr lang="en-US" sz="1050" dirty="0">
                <a:solidFill>
                  <a:srgbClr val="1E293B"/>
                </a:solidFill>
              </a:rPr>
              <a:t>    → CSRF </a:t>
            </a:r>
            <a:r>
              <a:rPr lang="ko-KR" altLang="en-US" sz="1050" dirty="0">
                <a:solidFill>
                  <a:srgbClr val="1E293B"/>
                </a:solidFill>
              </a:rPr>
              <a:t>토큰 검증 통과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③ </a:t>
            </a:r>
            <a:r>
              <a:rPr lang="en-US" sz="1050" dirty="0" err="1">
                <a:solidFill>
                  <a:srgbClr val="1E293B"/>
                </a:solidFill>
              </a:rPr>
              <a:t>LogoutFilter</a:t>
            </a:r>
            <a:r>
              <a:rPr lang="en-US" sz="1050" dirty="0">
                <a:solidFill>
                  <a:srgbClr val="1E293B"/>
                </a:solidFill>
              </a:rPr>
              <a:t>    → </a:t>
            </a:r>
            <a:r>
              <a:rPr lang="ko-KR" altLang="en-US" sz="1050" dirty="0">
                <a:solidFill>
                  <a:srgbClr val="1E293B"/>
                </a:solidFill>
              </a:rPr>
              <a:t>로그아웃 처리 후 </a:t>
            </a:r>
            <a:r>
              <a:rPr lang="ko-KR" altLang="en-US" sz="1050" dirty="0" err="1">
                <a:solidFill>
                  <a:srgbClr val="1E293B"/>
                </a:solidFill>
              </a:rPr>
              <a:t>리다이렉트</a:t>
            </a:r>
            <a:r>
              <a:rPr lang="ko-KR" altLang="en-US" sz="1050" dirty="0">
                <a:solidFill>
                  <a:srgbClr val="1E293B"/>
                </a:solidFill>
              </a:rPr>
              <a:t> ★ 종료</a:t>
            </a:r>
            <a:endParaRPr lang="en-US" altLang="ko-KR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endParaRPr lang="en-US" altLang="ko-KR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아래 필터는 실행되지 않음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④ </a:t>
            </a:r>
            <a:r>
              <a:rPr lang="en-US" sz="1050" dirty="0" err="1">
                <a:solidFill>
                  <a:srgbClr val="1E293B"/>
                </a:solidFill>
              </a:rPr>
              <a:t>UsernamePasswordAuthFilter</a:t>
            </a:r>
            <a:endParaRPr lang="ko-KR" alt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⑤ </a:t>
            </a:r>
            <a:r>
              <a:rPr lang="en-US" sz="1050" dirty="0" err="1">
                <a:solidFill>
                  <a:srgbClr val="1E293B"/>
                </a:solidFill>
              </a:rPr>
              <a:t>AnonymousAuthFilter</a:t>
            </a:r>
            <a:r>
              <a:rPr lang="en-US" sz="1050" dirty="0">
                <a:solidFill>
                  <a:srgbClr val="1E293B"/>
                </a:solidFill>
              </a:rPr>
              <a:t>           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⑥ </a:t>
            </a:r>
            <a:r>
              <a:rPr lang="en-US" sz="1050" dirty="0" err="1">
                <a:solidFill>
                  <a:srgbClr val="1E293B"/>
                </a:solidFill>
              </a:rPr>
              <a:t>ExceptionTranslationFilter</a:t>
            </a:r>
            <a:r>
              <a:rPr lang="en-US" sz="1050" dirty="0">
                <a:solidFill>
                  <a:srgbClr val="1E293B"/>
                </a:solidFill>
              </a:rPr>
              <a:t>    </a:t>
            </a:r>
            <a:endParaRPr lang="ko-KR" alt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⑦ </a:t>
            </a:r>
            <a:r>
              <a:rPr lang="en-US" sz="1050" dirty="0" err="1">
                <a:solidFill>
                  <a:srgbClr val="1E293B"/>
                </a:solidFill>
              </a:rPr>
              <a:t>AuthorizationFilter</a:t>
            </a:r>
            <a:r>
              <a:rPr lang="en-US" sz="1050" dirty="0">
                <a:solidFill>
                  <a:srgbClr val="1E293B"/>
                </a:solidFill>
              </a:rPr>
              <a:t>           </a:t>
            </a:r>
            <a:endParaRPr lang="en-US" sz="1050" dirty="0"/>
          </a:p>
        </p:txBody>
      </p:sp>
      <p:sp>
        <p:nvSpPr>
          <p:cNvPr id="89" name="Shape 8"/>
          <p:cNvSpPr/>
          <p:nvPr/>
        </p:nvSpPr>
        <p:spPr>
          <a:xfrm>
            <a:off x="3182112" y="914400"/>
            <a:ext cx="2697480" cy="3657600"/>
          </a:xfrm>
          <a:prstGeom prst="rect">
            <a:avLst/>
          </a:prstGeom>
          <a:solidFill>
            <a:srgbClr val="E0F7FA"/>
          </a:solidFill>
          <a:ln w="1524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Shape 9"/>
          <p:cNvSpPr/>
          <p:nvPr/>
        </p:nvSpPr>
        <p:spPr>
          <a:xfrm>
            <a:off x="3182112" y="914400"/>
            <a:ext cx="26974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1" name="Text 10"/>
          <p:cNvSpPr/>
          <p:nvPr/>
        </p:nvSpPr>
        <p:spPr>
          <a:xfrm>
            <a:off x="3255264" y="91440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FFFFF"/>
                </a:solidFill>
              </a:rPr>
              <a:t>🔗 POST /login </a:t>
            </a:r>
            <a:r>
              <a:rPr lang="ko-KR" altLang="en-US" sz="1150" b="1" dirty="0">
                <a:solidFill>
                  <a:srgbClr val="FFFFFF"/>
                </a:solidFill>
              </a:rPr>
              <a:t>요청 시</a:t>
            </a:r>
            <a:endParaRPr lang="en-US" sz="1150" dirty="0"/>
          </a:p>
        </p:txBody>
      </p:sp>
      <p:sp>
        <p:nvSpPr>
          <p:cNvPr id="92" name="Text 11"/>
          <p:cNvSpPr/>
          <p:nvPr/>
        </p:nvSpPr>
        <p:spPr>
          <a:xfrm>
            <a:off x="3291840" y="1463040"/>
            <a:ext cx="247802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① </a:t>
            </a:r>
            <a:r>
              <a:rPr lang="en-US" sz="1050" dirty="0" err="1">
                <a:solidFill>
                  <a:srgbClr val="1E293B"/>
                </a:solidFill>
              </a:rPr>
              <a:t>SecurityContextHolderFilter</a:t>
            </a:r>
            <a:r>
              <a:rPr lang="en-US" sz="1050" dirty="0">
                <a:solidFill>
                  <a:srgbClr val="1E293B"/>
                </a:solidFill>
              </a:rPr>
              <a:t>  → 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solidFill>
                  <a:srgbClr val="1E293B"/>
                </a:solidFill>
              </a:rPr>
              <a:t>                </a:t>
            </a:r>
            <a:r>
              <a:rPr lang="ko-KR" altLang="en-US" sz="1050" dirty="0">
                <a:solidFill>
                  <a:srgbClr val="1E293B"/>
                </a:solidFill>
              </a:rPr>
              <a:t>빈 </a:t>
            </a:r>
            <a:r>
              <a:rPr lang="en-US" sz="1050" dirty="0" err="1">
                <a:solidFill>
                  <a:srgbClr val="1E293B"/>
                </a:solidFill>
              </a:rPr>
              <a:t>SecurityContext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ko-KR" altLang="en-US" sz="1050" dirty="0">
                <a:solidFill>
                  <a:srgbClr val="1E293B"/>
                </a:solidFill>
              </a:rPr>
              <a:t>생성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② </a:t>
            </a:r>
            <a:r>
              <a:rPr lang="en-US" sz="1050" dirty="0" err="1">
                <a:solidFill>
                  <a:srgbClr val="1E293B"/>
                </a:solidFill>
              </a:rPr>
              <a:t>CsrfFilter</a:t>
            </a:r>
            <a:r>
              <a:rPr lang="en-US" sz="1050" dirty="0">
                <a:solidFill>
                  <a:srgbClr val="1E293B"/>
                </a:solidFill>
              </a:rPr>
              <a:t>      → CSRF </a:t>
            </a:r>
            <a:r>
              <a:rPr lang="ko-KR" altLang="en-US" sz="1050" dirty="0">
                <a:solidFill>
                  <a:srgbClr val="1E293B"/>
                </a:solidFill>
              </a:rPr>
              <a:t>토큰 검증 통과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③ </a:t>
            </a:r>
            <a:r>
              <a:rPr lang="en-US" sz="1050" dirty="0" err="1">
                <a:solidFill>
                  <a:srgbClr val="1E293B"/>
                </a:solidFill>
              </a:rPr>
              <a:t>LogoutFilter</a:t>
            </a:r>
            <a:r>
              <a:rPr lang="en-US" sz="1050" dirty="0">
                <a:solidFill>
                  <a:srgbClr val="1E293B"/>
                </a:solidFill>
              </a:rPr>
              <a:t>    → /login</a:t>
            </a:r>
            <a:r>
              <a:rPr lang="ko-KR" altLang="en-US" sz="1050" dirty="0">
                <a:solidFill>
                  <a:srgbClr val="1E293B"/>
                </a:solidFill>
              </a:rPr>
              <a:t>이므로 그냥 통과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④ </a:t>
            </a:r>
            <a:r>
              <a:rPr lang="en-US" sz="1050" dirty="0" err="1">
                <a:solidFill>
                  <a:srgbClr val="1E293B"/>
                </a:solidFill>
              </a:rPr>
              <a:t>UsernamePasswordAuthFilter</a:t>
            </a:r>
            <a:r>
              <a:rPr lang="en-US" sz="1050" dirty="0">
                <a:solidFill>
                  <a:srgbClr val="1E293B"/>
                </a:solidFill>
              </a:rPr>
              <a:t>    → </a:t>
            </a:r>
            <a:r>
              <a:rPr lang="ko-KR" altLang="en-US" sz="1050" dirty="0">
                <a:solidFill>
                  <a:srgbClr val="1E293B"/>
                </a:solidFill>
              </a:rPr>
              <a:t>인증 처리 후 </a:t>
            </a:r>
            <a:r>
              <a:rPr lang="ko-KR" altLang="en-US" sz="1050" dirty="0" err="1">
                <a:solidFill>
                  <a:srgbClr val="1E293B"/>
                </a:solidFill>
              </a:rPr>
              <a:t>리다이렉트</a:t>
            </a:r>
            <a:r>
              <a:rPr lang="ko-KR" altLang="en-US" sz="1050" dirty="0">
                <a:solidFill>
                  <a:srgbClr val="1E293B"/>
                </a:solidFill>
              </a:rPr>
              <a:t> ★ 종료</a:t>
            </a:r>
            <a:endParaRPr lang="en-US" altLang="ko-KR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endParaRPr lang="en-US" altLang="ko-KR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아래 필터는 실행되지 않음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⑤ </a:t>
            </a:r>
            <a:r>
              <a:rPr lang="en-US" sz="1050" dirty="0" err="1">
                <a:solidFill>
                  <a:srgbClr val="1E293B"/>
                </a:solidFill>
              </a:rPr>
              <a:t>AnonymousAuthFilter</a:t>
            </a:r>
            <a:r>
              <a:rPr lang="en-US" sz="1050" dirty="0">
                <a:solidFill>
                  <a:srgbClr val="1E293B"/>
                </a:solidFill>
              </a:rPr>
              <a:t>           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⑥ </a:t>
            </a:r>
            <a:r>
              <a:rPr lang="en-US" sz="1050" dirty="0" err="1">
                <a:solidFill>
                  <a:srgbClr val="1E293B"/>
                </a:solidFill>
              </a:rPr>
              <a:t>ExceptionTranslationFilter</a:t>
            </a:r>
            <a:r>
              <a:rPr lang="en-US" sz="1050" dirty="0">
                <a:solidFill>
                  <a:srgbClr val="1E293B"/>
                </a:solidFill>
              </a:rPr>
              <a:t>    </a:t>
            </a:r>
            <a:endParaRPr lang="ko-KR" alt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⑦ </a:t>
            </a:r>
            <a:r>
              <a:rPr lang="en-US" sz="1050" dirty="0" err="1">
                <a:solidFill>
                  <a:srgbClr val="1E293B"/>
                </a:solidFill>
              </a:rPr>
              <a:t>AuthorizationFilter</a:t>
            </a:r>
            <a:r>
              <a:rPr lang="en-US" sz="1050" dirty="0">
                <a:solidFill>
                  <a:srgbClr val="1E293B"/>
                </a:solidFill>
              </a:rPr>
              <a:t>           </a:t>
            </a:r>
            <a:endParaRPr lang="en-US" sz="1050" dirty="0"/>
          </a:p>
        </p:txBody>
      </p:sp>
      <p:sp>
        <p:nvSpPr>
          <p:cNvPr id="97" name="Shape 12"/>
          <p:cNvSpPr/>
          <p:nvPr/>
        </p:nvSpPr>
        <p:spPr>
          <a:xfrm>
            <a:off x="6016752" y="914400"/>
            <a:ext cx="2697480" cy="365760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8" name="Shape 13"/>
          <p:cNvSpPr/>
          <p:nvPr/>
        </p:nvSpPr>
        <p:spPr>
          <a:xfrm>
            <a:off x="6016752" y="914400"/>
            <a:ext cx="269748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9" name="Text 14"/>
          <p:cNvSpPr/>
          <p:nvPr/>
        </p:nvSpPr>
        <p:spPr>
          <a:xfrm>
            <a:off x="6089904" y="91440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⭐ GET /home (</a:t>
            </a:r>
            <a:r>
              <a:rPr lang="ko-KR" altLang="en-US" sz="1150" b="1" dirty="0">
                <a:solidFill>
                  <a:srgbClr val="FFFFFF"/>
                </a:solidFill>
              </a:rPr>
              <a:t>로그인후 요청</a:t>
            </a:r>
            <a:r>
              <a:rPr lang="en-US" altLang="ko-KR" sz="1150" b="1" dirty="0">
                <a:solidFill>
                  <a:srgbClr val="FFFFFF"/>
                </a:solidFill>
              </a:rPr>
              <a:t>)</a:t>
            </a:r>
            <a:endParaRPr lang="en-US" sz="1150" dirty="0"/>
          </a:p>
        </p:txBody>
      </p:sp>
      <p:sp>
        <p:nvSpPr>
          <p:cNvPr id="100" name="Text 15"/>
          <p:cNvSpPr/>
          <p:nvPr/>
        </p:nvSpPr>
        <p:spPr>
          <a:xfrm>
            <a:off x="6126480" y="1463040"/>
            <a:ext cx="258775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① </a:t>
            </a:r>
            <a:r>
              <a:rPr lang="en-US" sz="1050" dirty="0" err="1">
                <a:solidFill>
                  <a:srgbClr val="1E293B"/>
                </a:solidFill>
              </a:rPr>
              <a:t>SecurityContextHolderFilter</a:t>
            </a:r>
            <a:r>
              <a:rPr lang="en-US" sz="1050" dirty="0">
                <a:solidFill>
                  <a:srgbClr val="1E293B"/>
                </a:solidFill>
              </a:rPr>
              <a:t>  → </a:t>
            </a:r>
            <a:r>
              <a:rPr lang="en-US" altLang="ko-KR" sz="1050" dirty="0" err="1">
                <a:solidFill>
                  <a:srgbClr val="1E293B"/>
                </a:solidFill>
              </a:rPr>
              <a:t>SecurityContext</a:t>
            </a:r>
            <a:r>
              <a:rPr lang="en-US" altLang="ko-KR" sz="1050" dirty="0">
                <a:solidFill>
                  <a:srgbClr val="1E293B"/>
                </a:solidFill>
              </a:rPr>
              <a:t>(</a:t>
            </a:r>
            <a:r>
              <a:rPr lang="ko-KR" altLang="en-US" sz="1050" dirty="0" err="1">
                <a:solidFill>
                  <a:srgbClr val="1E293B"/>
                </a:solidFill>
              </a:rPr>
              <a:t>인증정보</a:t>
            </a:r>
            <a:r>
              <a:rPr lang="ko-KR" altLang="en-US" sz="1050" dirty="0">
                <a:solidFill>
                  <a:srgbClr val="1E293B"/>
                </a:solidFill>
              </a:rPr>
              <a:t> 있음</a:t>
            </a:r>
            <a:r>
              <a:rPr lang="en-US" altLang="ko-KR" sz="1050" dirty="0">
                <a:solidFill>
                  <a:srgbClr val="1E293B"/>
                </a:solidFill>
              </a:rPr>
              <a:t>)</a:t>
            </a:r>
            <a:r>
              <a:rPr lang="ko-KR" altLang="en-US" sz="1050" dirty="0">
                <a:solidFill>
                  <a:srgbClr val="1E293B"/>
                </a:solidFill>
              </a:rPr>
              <a:t>를 꺼내서 </a:t>
            </a:r>
            <a:r>
              <a:rPr lang="en-US" altLang="ko-KR" sz="1050" dirty="0" err="1">
                <a:solidFill>
                  <a:srgbClr val="1E293B"/>
                </a:solidFill>
              </a:rPr>
              <a:t>ThreadLocal</a:t>
            </a:r>
            <a:r>
              <a:rPr lang="ko-KR" altLang="en-US" sz="1050" dirty="0">
                <a:solidFill>
                  <a:srgbClr val="1E293B"/>
                </a:solidFill>
              </a:rPr>
              <a:t>에 저장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② </a:t>
            </a:r>
            <a:r>
              <a:rPr lang="en-US" sz="1050" dirty="0" err="1">
                <a:solidFill>
                  <a:srgbClr val="1E293B"/>
                </a:solidFill>
              </a:rPr>
              <a:t>CsrfFilter</a:t>
            </a:r>
            <a:r>
              <a:rPr lang="en-US" sz="1050" dirty="0">
                <a:solidFill>
                  <a:srgbClr val="1E293B"/>
                </a:solidFill>
              </a:rPr>
              <a:t>             → GET</a:t>
            </a:r>
            <a:r>
              <a:rPr lang="ko-KR" altLang="en-US" sz="1050" dirty="0">
                <a:solidFill>
                  <a:srgbClr val="1E293B"/>
                </a:solidFill>
              </a:rPr>
              <a:t>이므로 생략 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③ </a:t>
            </a:r>
            <a:r>
              <a:rPr lang="en-US" sz="1050" dirty="0" err="1">
                <a:solidFill>
                  <a:srgbClr val="1E293B"/>
                </a:solidFill>
              </a:rPr>
              <a:t>LogoutFilter</a:t>
            </a:r>
            <a:r>
              <a:rPr lang="en-US" sz="1050" dirty="0">
                <a:solidFill>
                  <a:srgbClr val="1E293B"/>
                </a:solidFill>
              </a:rPr>
              <a:t>        → /home</a:t>
            </a:r>
            <a:r>
              <a:rPr lang="ko-KR" altLang="en-US" sz="1050" dirty="0">
                <a:solidFill>
                  <a:srgbClr val="1E293B"/>
                </a:solidFill>
              </a:rPr>
              <a:t>이므로 통과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④ </a:t>
            </a:r>
            <a:r>
              <a:rPr lang="en-US" sz="1050" dirty="0" err="1">
                <a:solidFill>
                  <a:srgbClr val="1E293B"/>
                </a:solidFill>
              </a:rPr>
              <a:t>UsernamePasswordAuthFilter</a:t>
            </a:r>
            <a:r>
              <a:rPr lang="en-US" sz="1050" dirty="0">
                <a:solidFill>
                  <a:srgbClr val="1E293B"/>
                </a:solidFill>
              </a:rPr>
              <a:t>    → 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       POST /login </a:t>
            </a:r>
            <a:r>
              <a:rPr lang="ko-KR" altLang="en-US" sz="1050" dirty="0">
                <a:solidFill>
                  <a:srgbClr val="1E293B"/>
                </a:solidFill>
              </a:rPr>
              <a:t>아니므로 통과 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⑤ </a:t>
            </a:r>
            <a:r>
              <a:rPr lang="en-US" sz="1050" dirty="0" err="1">
                <a:solidFill>
                  <a:srgbClr val="1E293B"/>
                </a:solidFill>
              </a:rPr>
              <a:t>AnonymousAuthFilter</a:t>
            </a:r>
            <a:r>
              <a:rPr lang="en-US" sz="1050" dirty="0">
                <a:solidFill>
                  <a:srgbClr val="1E293B"/>
                </a:solidFill>
              </a:rPr>
              <a:t>    → </a:t>
            </a:r>
          </a:p>
          <a:p>
            <a:pPr>
              <a:lnSpc>
                <a:spcPct val="130000"/>
              </a:lnSpc>
            </a:pPr>
            <a:r>
              <a:rPr lang="en-US" altLang="ko-KR" sz="1050" dirty="0">
                <a:solidFill>
                  <a:srgbClr val="1E293B"/>
                </a:solidFill>
              </a:rPr>
              <a:t>       </a:t>
            </a:r>
            <a:r>
              <a:rPr lang="ko-KR" altLang="en-US" sz="1050" dirty="0" err="1">
                <a:solidFill>
                  <a:srgbClr val="1E293B"/>
                </a:solidFill>
              </a:rPr>
              <a:t>인증정보</a:t>
            </a:r>
            <a:r>
              <a:rPr lang="ko-KR" altLang="en-US" sz="1050" dirty="0">
                <a:solidFill>
                  <a:srgbClr val="1E293B"/>
                </a:solidFill>
              </a:rPr>
              <a:t> 있으므로 통과 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⑥ </a:t>
            </a:r>
            <a:r>
              <a:rPr lang="en-US" sz="1050" dirty="0" err="1">
                <a:solidFill>
                  <a:srgbClr val="1E293B"/>
                </a:solidFill>
              </a:rPr>
              <a:t>ExceptionTranslationFilter</a:t>
            </a:r>
            <a:r>
              <a:rPr lang="en-US" sz="1050" dirty="0">
                <a:solidFill>
                  <a:srgbClr val="1E293B"/>
                </a:solidFill>
              </a:rPr>
              <a:t>  → </a:t>
            </a:r>
            <a:r>
              <a:rPr lang="ko-KR" altLang="en-US" sz="1050" dirty="0">
                <a:solidFill>
                  <a:srgbClr val="1E293B"/>
                </a:solidFill>
              </a:rPr>
              <a:t>예외 대기 중</a:t>
            </a:r>
            <a:endParaRPr lang="en-US" sz="1050" dirty="0">
              <a:solidFill>
                <a:srgbClr val="1E293B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⑦ </a:t>
            </a:r>
            <a:r>
              <a:rPr lang="en-US" sz="1050" dirty="0" err="1">
                <a:solidFill>
                  <a:srgbClr val="1E293B"/>
                </a:solidFill>
              </a:rPr>
              <a:t>AuthorizationFilter</a:t>
            </a:r>
            <a:r>
              <a:rPr lang="en-US" sz="1050" dirty="0">
                <a:solidFill>
                  <a:srgbClr val="1E293B"/>
                </a:solidFill>
              </a:rPr>
              <a:t>    → </a:t>
            </a:r>
            <a:r>
              <a:rPr lang="ko-KR" altLang="en-US" sz="1050" dirty="0">
                <a:solidFill>
                  <a:srgbClr val="1E293B"/>
                </a:solidFill>
              </a:rPr>
              <a:t>권한 확인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        ↓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   권한 있음 → </a:t>
            </a:r>
            <a:r>
              <a:rPr lang="en-US" sz="1050" dirty="0">
                <a:solidFill>
                  <a:srgbClr val="1E293B"/>
                </a:solidFill>
              </a:rPr>
              <a:t>Controller </a:t>
            </a:r>
            <a:r>
              <a:rPr lang="ko-KR" altLang="en-US" sz="1050" dirty="0">
                <a:solidFill>
                  <a:srgbClr val="1E293B"/>
                </a:solidFill>
              </a:rPr>
              <a:t>실행</a:t>
            </a:r>
          </a:p>
          <a:p>
            <a:pPr>
              <a:lnSpc>
                <a:spcPct val="130000"/>
              </a:lnSpc>
            </a:pPr>
            <a:r>
              <a:rPr lang="ko-KR" altLang="en-US" sz="1050" dirty="0">
                <a:solidFill>
                  <a:srgbClr val="1E293B"/>
                </a:solidFill>
              </a:rPr>
              <a:t>   권한 없음 → </a:t>
            </a:r>
            <a:r>
              <a:rPr lang="en-US" sz="1050" dirty="0" err="1">
                <a:solidFill>
                  <a:srgbClr val="1E293B"/>
                </a:solidFill>
              </a:rPr>
              <a:t>AccessDeniedException</a:t>
            </a:r>
            <a:r>
              <a:rPr lang="en-US" sz="1050" dirty="0">
                <a:solidFill>
                  <a:srgbClr val="1E293B"/>
                </a:solidFill>
              </a:rPr>
              <a:t> → 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1E293B"/>
                </a:solidFill>
              </a:rPr>
              <a:t>                            ⑥ </a:t>
            </a:r>
            <a:r>
              <a:rPr lang="ko-KR" altLang="en-US" sz="1050" dirty="0">
                <a:solidFill>
                  <a:srgbClr val="1E293B"/>
                </a:solidFill>
              </a:rPr>
              <a:t>필터가 </a:t>
            </a:r>
            <a:r>
              <a:rPr lang="en-US" altLang="ko-KR" sz="1050" dirty="0">
                <a:solidFill>
                  <a:srgbClr val="1E293B"/>
                </a:solidFill>
              </a:rPr>
              <a:t>catch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55698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199697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 구조 — 상세 설명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133856" y="245059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인증 처리 상세 흐름 — 11단계 완전 해부</a:t>
            </a:r>
            <a:endParaRPr lang="en-US" sz="1800" dirty="0"/>
          </a:p>
        </p:txBody>
      </p:sp>
      <p:sp>
        <p:nvSpPr>
          <p:cNvPr id="20" name="Shape 57"/>
          <p:cNvSpPr/>
          <p:nvPr/>
        </p:nvSpPr>
        <p:spPr>
          <a:xfrm>
            <a:off x="347472" y="4700016"/>
            <a:ext cx="8449056" cy="329184"/>
          </a:xfrm>
          <a:prstGeom prst="rect">
            <a:avLst/>
          </a:prstGeom>
          <a:solidFill>
            <a:srgbClr val="1E293B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1" name="Text 58"/>
          <p:cNvSpPr/>
          <p:nvPr/>
        </p:nvSpPr>
        <p:spPr>
          <a:xfrm>
            <a:off x="475488" y="4700016"/>
            <a:ext cx="830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</a:rPr>
              <a:t>💡  개발자가 구현해야 할 것: </a:t>
            </a:r>
            <a:r>
              <a:rPr lang="en-US" sz="950" b="1" dirty="0" err="1">
                <a:solidFill>
                  <a:srgbClr val="22D3EE"/>
                </a:solidFill>
              </a:rPr>
              <a:t>UserDetailsService</a:t>
            </a:r>
            <a:r>
              <a:rPr lang="en-US" sz="950" b="1" dirty="0">
                <a:solidFill>
                  <a:srgbClr val="22D3EE"/>
                </a:solidFill>
              </a:rPr>
              <a:t> </a:t>
            </a:r>
            <a:r>
              <a:rPr lang="ko-KR" altLang="en-US" sz="950" b="1" dirty="0">
                <a:solidFill>
                  <a:srgbClr val="22D3EE"/>
                </a:solidFill>
              </a:rPr>
              <a:t>구현</a:t>
            </a:r>
            <a:r>
              <a:rPr lang="en-US" altLang="ko-KR" sz="950" b="1" dirty="0">
                <a:solidFill>
                  <a:srgbClr val="22D3EE"/>
                </a:solidFill>
              </a:rPr>
              <a:t>, </a:t>
            </a:r>
            <a:r>
              <a:rPr lang="en-US" sz="950" b="1" dirty="0">
                <a:solidFill>
                  <a:srgbClr val="22D3EE"/>
                </a:solidFill>
              </a:rPr>
              <a:t> PasswordEncoder Bean </a:t>
            </a:r>
            <a:r>
              <a:rPr lang="en-US" sz="950" b="1" dirty="0" err="1">
                <a:solidFill>
                  <a:srgbClr val="22D3EE"/>
                </a:solidFill>
              </a:rPr>
              <a:t>등록</a:t>
            </a:r>
            <a:r>
              <a:rPr lang="en-US" sz="950" b="1" dirty="0">
                <a:solidFill>
                  <a:srgbClr val="22D3EE"/>
                </a:solidFill>
              </a:rPr>
              <a:t> ,   나머지는 Spring </a:t>
            </a:r>
            <a:r>
              <a:rPr lang="en-US" sz="950" b="1" dirty="0" err="1">
                <a:solidFill>
                  <a:srgbClr val="22D3EE"/>
                </a:solidFill>
              </a:rPr>
              <a:t>Security가</a:t>
            </a:r>
            <a:r>
              <a:rPr lang="en-US" sz="950" b="1" dirty="0">
                <a:solidFill>
                  <a:srgbClr val="22D3EE"/>
                </a:solidFill>
              </a:rPr>
              <a:t> </a:t>
            </a:r>
            <a:r>
              <a:rPr lang="en-US" sz="950" b="1" dirty="0" err="1">
                <a:solidFill>
                  <a:srgbClr val="22D3EE"/>
                </a:solidFill>
              </a:rPr>
              <a:t>자동</a:t>
            </a:r>
            <a:r>
              <a:rPr lang="en-US" sz="950" b="1" dirty="0">
                <a:solidFill>
                  <a:srgbClr val="22D3EE"/>
                </a:solidFill>
              </a:rPr>
              <a:t> </a:t>
            </a:r>
            <a:r>
              <a:rPr lang="ko-KR" altLang="en-US" sz="950" b="1" dirty="0">
                <a:solidFill>
                  <a:srgbClr val="22D3EE"/>
                </a:solidFill>
              </a:rPr>
              <a:t>처리</a:t>
            </a:r>
            <a:endParaRPr lang="en-US" sz="950" dirty="0"/>
          </a:p>
        </p:txBody>
      </p:sp>
      <p:sp>
        <p:nvSpPr>
          <p:cNvPr id="11" name="Text 1"/>
          <p:cNvSpPr/>
          <p:nvPr/>
        </p:nvSpPr>
        <p:spPr>
          <a:xfrm>
            <a:off x="201168" y="860683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POST /login 요청 → UsernamePasswordAuthFilter → AuthenticationManager → AuthenticationProvider → UserDetailsService → SecurityContext 저장</a:t>
            </a:r>
            <a:endParaRPr lang="en-US" sz="1100" dirty="0"/>
          </a:p>
        </p:txBody>
      </p:sp>
      <p:sp>
        <p:nvSpPr>
          <p:cNvPr id="78" name="Shape 2"/>
          <p:cNvSpPr/>
          <p:nvPr/>
        </p:nvSpPr>
        <p:spPr>
          <a:xfrm>
            <a:off x="552424" y="1189770"/>
            <a:ext cx="1828800" cy="475698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9" name="Text 3"/>
          <p:cNvSpPr/>
          <p:nvPr/>
        </p:nvSpPr>
        <p:spPr>
          <a:xfrm>
            <a:off x="607288" y="1201986"/>
            <a:ext cx="1719072" cy="463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UsernamePassword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AuthenticationToken</a:t>
            </a:r>
            <a:endParaRPr lang="en-US" sz="950" dirty="0"/>
          </a:p>
        </p:txBody>
      </p:sp>
      <p:sp>
        <p:nvSpPr>
          <p:cNvPr id="80" name="Shape 4"/>
          <p:cNvSpPr/>
          <p:nvPr/>
        </p:nvSpPr>
        <p:spPr>
          <a:xfrm>
            <a:off x="552424" y="2147261"/>
            <a:ext cx="1828800" cy="65836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1" name="Text 5"/>
          <p:cNvSpPr/>
          <p:nvPr/>
        </p:nvSpPr>
        <p:spPr>
          <a:xfrm>
            <a:off x="607288" y="2147261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UsernamePassword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AuthenticationFilter</a:t>
            </a:r>
            <a:endParaRPr lang="en-US" sz="1100" dirty="0"/>
          </a:p>
        </p:txBody>
      </p:sp>
      <p:sp>
        <p:nvSpPr>
          <p:cNvPr id="82" name="Shape 6"/>
          <p:cNvSpPr/>
          <p:nvPr/>
        </p:nvSpPr>
        <p:spPr>
          <a:xfrm>
            <a:off x="3686265" y="2147261"/>
            <a:ext cx="1920240" cy="658368"/>
          </a:xfrm>
          <a:prstGeom prst="rect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3" name="Text 7"/>
          <p:cNvSpPr/>
          <p:nvPr/>
        </p:nvSpPr>
        <p:spPr>
          <a:xfrm>
            <a:off x="3741129" y="2147261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(Interface)</a:t>
            </a:r>
            <a:endParaRPr lang="en-US" sz="1100" dirty="0"/>
          </a:p>
        </p:txBody>
      </p:sp>
      <p:sp>
        <p:nvSpPr>
          <p:cNvPr id="84" name="Shape 8"/>
          <p:cNvSpPr/>
          <p:nvPr/>
        </p:nvSpPr>
        <p:spPr>
          <a:xfrm>
            <a:off x="3697960" y="3206707"/>
            <a:ext cx="1920240" cy="566928"/>
          </a:xfrm>
          <a:prstGeom prst="rect">
            <a:avLst/>
          </a:prstGeom>
          <a:solidFill>
            <a:srgbClr val="F4A7B9"/>
          </a:solidFill>
          <a:ln w="12700">
            <a:solidFill>
              <a:srgbClr val="F4A7B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5" name="Text 9"/>
          <p:cNvSpPr/>
          <p:nvPr/>
        </p:nvSpPr>
        <p:spPr>
          <a:xfrm>
            <a:off x="3752824" y="3206707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ProviderManager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구현체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86" name="Shape 10"/>
          <p:cNvSpPr/>
          <p:nvPr/>
        </p:nvSpPr>
        <p:spPr>
          <a:xfrm>
            <a:off x="6422872" y="2046994"/>
            <a:ext cx="1920240" cy="768096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</p:spPr>
      </p:sp>
      <p:sp>
        <p:nvSpPr>
          <p:cNvPr id="87" name="Shape 11"/>
          <p:cNvSpPr/>
          <p:nvPr/>
        </p:nvSpPr>
        <p:spPr>
          <a:xfrm>
            <a:off x="6377152" y="2001274"/>
            <a:ext cx="1920240" cy="768096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</p:spPr>
      </p:sp>
      <p:sp>
        <p:nvSpPr>
          <p:cNvPr id="88" name="Shape 12"/>
          <p:cNvSpPr/>
          <p:nvPr/>
        </p:nvSpPr>
        <p:spPr>
          <a:xfrm>
            <a:off x="6331432" y="1955554"/>
            <a:ext cx="1920240" cy="768096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9" name="Text 13"/>
          <p:cNvSpPr/>
          <p:nvPr/>
        </p:nvSpPr>
        <p:spPr>
          <a:xfrm>
            <a:off x="6386296" y="1955554"/>
            <a:ext cx="18105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(Interface)</a:t>
            </a:r>
            <a:endParaRPr lang="en-US" sz="1100" dirty="0"/>
          </a:p>
        </p:txBody>
      </p:sp>
      <p:sp>
        <p:nvSpPr>
          <p:cNvPr id="90" name="Shape 14"/>
          <p:cNvSpPr/>
          <p:nvPr/>
        </p:nvSpPr>
        <p:spPr>
          <a:xfrm>
            <a:off x="6331432" y="1149504"/>
            <a:ext cx="1920240" cy="418781"/>
          </a:xfrm>
          <a:prstGeom prst="rect">
            <a:avLst/>
          </a:prstGeom>
          <a:solidFill>
            <a:srgbClr val="F08080"/>
          </a:solidFill>
          <a:ln w="12700">
            <a:solidFill>
              <a:srgbClr val="F080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1" name="Text 15"/>
          <p:cNvSpPr/>
          <p:nvPr/>
        </p:nvSpPr>
        <p:spPr>
          <a:xfrm>
            <a:off x="6386296" y="1149504"/>
            <a:ext cx="1810512" cy="418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</a:t>
            </a:r>
            <a:endParaRPr lang="en-US" sz="1100" dirty="0"/>
          </a:p>
        </p:txBody>
      </p:sp>
      <p:sp>
        <p:nvSpPr>
          <p:cNvPr id="92" name="Shape 16"/>
          <p:cNvSpPr/>
          <p:nvPr/>
        </p:nvSpPr>
        <p:spPr>
          <a:xfrm>
            <a:off x="6331432" y="3020044"/>
            <a:ext cx="1920240" cy="658368"/>
          </a:xfrm>
          <a:prstGeom prst="rect">
            <a:avLst/>
          </a:prstGeom>
          <a:solidFill>
            <a:srgbClr val="B39CD0"/>
          </a:solidFill>
          <a:ln w="12700">
            <a:solidFill>
              <a:srgbClr val="B39CD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3" name="Text 17"/>
          <p:cNvSpPr/>
          <p:nvPr/>
        </p:nvSpPr>
        <p:spPr>
          <a:xfrm>
            <a:off x="6386296" y="3020044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</a:t>
            </a:r>
            <a:endParaRPr lang="en-US" sz="1100" dirty="0"/>
          </a:p>
        </p:txBody>
      </p:sp>
      <p:sp>
        <p:nvSpPr>
          <p:cNvPr id="94" name="Text 18"/>
          <p:cNvSpPr/>
          <p:nvPr/>
        </p:nvSpPr>
        <p:spPr>
          <a:xfrm>
            <a:off x="6382985" y="34237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loadUserByUsername()</a:t>
            </a:r>
            <a:endParaRPr lang="en-US" sz="850" dirty="0"/>
          </a:p>
        </p:txBody>
      </p:sp>
      <p:sp>
        <p:nvSpPr>
          <p:cNvPr id="95" name="Shape 19"/>
          <p:cNvSpPr/>
          <p:nvPr/>
        </p:nvSpPr>
        <p:spPr>
          <a:xfrm>
            <a:off x="6377152" y="3956518"/>
            <a:ext cx="1828800" cy="713232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6" name="Shape 20"/>
          <p:cNvSpPr/>
          <p:nvPr/>
        </p:nvSpPr>
        <p:spPr>
          <a:xfrm>
            <a:off x="6377152" y="3956518"/>
            <a:ext cx="1828800" cy="201168"/>
          </a:xfrm>
          <a:prstGeom prst="rect">
            <a:avLst/>
          </a:prstGeom>
          <a:solidFill>
            <a:srgbClr val="4A7BC4"/>
          </a:solidFill>
          <a:ln w="12700">
            <a:solidFill>
              <a:srgbClr val="4A7BC4"/>
            </a:solidFill>
            <a:prstDash val="solid"/>
          </a:ln>
        </p:spPr>
      </p:sp>
      <p:sp>
        <p:nvSpPr>
          <p:cNvPr id="97" name="Text 21"/>
          <p:cNvSpPr/>
          <p:nvPr/>
        </p:nvSpPr>
        <p:spPr>
          <a:xfrm>
            <a:off x="6377152" y="395651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(User, Role Table)</a:t>
            </a:r>
            <a:endParaRPr lang="en-US" sz="1000" dirty="0"/>
          </a:p>
        </p:txBody>
      </p:sp>
      <p:sp>
        <p:nvSpPr>
          <p:cNvPr id="98" name="Shape 22"/>
          <p:cNvSpPr/>
          <p:nvPr/>
        </p:nvSpPr>
        <p:spPr>
          <a:xfrm>
            <a:off x="552424" y="3185898"/>
            <a:ext cx="2103120" cy="1426464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9" name="Text 23"/>
          <p:cNvSpPr/>
          <p:nvPr/>
        </p:nvSpPr>
        <p:spPr>
          <a:xfrm>
            <a:off x="625576" y="324076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UsernamePassword</a:t>
            </a:r>
            <a:endParaRPr lang="en-US" sz="105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AuthenticationFilter</a:t>
            </a:r>
            <a:endParaRPr lang="en-US" sz="1050" dirty="0"/>
          </a:p>
        </p:txBody>
      </p:sp>
      <p:sp>
        <p:nvSpPr>
          <p:cNvPr id="100" name="Shape 24"/>
          <p:cNvSpPr/>
          <p:nvPr/>
        </p:nvSpPr>
        <p:spPr>
          <a:xfrm>
            <a:off x="698728" y="3551658"/>
            <a:ext cx="1810512" cy="932688"/>
          </a:xfrm>
          <a:prstGeom prst="rect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1" name="Text 25"/>
          <p:cNvSpPr/>
          <p:nvPr/>
        </p:nvSpPr>
        <p:spPr>
          <a:xfrm>
            <a:off x="698728" y="355165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SecurityContext</a:t>
            </a:r>
            <a:endParaRPr lang="en-US" sz="1000" dirty="0"/>
          </a:p>
        </p:txBody>
      </p:sp>
      <p:sp>
        <p:nvSpPr>
          <p:cNvPr id="102" name="Shape 26"/>
          <p:cNvSpPr/>
          <p:nvPr/>
        </p:nvSpPr>
        <p:spPr>
          <a:xfrm>
            <a:off x="845032" y="3880842"/>
            <a:ext cx="1517904" cy="530352"/>
          </a:xfrm>
          <a:prstGeom prst="rect">
            <a:avLst/>
          </a:prstGeom>
          <a:solidFill>
            <a:srgbClr val="A8D8A8"/>
          </a:solidFill>
          <a:ln w="12700">
            <a:solidFill>
              <a:srgbClr val="A8D8A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" name="Text 27"/>
          <p:cNvSpPr/>
          <p:nvPr/>
        </p:nvSpPr>
        <p:spPr>
          <a:xfrm>
            <a:off x="845032" y="3880842"/>
            <a:ext cx="1517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Authentication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Principal + Authorities</a:t>
            </a:r>
            <a:endParaRPr lang="en-US" sz="950" dirty="0"/>
          </a:p>
        </p:txBody>
      </p:sp>
      <p:sp>
        <p:nvSpPr>
          <p:cNvPr id="104" name="Shape 28"/>
          <p:cNvSpPr/>
          <p:nvPr/>
        </p:nvSpPr>
        <p:spPr>
          <a:xfrm>
            <a:off x="221219" y="2476445"/>
            <a:ext cx="331204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05" name="Text 30"/>
          <p:cNvSpPr/>
          <p:nvPr/>
        </p:nvSpPr>
        <p:spPr>
          <a:xfrm>
            <a:off x="221219" y="221203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1→</a:t>
            </a:r>
            <a:endParaRPr lang="en-US" sz="1000" dirty="0"/>
          </a:p>
        </p:txBody>
      </p:sp>
      <p:sp>
        <p:nvSpPr>
          <p:cNvPr id="106" name="Shape 31"/>
          <p:cNvSpPr/>
          <p:nvPr/>
        </p:nvSpPr>
        <p:spPr>
          <a:xfrm>
            <a:off x="1466824" y="2147261"/>
            <a:ext cx="0" cy="0"/>
          </a:xfrm>
          <a:prstGeom prst="line">
            <a:avLst/>
          </a:prstGeom>
          <a:noFill/>
          <a:ln w="25400">
            <a:solidFill>
              <a:srgbClr val="5BA4CF"/>
            </a:solidFill>
            <a:prstDash val="solid"/>
          </a:ln>
        </p:spPr>
      </p:sp>
      <p:sp>
        <p:nvSpPr>
          <p:cNvPr id="107" name="Shape 32"/>
          <p:cNvSpPr/>
          <p:nvPr/>
        </p:nvSpPr>
        <p:spPr>
          <a:xfrm rot="2700000">
            <a:off x="1398244" y="1706616"/>
            <a:ext cx="137160" cy="13716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08" name="Text 33"/>
          <p:cNvSpPr/>
          <p:nvPr/>
        </p:nvSpPr>
        <p:spPr>
          <a:xfrm>
            <a:off x="1576553" y="1687797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②</a:t>
            </a:r>
            <a:endParaRPr lang="en-US" sz="1100" dirty="0"/>
          </a:p>
        </p:txBody>
      </p:sp>
      <p:sp>
        <p:nvSpPr>
          <p:cNvPr id="109" name="Shape 34"/>
          <p:cNvSpPr/>
          <p:nvPr/>
        </p:nvSpPr>
        <p:spPr>
          <a:xfrm>
            <a:off x="2399511" y="2363182"/>
            <a:ext cx="1316736" cy="0"/>
          </a:xfrm>
          <a:prstGeom prst="line">
            <a:avLst/>
          </a:prstGeom>
          <a:noFill/>
          <a:ln w="25400">
            <a:solidFill>
              <a:srgbClr val="5BA4CF"/>
            </a:solidFill>
            <a:prstDash val="solid"/>
          </a:ln>
        </p:spPr>
      </p:sp>
      <p:sp>
        <p:nvSpPr>
          <p:cNvPr id="110" name="Shape 35"/>
          <p:cNvSpPr/>
          <p:nvPr/>
        </p:nvSpPr>
        <p:spPr>
          <a:xfrm rot="2700000">
            <a:off x="3552701" y="2300038"/>
            <a:ext cx="137160" cy="13716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11" name="Text 36"/>
          <p:cNvSpPr/>
          <p:nvPr/>
        </p:nvSpPr>
        <p:spPr>
          <a:xfrm>
            <a:off x="2745207" y="2148383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③</a:t>
            </a:r>
            <a:endParaRPr lang="en-US" sz="1100" dirty="0"/>
          </a:p>
        </p:txBody>
      </p:sp>
      <p:sp>
        <p:nvSpPr>
          <p:cNvPr id="112" name="Shape 37"/>
          <p:cNvSpPr/>
          <p:nvPr/>
        </p:nvSpPr>
        <p:spPr>
          <a:xfrm>
            <a:off x="2399511" y="2563721"/>
            <a:ext cx="1316736" cy="0"/>
          </a:xfrm>
          <a:prstGeom prst="line">
            <a:avLst/>
          </a:prstGeom>
          <a:noFill/>
          <a:ln w="25400">
            <a:solidFill>
              <a:srgbClr val="F0C96A"/>
            </a:solidFill>
            <a:prstDash val="solid"/>
          </a:ln>
        </p:spPr>
      </p:sp>
      <p:sp>
        <p:nvSpPr>
          <p:cNvPr id="113" name="Shape 38"/>
          <p:cNvSpPr/>
          <p:nvPr/>
        </p:nvSpPr>
        <p:spPr>
          <a:xfrm rot="2700000">
            <a:off x="2395916" y="2496271"/>
            <a:ext cx="137160" cy="137160"/>
          </a:xfrm>
          <a:prstGeom prst="rect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</p:spPr>
      </p:sp>
      <p:sp>
        <p:nvSpPr>
          <p:cNvPr id="114" name="Text 39"/>
          <p:cNvSpPr/>
          <p:nvPr/>
        </p:nvSpPr>
        <p:spPr>
          <a:xfrm>
            <a:off x="2755153" y="2632211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⑩</a:t>
            </a:r>
            <a:endParaRPr lang="en-US" sz="1100" dirty="0"/>
          </a:p>
        </p:txBody>
      </p:sp>
      <p:sp>
        <p:nvSpPr>
          <p:cNvPr id="115" name="Shape 40"/>
          <p:cNvSpPr/>
          <p:nvPr/>
        </p:nvSpPr>
        <p:spPr>
          <a:xfrm>
            <a:off x="5618200" y="2353155"/>
            <a:ext cx="713232" cy="0"/>
          </a:xfrm>
          <a:prstGeom prst="line">
            <a:avLst/>
          </a:prstGeom>
          <a:noFill/>
          <a:ln w="25400">
            <a:solidFill>
              <a:srgbClr val="F0C96A"/>
            </a:solidFill>
            <a:prstDash val="solid"/>
          </a:ln>
        </p:spPr>
      </p:sp>
      <p:sp>
        <p:nvSpPr>
          <p:cNvPr id="116" name="Shape 41"/>
          <p:cNvSpPr/>
          <p:nvPr/>
        </p:nvSpPr>
        <p:spPr>
          <a:xfrm rot="2700000">
            <a:off x="6192553" y="2271022"/>
            <a:ext cx="137160" cy="137160"/>
          </a:xfrm>
          <a:prstGeom prst="rect">
            <a:avLst/>
          </a:prstGeom>
          <a:solidFill>
            <a:srgbClr val="F0C96A"/>
          </a:solidFill>
          <a:ln w="12700">
            <a:solidFill>
              <a:srgbClr val="F0C96A"/>
            </a:solidFill>
            <a:prstDash val="solid"/>
          </a:ln>
        </p:spPr>
      </p:sp>
      <p:sp>
        <p:nvSpPr>
          <p:cNvPr id="117" name="Text 42"/>
          <p:cNvSpPr/>
          <p:nvPr/>
        </p:nvSpPr>
        <p:spPr>
          <a:xfrm>
            <a:off x="5773648" y="2166489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④</a:t>
            </a:r>
            <a:endParaRPr lang="en-US" sz="1100" dirty="0"/>
          </a:p>
        </p:txBody>
      </p:sp>
      <p:sp>
        <p:nvSpPr>
          <p:cNvPr id="118" name="Shape 43"/>
          <p:cNvSpPr/>
          <p:nvPr/>
        </p:nvSpPr>
        <p:spPr>
          <a:xfrm>
            <a:off x="5618200" y="2554323"/>
            <a:ext cx="713232" cy="0"/>
          </a:xfrm>
          <a:prstGeom prst="line">
            <a:avLst/>
          </a:prstGeom>
          <a:noFill/>
          <a:ln w="25400">
            <a:solidFill>
              <a:srgbClr val="7DC98A"/>
            </a:solidFill>
            <a:prstDash val="solid"/>
          </a:ln>
        </p:spPr>
      </p:sp>
      <p:sp>
        <p:nvSpPr>
          <p:cNvPr id="119" name="Shape 44"/>
          <p:cNvSpPr/>
          <p:nvPr/>
        </p:nvSpPr>
        <p:spPr>
          <a:xfrm rot="2700000">
            <a:off x="5625768" y="2476794"/>
            <a:ext cx="137160" cy="137160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</p:spPr>
      </p:sp>
      <p:sp>
        <p:nvSpPr>
          <p:cNvPr id="120" name="Text 45"/>
          <p:cNvSpPr/>
          <p:nvPr/>
        </p:nvSpPr>
        <p:spPr>
          <a:xfrm>
            <a:off x="5798192" y="2600677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⑨</a:t>
            </a:r>
            <a:endParaRPr lang="en-US" sz="1100" dirty="0"/>
          </a:p>
        </p:txBody>
      </p:sp>
      <p:sp>
        <p:nvSpPr>
          <p:cNvPr id="121" name="Shape 46"/>
          <p:cNvSpPr/>
          <p:nvPr/>
        </p:nvSpPr>
        <p:spPr>
          <a:xfrm>
            <a:off x="7587944" y="1696302"/>
            <a:ext cx="0" cy="0"/>
          </a:xfrm>
          <a:prstGeom prst="line">
            <a:avLst/>
          </a:prstGeom>
          <a:noFill/>
          <a:ln w="25400">
            <a:solidFill>
              <a:srgbClr val="7DC98A"/>
            </a:solidFill>
            <a:prstDash val="solid"/>
          </a:ln>
        </p:spPr>
      </p:sp>
      <p:sp>
        <p:nvSpPr>
          <p:cNvPr id="122" name="Text 48"/>
          <p:cNvSpPr/>
          <p:nvPr/>
        </p:nvSpPr>
        <p:spPr>
          <a:xfrm>
            <a:off x="6702253" y="279680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⑤</a:t>
            </a:r>
            <a:endParaRPr lang="en-US" sz="1100" dirty="0"/>
          </a:p>
        </p:txBody>
      </p:sp>
      <p:sp>
        <p:nvSpPr>
          <p:cNvPr id="123" name="Shape 49"/>
          <p:cNvSpPr/>
          <p:nvPr/>
        </p:nvSpPr>
        <p:spPr>
          <a:xfrm>
            <a:off x="7003516" y="2654284"/>
            <a:ext cx="0" cy="365760"/>
          </a:xfrm>
          <a:prstGeom prst="line">
            <a:avLst/>
          </a:prstGeom>
          <a:noFill/>
          <a:ln w="25400">
            <a:solidFill>
              <a:srgbClr val="7DC98A"/>
            </a:solidFill>
            <a:prstDash val="solid"/>
          </a:ln>
        </p:spPr>
      </p:sp>
      <p:sp>
        <p:nvSpPr>
          <p:cNvPr id="124" name="Shape 50"/>
          <p:cNvSpPr/>
          <p:nvPr/>
        </p:nvSpPr>
        <p:spPr>
          <a:xfrm rot="2700000">
            <a:off x="6934936" y="2951464"/>
            <a:ext cx="137160" cy="137160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</p:spPr>
      </p:sp>
      <p:sp>
        <p:nvSpPr>
          <p:cNvPr id="125" name="Text 51"/>
          <p:cNvSpPr/>
          <p:nvPr/>
        </p:nvSpPr>
        <p:spPr>
          <a:xfrm>
            <a:off x="7395670" y="3685981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⑥</a:t>
            </a:r>
            <a:endParaRPr lang="en-US" sz="1100" dirty="0"/>
          </a:p>
        </p:txBody>
      </p:sp>
      <p:sp>
        <p:nvSpPr>
          <p:cNvPr id="126" name="Shape 52"/>
          <p:cNvSpPr/>
          <p:nvPr/>
        </p:nvSpPr>
        <p:spPr>
          <a:xfrm>
            <a:off x="7579588" y="2654284"/>
            <a:ext cx="0" cy="365760"/>
          </a:xfrm>
          <a:prstGeom prst="line">
            <a:avLst/>
          </a:prstGeom>
          <a:noFill/>
          <a:ln w="25400">
            <a:solidFill>
              <a:srgbClr val="B39CD0"/>
            </a:solidFill>
            <a:prstDash val="solid"/>
          </a:ln>
        </p:spPr>
      </p:sp>
      <p:sp>
        <p:nvSpPr>
          <p:cNvPr id="127" name="Shape 53"/>
          <p:cNvSpPr/>
          <p:nvPr/>
        </p:nvSpPr>
        <p:spPr>
          <a:xfrm rot="2700000">
            <a:off x="7511008" y="2655070"/>
            <a:ext cx="137160" cy="137160"/>
          </a:xfrm>
          <a:prstGeom prst="rect">
            <a:avLst/>
          </a:prstGeom>
          <a:solidFill>
            <a:srgbClr val="B39CD0"/>
          </a:solidFill>
          <a:ln w="12700">
            <a:solidFill>
              <a:srgbClr val="B39CD0"/>
            </a:solidFill>
            <a:prstDash val="solid"/>
          </a:ln>
        </p:spPr>
      </p:sp>
      <p:sp>
        <p:nvSpPr>
          <p:cNvPr id="128" name="Text 54"/>
          <p:cNvSpPr/>
          <p:nvPr/>
        </p:nvSpPr>
        <p:spPr>
          <a:xfrm>
            <a:off x="7135975" y="1634573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⑧</a:t>
            </a:r>
            <a:endParaRPr lang="en-US" sz="1100" dirty="0"/>
          </a:p>
        </p:txBody>
      </p:sp>
      <p:sp>
        <p:nvSpPr>
          <p:cNvPr id="129" name="Text 55"/>
          <p:cNvSpPr/>
          <p:nvPr/>
        </p:nvSpPr>
        <p:spPr>
          <a:xfrm>
            <a:off x="7907795" y="2793019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39CD0"/>
                </a:solidFill>
              </a:rPr>
              <a:t>UserDetails</a:t>
            </a:r>
            <a:endParaRPr lang="en-US" sz="900" dirty="0"/>
          </a:p>
        </p:txBody>
      </p:sp>
      <p:sp>
        <p:nvSpPr>
          <p:cNvPr id="130" name="Shape 56"/>
          <p:cNvSpPr/>
          <p:nvPr/>
        </p:nvSpPr>
        <p:spPr>
          <a:xfrm>
            <a:off x="7282408" y="3696700"/>
            <a:ext cx="9144" cy="259818"/>
          </a:xfrm>
          <a:prstGeom prst="line">
            <a:avLst/>
          </a:prstGeom>
          <a:noFill/>
          <a:ln w="25400">
            <a:solidFill>
              <a:srgbClr val="5B8DD9"/>
            </a:solidFill>
            <a:prstDash val="solid"/>
          </a:ln>
        </p:spPr>
      </p:sp>
      <p:sp>
        <p:nvSpPr>
          <p:cNvPr id="131" name="Shape 57"/>
          <p:cNvSpPr/>
          <p:nvPr/>
        </p:nvSpPr>
        <p:spPr>
          <a:xfrm rot="2700000">
            <a:off x="7222972" y="3887938"/>
            <a:ext cx="137160" cy="137160"/>
          </a:xfrm>
          <a:prstGeom prst="rect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32" name="Text 58"/>
          <p:cNvSpPr/>
          <p:nvPr/>
        </p:nvSpPr>
        <p:spPr>
          <a:xfrm>
            <a:off x="7650677" y="2806135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⑦</a:t>
            </a:r>
            <a:endParaRPr lang="en-US" sz="1100" dirty="0"/>
          </a:p>
        </p:txBody>
      </p:sp>
      <p:sp>
        <p:nvSpPr>
          <p:cNvPr id="133" name="Shape 59"/>
          <p:cNvSpPr/>
          <p:nvPr/>
        </p:nvSpPr>
        <p:spPr>
          <a:xfrm>
            <a:off x="1466824" y="2807966"/>
            <a:ext cx="0" cy="377931"/>
          </a:xfrm>
          <a:prstGeom prst="line">
            <a:avLst/>
          </a:prstGeom>
          <a:noFill/>
          <a:ln w="25400">
            <a:solidFill>
              <a:srgbClr val="5BA4CF"/>
            </a:solidFill>
            <a:prstDash val="solid"/>
          </a:ln>
        </p:spPr>
      </p:sp>
      <p:sp>
        <p:nvSpPr>
          <p:cNvPr id="134" name="Shape 60"/>
          <p:cNvSpPr/>
          <p:nvPr/>
        </p:nvSpPr>
        <p:spPr>
          <a:xfrm rot="2700000">
            <a:off x="1398244" y="3117318"/>
            <a:ext cx="137160" cy="13716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35" name="Text 61"/>
          <p:cNvSpPr/>
          <p:nvPr/>
        </p:nvSpPr>
        <p:spPr>
          <a:xfrm>
            <a:off x="1570050" y="2828209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⑪</a:t>
            </a:r>
            <a:endParaRPr lang="en-US" sz="1100" dirty="0"/>
          </a:p>
        </p:txBody>
      </p:sp>
      <p:sp>
        <p:nvSpPr>
          <p:cNvPr id="136" name="Shape 62"/>
          <p:cNvSpPr/>
          <p:nvPr/>
        </p:nvSpPr>
        <p:spPr>
          <a:xfrm>
            <a:off x="4658080" y="2833379"/>
            <a:ext cx="0" cy="373328"/>
          </a:xfrm>
          <a:prstGeom prst="line">
            <a:avLst/>
          </a:prstGeom>
          <a:noFill/>
          <a:ln w="20320">
            <a:solidFill>
              <a:srgbClr val="F4A7B9"/>
            </a:solidFill>
            <a:prstDash val="solid"/>
          </a:ln>
        </p:spPr>
      </p:sp>
      <p:sp>
        <p:nvSpPr>
          <p:cNvPr id="138" name="Shape 59"/>
          <p:cNvSpPr/>
          <p:nvPr/>
        </p:nvSpPr>
        <p:spPr>
          <a:xfrm>
            <a:off x="1466824" y="1848138"/>
            <a:ext cx="0" cy="365970"/>
          </a:xfrm>
          <a:prstGeom prst="line">
            <a:avLst/>
          </a:prstGeom>
          <a:noFill/>
          <a:ln w="25400">
            <a:solidFill>
              <a:srgbClr val="5BA4CF"/>
            </a:solidFill>
            <a:prstDash val="solid"/>
          </a:ln>
        </p:spPr>
      </p:sp>
      <p:sp>
        <p:nvSpPr>
          <p:cNvPr id="140" name="Shape 52"/>
          <p:cNvSpPr/>
          <p:nvPr/>
        </p:nvSpPr>
        <p:spPr>
          <a:xfrm>
            <a:off x="7481760" y="1592121"/>
            <a:ext cx="0" cy="365760"/>
          </a:xfrm>
          <a:prstGeom prst="line">
            <a:avLst/>
          </a:prstGeom>
          <a:noFill/>
          <a:ln w="25400">
            <a:solidFill>
              <a:srgbClr val="B39CD0"/>
            </a:solidFill>
            <a:prstDash val="solid"/>
          </a:ln>
        </p:spPr>
      </p:sp>
      <p:sp>
        <p:nvSpPr>
          <p:cNvPr id="141" name="Shape 53"/>
          <p:cNvSpPr/>
          <p:nvPr/>
        </p:nvSpPr>
        <p:spPr>
          <a:xfrm rot="2700000">
            <a:off x="7410217" y="1563715"/>
            <a:ext cx="137160" cy="137160"/>
          </a:xfrm>
          <a:prstGeom prst="rect">
            <a:avLst/>
          </a:prstGeom>
          <a:solidFill>
            <a:srgbClr val="B39CD0"/>
          </a:solidFill>
          <a:ln w="12700">
            <a:solidFill>
              <a:srgbClr val="B39CD0"/>
            </a:solidFill>
            <a:prstDash val="solid"/>
          </a:ln>
        </p:spPr>
      </p:sp>
      <p:sp>
        <p:nvSpPr>
          <p:cNvPr id="142" name="Shape 44"/>
          <p:cNvSpPr/>
          <p:nvPr/>
        </p:nvSpPr>
        <p:spPr>
          <a:xfrm rot="2700000">
            <a:off x="7403114" y="1801081"/>
            <a:ext cx="137160" cy="137160"/>
          </a:xfrm>
          <a:prstGeom prst="rect">
            <a:avLst/>
          </a:prstGeom>
          <a:solidFill>
            <a:srgbClr val="7DC98A"/>
          </a:solidFill>
          <a:ln w="12700">
            <a:solidFill>
              <a:srgbClr val="7DC98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93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인증 처리 흐름 — 단계별 상세 설명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82240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82240"/>
            <a:ext cx="347472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224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90967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진입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17484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HTTP </a:t>
            </a:r>
            <a:r>
              <a:rPr lang="en-US" sz="950" dirty="0" err="1">
                <a:solidFill>
                  <a:srgbClr val="1E293B"/>
                </a:solidFill>
              </a:rPr>
              <a:t>요청이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sz="950" dirty="0" err="1">
                <a:solidFill>
                  <a:srgbClr val="1E293B"/>
                </a:solidFill>
              </a:rPr>
              <a:t>UsernamePasswordAuthenticationFilter에</a:t>
            </a:r>
            <a:r>
              <a:rPr lang="en-US" sz="950" dirty="0">
                <a:solidFill>
                  <a:srgbClr val="1E293B"/>
                </a:solidFill>
              </a:rPr>
              <a:t> 도달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" y="1449168"/>
            <a:ext cx="0" cy="9144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540608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1540608"/>
            <a:ext cx="347472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40608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156804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생성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183321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E293B"/>
                </a:solidFill>
              </a:rPr>
              <a:t>email+password</a:t>
            </a:r>
            <a:r>
              <a:rPr lang="ko-KR" altLang="en-US" sz="950" dirty="0">
                <a:solidFill>
                  <a:srgbClr val="1E293B"/>
                </a:solidFill>
              </a:rPr>
              <a:t>을 저장한</a:t>
            </a:r>
            <a:r>
              <a:rPr lang="en-US" sz="950" dirty="0">
                <a:solidFill>
                  <a:srgbClr val="1E293B"/>
                </a:solidFill>
              </a:rPr>
              <a:t> UsernamePasswordAuthenticationToken </a:t>
            </a:r>
            <a:r>
              <a:rPr lang="en-US" sz="950" dirty="0" err="1">
                <a:solidFill>
                  <a:srgbClr val="1E293B"/>
                </a:solidFill>
              </a:rPr>
              <a:t>생성</a:t>
            </a:r>
            <a:r>
              <a:rPr lang="en-US" sz="950" dirty="0">
                <a:solidFill>
                  <a:srgbClr val="1E293B"/>
                </a:solidFill>
              </a:rPr>
              <a:t> (authenticated = false)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" y="2107536"/>
            <a:ext cx="0" cy="9144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198976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198976"/>
            <a:ext cx="347472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198976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222640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위임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49158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</a:rPr>
              <a:t>authenticationManager.authenticate(token) </a:t>
            </a:r>
            <a:r>
              <a:rPr lang="en-US" sz="950" dirty="0" err="1">
                <a:solidFill>
                  <a:srgbClr val="1E293B"/>
                </a:solidFill>
              </a:rPr>
              <a:t>호출</a:t>
            </a:r>
            <a:r>
              <a:rPr lang="ko-KR" altLang="en-US" sz="950" dirty="0">
                <a:solidFill>
                  <a:srgbClr val="1E293B"/>
                </a:solidFill>
              </a:rPr>
              <a:t>하여</a:t>
            </a:r>
            <a:r>
              <a:rPr lang="en-US" sz="950" dirty="0">
                <a:solidFill>
                  <a:srgbClr val="1E293B"/>
                </a:solidFill>
              </a:rPr>
              <a:t> 실제 </a:t>
            </a:r>
            <a:r>
              <a:rPr lang="en-US" sz="950" dirty="0" err="1">
                <a:solidFill>
                  <a:srgbClr val="1E293B"/>
                </a:solidFill>
              </a:rPr>
              <a:t>검증을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altLang="ko-KR" sz="950" dirty="0" err="1">
                <a:solidFill>
                  <a:srgbClr val="1E293B"/>
                </a:solidFill>
              </a:rPr>
              <a:t>AuthenticationManager</a:t>
            </a:r>
            <a:r>
              <a:rPr lang="en-US" sz="950" dirty="0" err="1">
                <a:solidFill>
                  <a:srgbClr val="1E293B"/>
                </a:solidFill>
              </a:rPr>
              <a:t>에</a:t>
            </a:r>
            <a:r>
              <a:rPr lang="en-US" sz="950" dirty="0">
                <a:solidFill>
                  <a:srgbClr val="1E293B"/>
                </a:solidFill>
              </a:rPr>
              <a:t> 위임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" y="2765904"/>
            <a:ext cx="0" cy="9144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857344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857344"/>
            <a:ext cx="347472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857344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④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" y="288477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호출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314995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AuthenticationManager(ProviderManager)가 </a:t>
            </a:r>
            <a:r>
              <a:rPr lang="en-US" sz="950" dirty="0" err="1">
                <a:solidFill>
                  <a:srgbClr val="1E293B"/>
                </a:solidFill>
              </a:rPr>
              <a:t>AuthenticationProvider를</a:t>
            </a:r>
            <a:r>
              <a:rPr lang="en-US" sz="950" dirty="0">
                <a:solidFill>
                  <a:srgbClr val="1E293B"/>
                </a:solidFill>
              </a:rPr>
              <a:t> 찾아 위임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" y="3424272"/>
            <a:ext cx="0" cy="91440"/>
          </a:xfrm>
          <a:prstGeom prst="line">
            <a:avLst/>
          </a:prstGeom>
          <a:noFill/>
          <a:ln w="15240">
            <a:solidFill>
              <a:srgbClr val="6D28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515712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3515712"/>
            <a:ext cx="34747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515712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21208" y="4082640"/>
            <a:ext cx="0" cy="9144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4174080"/>
            <a:ext cx="41605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4174080"/>
            <a:ext cx="347472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174080"/>
            <a:ext cx="347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58952" y="355228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조회 요청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0665" y="381021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AuthenticationProvider가</a:t>
            </a:r>
            <a:r>
              <a:rPr lang="en-US" sz="950" dirty="0">
                <a:solidFill>
                  <a:srgbClr val="1E293B"/>
                </a:solidFill>
              </a:rPr>
              <a:t> userDetailsService.loadUserByUsername(email) 호출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882240"/>
            <a:ext cx="4160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D4ED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45152" y="882240"/>
            <a:ext cx="347472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882240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⑦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0664" y="4178905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쿼리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0665" y="4446697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</a:rPr>
              <a:t>UserDetailsService가</a:t>
            </a:r>
            <a:r>
              <a:rPr lang="en-US" sz="950" dirty="0">
                <a:solidFill>
                  <a:srgbClr val="1E293B"/>
                </a:solidFill>
              </a:rPr>
              <a:t> DB에서 사용자 조회 (SELECT * FROM users WHERE email=?)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18888" y="1522320"/>
            <a:ext cx="0" cy="109728"/>
          </a:xfrm>
          <a:prstGeom prst="line">
            <a:avLst/>
          </a:prstGeom>
          <a:noFill/>
          <a:ln w="15240">
            <a:solidFill>
              <a:srgbClr val="1D4E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45152" y="1632048"/>
            <a:ext cx="4160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45152" y="1632048"/>
            <a:ext cx="34747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1632048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⑧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056632" y="92360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반환</a:t>
            </a:r>
            <a:endParaRPr lang="en-US" sz="1100" dirty="0">
              <a:solidFill>
                <a:srgbClr val="0070C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5056632" y="121621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</a:rPr>
              <a:t>DB 조회 결과를 Spring Security의 UserDetails 객체로 </a:t>
            </a:r>
            <a:r>
              <a:rPr lang="en-US" sz="950" dirty="0" err="1">
                <a:solidFill>
                  <a:srgbClr val="1E293B"/>
                </a:solidFill>
              </a:rPr>
              <a:t>변환하여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altLang="ko-KR" sz="950" dirty="0" err="1">
                <a:solidFill>
                  <a:srgbClr val="1E293B"/>
                </a:solidFill>
              </a:rPr>
              <a:t>AuthenticationProvider</a:t>
            </a:r>
            <a:r>
              <a:rPr lang="en-US" sz="950" dirty="0" err="1">
                <a:solidFill>
                  <a:srgbClr val="1E293B"/>
                </a:solidFill>
              </a:rPr>
              <a:t>에</a:t>
            </a:r>
            <a:r>
              <a:rPr lang="ko-KR" altLang="en-US" sz="950" dirty="0">
                <a:solidFill>
                  <a:srgbClr val="1E293B"/>
                </a:solidFill>
              </a:rPr>
              <a:t>게</a:t>
            </a:r>
            <a:r>
              <a:rPr lang="en-US" sz="950" dirty="0">
                <a:solidFill>
                  <a:srgbClr val="1E293B"/>
                </a:solidFill>
              </a:rPr>
              <a:t> 반환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18888" y="2272128"/>
            <a:ext cx="0" cy="109728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45152" y="2381856"/>
            <a:ext cx="4160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45152" y="2381856"/>
            <a:ext cx="34747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5152" y="2381856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⑨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047488" y="241843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결과 반환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71104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비밀번호 검증 성공 시 (authenticated=true)인 Token을 AuthenticationManager에 반환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18888" y="3021936"/>
            <a:ext cx="0" cy="109728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45152" y="3131664"/>
            <a:ext cx="4160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45152" y="3131664"/>
            <a:ext cx="347472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3131664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⑩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5047488" y="316824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Filter에 결과 전달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47488" y="34608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</a:rPr>
              <a:t>AuthenticationManager가 인증된 Authentication </a:t>
            </a:r>
            <a:r>
              <a:rPr lang="en-US" sz="950" dirty="0" err="1">
                <a:solidFill>
                  <a:srgbClr val="1E293B"/>
                </a:solidFill>
              </a:rPr>
              <a:t>객체를</a:t>
            </a:r>
            <a:r>
              <a:rPr lang="en-US" sz="950" dirty="0">
                <a:solidFill>
                  <a:srgbClr val="1E293B"/>
                </a:solidFill>
              </a:rPr>
              <a:t> </a:t>
            </a:r>
            <a:r>
              <a:rPr lang="en-US" altLang="ko-KR" sz="950" dirty="0" err="1">
                <a:solidFill>
                  <a:srgbClr val="1E293B"/>
                </a:solidFill>
              </a:rPr>
              <a:t>UsernamePasswordAuthenticationFilter</a:t>
            </a:r>
            <a:r>
              <a:rPr lang="en-US" altLang="ko-KR" sz="950" dirty="0">
                <a:solidFill>
                  <a:srgbClr val="1E293B"/>
                </a:solidFill>
              </a:rPr>
              <a:t> </a:t>
            </a:r>
            <a:r>
              <a:rPr lang="en-US" sz="950" dirty="0">
                <a:solidFill>
                  <a:srgbClr val="1E293B"/>
                </a:solidFill>
              </a:rPr>
              <a:t>에 반환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18888" y="3771744"/>
            <a:ext cx="0" cy="109728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45152" y="3881472"/>
            <a:ext cx="41605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284C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45152" y="3881472"/>
            <a:ext cx="347472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45152" y="3881472"/>
            <a:ext cx="347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⑪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5047488" y="391804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저장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4210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50" dirty="0" err="1">
                <a:solidFill>
                  <a:srgbClr val="1E293B"/>
                </a:solidFill>
              </a:rPr>
              <a:t>UsernamePasswordAuthenticationFilter</a:t>
            </a:r>
            <a:r>
              <a:rPr lang="en-US" altLang="ko-KR" sz="950" dirty="0">
                <a:solidFill>
                  <a:srgbClr val="1E293B"/>
                </a:solidFill>
              </a:rPr>
              <a:t> </a:t>
            </a:r>
            <a:r>
              <a:rPr lang="en-US" sz="950" dirty="0">
                <a:solidFill>
                  <a:srgbClr val="1E293B"/>
                </a:solidFill>
              </a:rPr>
              <a:t>가 </a:t>
            </a:r>
            <a:r>
              <a:rPr lang="en-US" sz="950" dirty="0" err="1">
                <a:solidFill>
                  <a:srgbClr val="1E293B"/>
                </a:solidFill>
              </a:rPr>
              <a:t>SecurityContext에</a:t>
            </a:r>
            <a:r>
              <a:rPr lang="en-US" sz="950" dirty="0">
                <a:solidFill>
                  <a:srgbClr val="1E293B"/>
                </a:solidFill>
              </a:rPr>
              <a:t> Authentication 저장. Session에도 보존 (이후 요청 자동 인증)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773168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EF3C7"/>
                </a:solidFill>
              </a:rPr>
              <a:t>🔑  </a:t>
            </a:r>
            <a:r>
              <a:rPr lang="en-US" sz="950" b="1" dirty="0" err="1">
                <a:solidFill>
                  <a:srgbClr val="FEF3C7"/>
                </a:solidFill>
              </a:rPr>
              <a:t>개발자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구현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필수</a:t>
            </a:r>
            <a:r>
              <a:rPr lang="en-US" sz="950" b="1" dirty="0">
                <a:solidFill>
                  <a:srgbClr val="FEF3C7"/>
                </a:solidFill>
              </a:rPr>
              <a:t>:  ①~⑪ 중 </a:t>
            </a:r>
            <a:r>
              <a:rPr lang="en-US" sz="950" b="1" dirty="0" err="1">
                <a:solidFill>
                  <a:srgbClr val="FEF3C7"/>
                </a:solidFill>
              </a:rPr>
              <a:t>개발자가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직접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구현하는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것은</a:t>
            </a:r>
            <a:r>
              <a:rPr lang="en-US" sz="950" b="1" dirty="0">
                <a:solidFill>
                  <a:srgbClr val="FEF3C7"/>
                </a:solidFill>
              </a:rPr>
              <a:t> ⑦의 </a:t>
            </a:r>
            <a:r>
              <a:rPr lang="en-US" sz="950" b="1" dirty="0" err="1">
                <a:solidFill>
                  <a:srgbClr val="FEF3C7"/>
                </a:solidFill>
              </a:rPr>
              <a:t>UserDetailsService와</a:t>
            </a:r>
            <a:r>
              <a:rPr lang="en-US" sz="950" b="1" dirty="0">
                <a:solidFill>
                  <a:srgbClr val="FEF3C7"/>
                </a:solidFill>
              </a:rPr>
              <a:t> ⑧의 </a:t>
            </a:r>
            <a:r>
              <a:rPr lang="en-US" sz="950" b="1" dirty="0" err="1">
                <a:solidFill>
                  <a:srgbClr val="FEF3C7"/>
                </a:solidFill>
              </a:rPr>
              <a:t>BCryptPasswordEncoder</a:t>
            </a:r>
            <a:r>
              <a:rPr lang="en-US" sz="950" b="1" dirty="0">
                <a:solidFill>
                  <a:srgbClr val="FEF3C7"/>
                </a:solidFill>
              </a:rPr>
              <a:t> Bean </a:t>
            </a:r>
            <a:r>
              <a:rPr lang="en-US" sz="950" b="1" dirty="0" err="1">
                <a:solidFill>
                  <a:srgbClr val="FEF3C7"/>
                </a:solidFill>
              </a:rPr>
              <a:t>등록뿐</a:t>
            </a:r>
            <a:r>
              <a:rPr lang="en-US" sz="950" b="1" dirty="0">
                <a:solidFill>
                  <a:srgbClr val="FEF3C7"/>
                </a:solidFill>
              </a:rPr>
              <a:t>!  </a:t>
            </a:r>
            <a:r>
              <a:rPr lang="en-US" sz="950" b="1" dirty="0" err="1">
                <a:solidFill>
                  <a:srgbClr val="FEF3C7"/>
                </a:solidFill>
              </a:rPr>
              <a:t>나머지는</a:t>
            </a:r>
            <a:r>
              <a:rPr lang="en-US" sz="950" b="1" dirty="0">
                <a:solidFill>
                  <a:srgbClr val="FEF3C7"/>
                </a:solidFill>
              </a:rPr>
              <a:t> </a:t>
            </a:r>
            <a:r>
              <a:rPr lang="en-US" sz="950" b="1" dirty="0" err="1">
                <a:solidFill>
                  <a:srgbClr val="FEF3C7"/>
                </a:solidFill>
              </a:rPr>
              <a:t>자동</a:t>
            </a:r>
            <a:r>
              <a:rPr lang="en-US" sz="950" b="1" dirty="0">
                <a:solidFill>
                  <a:srgbClr val="FEF3C7"/>
                </a:solidFill>
              </a:rPr>
              <a:t>!</a:t>
            </a:r>
            <a:endParaRPr lang="en-US" sz="950" dirty="0"/>
          </a:p>
        </p:txBody>
      </p:sp>
      <p:sp>
        <p:nvSpPr>
          <p:cNvPr id="72" name="Text 31"/>
          <p:cNvSpPr/>
          <p:nvPr/>
        </p:nvSpPr>
        <p:spPr>
          <a:xfrm>
            <a:off x="5056632" y="1714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AuthenticationProvider</a:t>
            </a:r>
            <a:r>
              <a:rPr lang="ko-KR" alt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110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73" name="Text 32"/>
          <p:cNvSpPr/>
          <p:nvPr/>
        </p:nvSpPr>
        <p:spPr>
          <a:xfrm>
            <a:off x="5056632" y="197952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E293B"/>
                </a:solidFill>
              </a:rPr>
              <a:t>matches(</a:t>
            </a:r>
            <a:r>
              <a:rPr lang="ko-KR" altLang="en-US" sz="950" dirty="0">
                <a:solidFill>
                  <a:srgbClr val="1E293B"/>
                </a:solidFill>
              </a:rPr>
              <a:t>입력 패스워드</a:t>
            </a:r>
            <a:r>
              <a:rPr lang="en-US" altLang="ko-KR" sz="950" dirty="0">
                <a:solidFill>
                  <a:srgbClr val="1E293B"/>
                </a:solidFill>
              </a:rPr>
              <a:t>, DB</a:t>
            </a:r>
            <a:r>
              <a:rPr lang="ko-KR" altLang="en-US" sz="950" dirty="0">
                <a:solidFill>
                  <a:srgbClr val="1E293B"/>
                </a:solidFill>
              </a:rPr>
              <a:t>에 저장된 </a:t>
            </a:r>
            <a:r>
              <a:rPr lang="ko-KR" altLang="en-US" sz="950" dirty="0" err="1">
                <a:solidFill>
                  <a:srgbClr val="1E293B"/>
                </a:solidFill>
              </a:rPr>
              <a:t>해시값</a:t>
            </a:r>
            <a:r>
              <a:rPr lang="en-US" sz="950" dirty="0">
                <a:solidFill>
                  <a:srgbClr val="1E293B"/>
                </a:solidFill>
              </a:rPr>
              <a:t>); </a:t>
            </a:r>
          </a:p>
          <a:p>
            <a:r>
              <a:rPr lang="ko-KR" altLang="en-US" sz="950" dirty="0">
                <a:solidFill>
                  <a:srgbClr val="1E293B"/>
                </a:solidFill>
              </a:rPr>
              <a:t>패스워드는 </a:t>
            </a:r>
            <a:r>
              <a:rPr lang="ko-KR" altLang="en-US" sz="950" dirty="0" err="1">
                <a:solidFill>
                  <a:srgbClr val="1E293B"/>
                </a:solidFill>
              </a:rPr>
              <a:t>해싱후</a:t>
            </a:r>
            <a:r>
              <a:rPr lang="ko-KR" altLang="en-US" sz="950" dirty="0">
                <a:solidFill>
                  <a:srgbClr val="1E293B"/>
                </a:solidFill>
              </a:rPr>
              <a:t> </a:t>
            </a:r>
            <a:r>
              <a:rPr lang="en-US" altLang="ko-KR" sz="950" dirty="0">
                <a:solidFill>
                  <a:srgbClr val="1E293B"/>
                </a:solidFill>
              </a:rPr>
              <a:t>DB</a:t>
            </a:r>
            <a:r>
              <a:rPr lang="ko-KR" altLang="en-US" sz="950" dirty="0" err="1">
                <a:solidFill>
                  <a:srgbClr val="1E293B"/>
                </a:solidFill>
              </a:rPr>
              <a:t>해시값과</a:t>
            </a:r>
            <a:r>
              <a:rPr lang="ko-KR" altLang="en-US" sz="950" dirty="0">
                <a:solidFill>
                  <a:srgbClr val="1E293B"/>
                </a:solidFill>
              </a:rPr>
              <a:t> 비교</a:t>
            </a:r>
            <a:endParaRPr lang="en-US" sz="95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3136" y="73152"/>
            <a:ext cx="7816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SecurityFilterChain 설정 — filterChain() 메서드와 필터의 관계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56032" y="566928"/>
            <a:ext cx="4846320" cy="38221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02336" y="67665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02336" y="854964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SecurityFilterChain 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filterChain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(HttpSecurity http) {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02336" y="1033272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402336" y="1097280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① 인가(Authorization) 설정 — URL별 접근 권한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27558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authorizeHttpRequests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 -&gt; auth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45389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.requestMatchers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("/css/**").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permitAll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632204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.requestMatchers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("/admin/**").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("ADMIN")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81051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.anyRequest().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988820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500" dirty="0"/>
          </a:p>
        </p:txBody>
      </p:sp>
      <p:sp>
        <p:nvSpPr>
          <p:cNvPr id="13" name="Text 11"/>
          <p:cNvSpPr/>
          <p:nvPr/>
        </p:nvSpPr>
        <p:spPr>
          <a:xfrm>
            <a:off x="402336" y="205282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② 인증(Authentication) 설정 — 로그인 방식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23113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formLogin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(form -&gt; 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2409444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.loginPage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("/login")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58775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.defaultSuccessUrl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("/home")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766060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.permitAll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2944368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402336" y="300837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③ 로그아웃 설정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" y="3186684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(logout -&gt; logout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336499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.logoutSuccessUrl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("/login?logout"))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" y="3543300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402336" y="3607308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④ CSRF 비활성화 (JWT/REST 방식)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378561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(AbstractHttpConfigurer::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" y="3963924"/>
            <a:ext cx="4590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02336" y="4027932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http.</a:t>
            </a: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2336" y="4206240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66944" y="501974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 err="1"/>
              <a:t>filterChain</a:t>
            </a:r>
            <a:r>
              <a:rPr lang="en-US" altLang="ko-KR" sz="900" dirty="0"/>
              <a:t>() </a:t>
            </a:r>
            <a:r>
              <a:rPr lang="ko-KR" altLang="en-US" sz="900" dirty="0"/>
              <a:t>메서드는 </a:t>
            </a:r>
            <a:r>
              <a:rPr lang="en-US" altLang="ko-KR" sz="900" dirty="0" err="1"/>
              <a:t>HttpSecurity</a:t>
            </a:r>
            <a:r>
              <a:rPr lang="en-US" altLang="ko-KR" sz="900" dirty="0"/>
              <a:t> </a:t>
            </a:r>
            <a:r>
              <a:rPr lang="ko-KR" altLang="en-US" sz="900" dirty="0"/>
              <a:t>설정을 기반으로 </a:t>
            </a:r>
            <a:endParaRPr lang="en-US" altLang="ko-KR" sz="900" dirty="0"/>
          </a:p>
          <a:p>
            <a:r>
              <a:rPr lang="ko-KR" altLang="en-US" sz="900" dirty="0"/>
              <a:t>필터들을 담은 </a:t>
            </a:r>
            <a:r>
              <a:rPr lang="en-US" altLang="ko-KR" sz="900" dirty="0" err="1"/>
              <a:t>SecurityFilterChain</a:t>
            </a:r>
            <a:r>
              <a:rPr lang="en-US" altLang="ko-KR" sz="900" dirty="0"/>
              <a:t> Bean</a:t>
            </a:r>
            <a:r>
              <a:rPr lang="ko-KR" altLang="en-US" sz="900" dirty="0"/>
              <a:t>을 생성하여 반환</a:t>
            </a:r>
            <a:r>
              <a:rPr lang="en-US" altLang="ko-KR" sz="900" dirty="0"/>
              <a:t>. </a:t>
            </a:r>
            <a:r>
              <a:rPr lang="en-US" altLang="ko-KR" sz="900" dirty="0" err="1"/>
              <a:t>FilterChainProxy</a:t>
            </a:r>
            <a:r>
              <a:rPr lang="ko-KR" altLang="en-US" sz="900" dirty="0"/>
              <a:t>는 이 </a:t>
            </a:r>
            <a:r>
              <a:rPr lang="en-US" altLang="ko-KR" sz="900" dirty="0"/>
              <a:t>Bean</a:t>
            </a:r>
            <a:r>
              <a:rPr lang="ko-KR" altLang="en-US" sz="900" dirty="0"/>
              <a:t>을 참조하여   </a:t>
            </a:r>
            <a:r>
              <a:rPr lang="ko-KR" altLang="en-US" sz="900" dirty="0" err="1"/>
              <a:t>요청마다</a:t>
            </a:r>
            <a:r>
              <a:rPr lang="ko-KR" altLang="en-US" sz="900" dirty="0"/>
              <a:t> 필터를 순서대로 실행</a:t>
            </a:r>
            <a:r>
              <a:rPr lang="en-US" sz="900" b="1" dirty="0">
                <a:solidFill>
                  <a:srgbClr val="FFFFFF"/>
                </a:solidFill>
              </a:rPr>
              <a:t> 필터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66944" y="932688"/>
            <a:ext cx="3621024" cy="804672"/>
          </a:xfrm>
          <a:prstGeom prst="rect">
            <a:avLst/>
          </a:prstGeom>
          <a:solidFill>
            <a:srgbClr val="0F2030"/>
          </a:solidFill>
          <a:ln w="1016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6944" y="932688"/>
            <a:ext cx="54864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97840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authorizeHttpRequests()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94960" y="118872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⑦ AuthorizationFilter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1499616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9DDB"/>
                </a:solidFill>
              </a:rPr>
              <a:t>URL별 접근 권한 규칙 적용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66944" y="1819656"/>
            <a:ext cx="3621024" cy="804672"/>
          </a:xfrm>
          <a:prstGeom prst="rect">
            <a:avLst/>
          </a:prstGeom>
          <a:solidFill>
            <a:srgbClr val="0F2030"/>
          </a:solidFill>
          <a:ln w="101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66944" y="1819656"/>
            <a:ext cx="54864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186537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formLogin()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94960" y="207568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④ </a:t>
            </a:r>
            <a:r>
              <a:rPr lang="en-US" sz="1000" b="1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UsernamePasswordAuthenticationFilter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238658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CBC4"/>
                </a:solidFill>
              </a:rPr>
              <a:t>POST /login 처리 활성화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66944" y="2706624"/>
            <a:ext cx="3621024" cy="804672"/>
          </a:xfrm>
          <a:prstGeom prst="rect">
            <a:avLst/>
          </a:prstGeom>
          <a:solidFill>
            <a:srgbClr val="0F2030"/>
          </a:solidFill>
          <a:ln w="1016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66944" y="2706624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752344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logout()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94960" y="296265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③ LogoutFilter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327355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9A9A"/>
                </a:solidFill>
              </a:rPr>
              <a:t>/logout 처리 활성화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66944" y="3593592"/>
            <a:ext cx="3621024" cy="804672"/>
          </a:xfrm>
          <a:prstGeom prst="rect">
            <a:avLst/>
          </a:prstGeom>
          <a:solidFill>
            <a:srgbClr val="0F2030"/>
          </a:solidFill>
          <a:ln w="1016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266944" y="3593592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363931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csrf(disable)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94960" y="38496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② CsrfFilter 비활성화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416052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D54F"/>
                </a:solidFill>
              </a:rPr>
              <a:t>JWT/REST </a:t>
            </a:r>
            <a:r>
              <a:rPr lang="en-US" sz="900" dirty="0" err="1">
                <a:solidFill>
                  <a:srgbClr val="FFD54F"/>
                </a:solidFill>
              </a:rPr>
              <a:t>방식에서</a:t>
            </a:r>
            <a:r>
              <a:rPr lang="en-US" sz="900" dirty="0">
                <a:solidFill>
                  <a:srgbClr val="FFD54F"/>
                </a:solidFill>
              </a:rPr>
              <a:t> </a:t>
            </a:r>
            <a:r>
              <a:rPr lang="ko-KR" altLang="en-US" sz="900" dirty="0">
                <a:solidFill>
                  <a:srgbClr val="FFD54F"/>
                </a:solidFill>
              </a:rPr>
              <a:t>는 </a:t>
            </a:r>
            <a:r>
              <a:rPr lang="en-US" altLang="ko-KR" sz="900" dirty="0" err="1">
                <a:solidFill>
                  <a:srgbClr val="FFD54F"/>
                </a:solidFill>
              </a:rPr>
              <a:t>CsrfFilter</a:t>
            </a:r>
            <a:r>
              <a:rPr lang="en-US" altLang="ko-KR" sz="900" dirty="0">
                <a:solidFill>
                  <a:srgbClr val="FFD54F"/>
                </a:solidFill>
              </a:rPr>
              <a:t> </a:t>
            </a:r>
            <a:r>
              <a:rPr lang="ko-KR" altLang="en-US" sz="900" dirty="0">
                <a:solidFill>
                  <a:srgbClr val="FFD54F"/>
                </a:solidFill>
              </a:rPr>
              <a:t>불필요 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4462272"/>
            <a:ext cx="8631936" cy="457200"/>
          </a:xfrm>
          <a:prstGeom prst="rect">
            <a:avLst/>
          </a:prstGeom>
          <a:solidFill>
            <a:srgbClr val="0F2030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462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</a:rPr>
              <a:t>SecurityFilterChain 필터 실행 순서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95728" y="4517136"/>
            <a:ext cx="851698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95728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① SecurityContext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HolderFilter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247426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3146" y="4517136"/>
            <a:ext cx="85169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3146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② CsrfFilter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44845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90565" y="4517136"/>
            <a:ext cx="85169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90565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③ LogoutFilter</a:t>
            </a:r>
            <a:endParaRPr lang="en-US" sz="800" dirty="0">
              <a:solidFill>
                <a:srgbClr val="002060"/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042263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87983" y="4517136"/>
            <a:ext cx="85169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87983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④ Username</a:t>
            </a:r>
            <a:endParaRPr lang="en-US" sz="8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PasswordAuth</a:t>
            </a:r>
            <a:endParaRPr lang="en-US" sz="8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Filter</a:t>
            </a:r>
            <a:endParaRPr lang="en-US" sz="800" dirty="0">
              <a:solidFill>
                <a:srgbClr val="002060"/>
              </a:solidFill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939681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85401" y="4517136"/>
            <a:ext cx="851698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85401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⑤ Anonymous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AuthFilter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837099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82819" y="4517136"/>
            <a:ext cx="85169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82819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⑥ ExceptionTranslation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Filter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734518" y="4690872"/>
            <a:ext cx="45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80238" y="4517136"/>
            <a:ext cx="851698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80238" y="4517136"/>
            <a:ext cx="851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⑦ Authorization</a:t>
            </a:r>
            <a:endParaRPr lang="en-US" sz="8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002060"/>
                </a:solidFill>
              </a:rPr>
              <a:t>Filter</a:t>
            </a:r>
            <a:endParaRPr lang="en-US" sz="800" dirty="0">
              <a:solidFill>
                <a:srgbClr val="002060"/>
              </a:solidFill>
            </a:endParaRPr>
          </a:p>
        </p:txBody>
      </p:sp>
      <p:sp>
        <p:nvSpPr>
          <p:cNvPr id="75" name="Shape 0"/>
          <p:cNvSpPr/>
          <p:nvPr/>
        </p:nvSpPr>
        <p:spPr>
          <a:xfrm>
            <a:off x="256032" y="45720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Text 1"/>
          <p:cNvSpPr/>
          <p:nvPr/>
        </p:nvSpPr>
        <p:spPr>
          <a:xfrm>
            <a:off x="256032" y="457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2-3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279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3-1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201168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RBAC (Role-Based Access Control) — Entity 설계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8449056" cy="2377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896112"/>
            <a:ext cx="1993392" cy="2084832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896112"/>
            <a:ext cx="199339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89611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1408176"/>
            <a:ext cx="2743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08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PK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49808" y="14081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35024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" y="1709928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7830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35024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57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35024" y="2157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(BCrypt)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" y="2459736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532888"/>
            <a:ext cx="27432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532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N:N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9808" y="25328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35024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List&lt;Role&gt;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23744" y="896112"/>
            <a:ext cx="1993392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23744" y="896112"/>
            <a:ext cx="199339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89611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Role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96896" y="1408176"/>
            <a:ext cx="2743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96896" y="1408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PK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44368" y="14081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9584" y="1408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96896" y="1709928"/>
            <a:ext cx="1847088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17830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rolename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29584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76716" y="2054312"/>
            <a:ext cx="1847088" cy="347472"/>
          </a:xfrm>
          <a:prstGeom prst="rect">
            <a:avLst/>
          </a:prstGeom>
          <a:solidFill>
            <a:srgbClr val="F5F3FF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1309" y="2072127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예) </a:t>
            </a: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ROLE_USER</a:t>
            </a:r>
            <a:r>
              <a:rPr lang="en-US" sz="900" dirty="0">
                <a:solidFill>
                  <a:srgbClr val="94A3B8"/>
                </a:solidFill>
              </a:rPr>
              <a:t>  /  </a:t>
            </a: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ROLE_ADMIN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22576" y="1938528"/>
            <a:ext cx="201168" cy="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2432304" y="1865376"/>
            <a:ext cx="137160" cy="1371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4864608" y="1490472"/>
            <a:ext cx="137160" cy="1371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896112"/>
            <a:ext cx="1426464" cy="1335024"/>
          </a:xfrm>
          <a:prstGeom prst="rect">
            <a:avLst/>
          </a:prstGeom>
          <a:solidFill>
            <a:srgbClr val="1C0A4A"/>
          </a:solidFill>
          <a:ln w="1524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896112"/>
            <a:ext cx="1426464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8961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🗄  user_role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18304" y="1408176"/>
            <a:ext cx="25603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14081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029200" y="140817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18304" y="1709928"/>
            <a:ext cx="1280160" cy="0"/>
          </a:xfrm>
          <a:prstGeom prst="line">
            <a:avLst/>
          </a:prstGeom>
          <a:noFill/>
          <a:ln w="5080">
            <a:solidFill>
              <a:srgbClr val="3D1F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8304" y="1783080"/>
            <a:ext cx="25603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1783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FK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029200" y="178308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ROLE_ID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45152" y="2286000"/>
            <a:ext cx="1426464" cy="256032"/>
          </a:xfrm>
          <a:prstGeom prst="rect">
            <a:avLst/>
          </a:prstGeom>
          <a:solidFill>
            <a:srgbClr val="271047"/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45152" y="22860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DD6FE"/>
                </a:solidFill>
              </a:rPr>
              <a:t>JPA 자동 생성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36208" y="896112"/>
            <a:ext cx="2542032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36208" y="896112"/>
            <a:ext cx="25420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8961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UserRepository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27648" y="129844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950" b="1" dirty="0" err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5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User,Integer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Optional&lt;User&gt; 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b="1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findByEmail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email)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36208" y="1993392"/>
            <a:ext cx="2542032" cy="987552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36208" y="1993392"/>
            <a:ext cx="254203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19933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RoleRepository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327648" y="239572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950" b="1" dirty="0" err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5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Role,Integer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
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Optional&lt;Role&gt;   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b="1" dirty="0" err="1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findByRolename</a:t>
            </a: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name)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9184" y="3027612"/>
            <a:ext cx="5797296" cy="420624"/>
          </a:xfrm>
          <a:prstGeom prst="rect">
            <a:avLst/>
          </a:prstGeom>
          <a:solidFill>
            <a:srgbClr val="1C0A4A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027612"/>
            <a:ext cx="561441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🔗  N:N 관계 (User ↔ Role)  →  </a:t>
            </a:r>
            <a:r>
              <a:rPr lang="en-US" sz="11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</a:t>
            </a:r>
            <a:r>
              <a:rPr lang="en-US" sz="1100" dirty="0">
                <a:solidFill>
                  <a:srgbClr val="FFFFFF"/>
                </a:solidFill>
              </a:rPr>
              <a:t>(USER_ID, ROLE_ID)  JPA 자동 생성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9184" y="3514452"/>
            <a:ext cx="8467344" cy="1481328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9184" y="3514452"/>
            <a:ext cx="14630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" y="35144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User.java — @ManyToMany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75488" y="38436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@ManyToMany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(fetch = FetchType.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EAGER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5488" y="40630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@JoinTable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 =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"user_role"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75488" y="42825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joinColumns        = 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@JoinColumn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 =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"USER_ID"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75488" y="45020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inverseJoinColumns = </a:t>
            </a: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@JoinColumn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 = 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"ROLE_ID"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75488" y="47214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&lt;Role&gt; roles = new </a:t>
            </a: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72784" y="3514452"/>
            <a:ext cx="2523744" cy="713232"/>
          </a:xfrm>
          <a:prstGeom prst="rect">
            <a:avLst/>
          </a:prstGeom>
          <a:solidFill>
            <a:srgbClr val="0F2030"/>
          </a:solidFill>
          <a:ln w="889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72784" y="351445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0" y="353274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FetchType.EAGER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400800" y="3770484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User 조회 시 Role도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즉시 함께 로딩 (인증에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272784" y="4282548"/>
            <a:ext cx="2523744" cy="713232"/>
          </a:xfrm>
          <a:prstGeom prst="rect">
            <a:avLst/>
          </a:prstGeom>
          <a:solidFill>
            <a:srgbClr val="0F2030"/>
          </a:solidFill>
          <a:ln w="889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272784" y="4282548"/>
            <a:ext cx="54864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430083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@ManyToMany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400800" y="453858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One User →  Many Roles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One Role →  Many Users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32935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UserDetailsService 구현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20116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loadUserByUsername(email)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59152" y="1143000"/>
            <a:ext cx="155448" cy="0"/>
          </a:xfrm>
          <a:prstGeom prst="line">
            <a:avLst/>
          </a:prstGeom>
          <a:noFill/>
          <a:ln w="25400">
            <a:solidFill>
              <a:srgbClr val="1626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findByEmail() — DB 조회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26280" y="1143000"/>
            <a:ext cx="155448" cy="0"/>
          </a:xfrm>
          <a:prstGeom prst="line">
            <a:avLst/>
          </a:prstGeom>
          <a:noFill/>
          <a:ln w="25400">
            <a:solidFill>
              <a:srgbClr val="1626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914400"/>
            <a:ext cx="20116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 err="1">
                <a:solidFill>
                  <a:srgbClr val="FFFFFF"/>
                </a:solidFill>
              </a:rPr>
              <a:t>UserDetails</a:t>
            </a:r>
            <a:r>
              <a:rPr lang="en-US" sz="850" b="1" dirty="0">
                <a:solidFill>
                  <a:srgbClr val="FFFFFF"/>
                </a:solidFill>
              </a:rPr>
              <a:t> 변환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1481328"/>
            <a:ext cx="8449056" cy="3582556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1522320"/>
            <a:ext cx="8266176" cy="3541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 @Transactional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CustomUserDetailsService implements </a:t>
            </a:r>
            <a:r>
              <a:rPr lang="en-US" sz="92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UserDetailsService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UserRepository userRepository;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UserDetails </a:t>
            </a:r>
            <a:r>
              <a:rPr lang="en-US" sz="92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loadUserByUsername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email)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throws UsernameNotFoundException {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user = userRepository.findByEmail(email)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.orElseThrow(() -&gt; new UsernameNotFoundException("User not found: " + email));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org.springframework.security.core.userdetails.User(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user.getEmail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 </a:t>
            </a:r>
            <a:r>
              <a:rPr lang="en-US" sz="9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user.getPassword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getAuthorities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(user)   // List&lt;</a:t>
            </a:r>
            <a:r>
              <a:rPr lang="en-US" sz="9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GrantedAuthority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Collection&lt;? extends GrantedAuthority&gt; getAuthorities(User user)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user.getRoles().stream()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.map(role -&gt; new SimpleGrantedAuthority(role.getRolename()))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.collect(Collectors.toList());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9" name="TextBox 18"/>
          <p:cNvSpPr txBox="1"/>
          <p:nvPr/>
        </p:nvSpPr>
        <p:spPr>
          <a:xfrm>
            <a:off x="5883969" y="2304169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solidFill>
                  <a:schemeClr val="bg1"/>
                </a:solidFill>
              </a:rPr>
              <a:t>UserDetails</a:t>
            </a:r>
            <a:r>
              <a:rPr lang="ko-KR" altLang="en-US" sz="900" dirty="0">
                <a:solidFill>
                  <a:schemeClr val="bg1"/>
                </a:solidFill>
              </a:rPr>
              <a:t>는 </a:t>
            </a:r>
            <a:r>
              <a:rPr lang="en-US" altLang="ko-KR" sz="900" dirty="0">
                <a:solidFill>
                  <a:schemeClr val="bg1"/>
                </a:solidFill>
              </a:rPr>
              <a:t>Interface, </a:t>
            </a:r>
          </a:p>
          <a:p>
            <a:r>
              <a:rPr lang="en-US" altLang="ko-KR" sz="900" dirty="0">
                <a:solidFill>
                  <a:schemeClr val="bg1"/>
                </a:solidFill>
              </a:rPr>
              <a:t>Spring</a:t>
            </a:r>
            <a:r>
              <a:rPr lang="ko-KR" altLang="en-US" sz="900" dirty="0">
                <a:solidFill>
                  <a:schemeClr val="bg1"/>
                </a:solidFill>
              </a:rPr>
              <a:t>의 </a:t>
            </a:r>
            <a:r>
              <a:rPr lang="en-US" altLang="ko-KR" sz="900" dirty="0">
                <a:solidFill>
                  <a:schemeClr val="bg1"/>
                </a:solidFill>
              </a:rPr>
              <a:t>User </a:t>
            </a:r>
            <a:r>
              <a:rPr lang="ko-KR" altLang="en-US" sz="900" dirty="0">
                <a:solidFill>
                  <a:schemeClr val="bg1"/>
                </a:solidFill>
              </a:rPr>
              <a:t>는 </a:t>
            </a:r>
            <a:r>
              <a:rPr lang="en-US" altLang="ko-KR" sz="900" dirty="0" err="1">
                <a:solidFill>
                  <a:schemeClr val="bg1"/>
                </a:solidFill>
              </a:rPr>
              <a:t>UserDetails</a:t>
            </a:r>
            <a:r>
              <a:rPr lang="en-US" altLang="ko-KR" sz="900" dirty="0">
                <a:solidFill>
                  <a:schemeClr val="bg1"/>
                </a:solidFill>
              </a:rPr>
              <a:t>  </a:t>
            </a:r>
            <a:r>
              <a:rPr lang="ko-KR" altLang="en-US" sz="900" dirty="0">
                <a:solidFill>
                  <a:schemeClr val="bg1"/>
                </a:solidFill>
              </a:rPr>
              <a:t>구현</a:t>
            </a:r>
            <a:r>
              <a:rPr lang="en-US" altLang="ko-KR" sz="900" dirty="0">
                <a:solidFill>
                  <a:schemeClr val="bg1"/>
                </a:solidFill>
              </a:rPr>
              <a:t> </a:t>
            </a:r>
            <a:r>
              <a:rPr lang="ko-KR" altLang="en-US" sz="900" dirty="0">
                <a:solidFill>
                  <a:schemeClr val="bg1"/>
                </a:solidFill>
              </a:rPr>
              <a:t>클래스</a:t>
            </a:r>
            <a:endParaRPr lang="en-US" altLang="ko-KR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 — Session 기반 SecurityFilterChain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5559552" cy="4125772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1076" y="1014983"/>
            <a:ext cx="5444778" cy="4025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@EnableWebSecurity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SecurityConfig {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@Autowired CustomUserDetailsService userDetailsService;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String[] PUBLIC = {"/css/**","/js/**","/images/**","/webjars/**"};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4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84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SecurityFilterChain </a:t>
            </a:r>
            <a:r>
              <a:rPr lang="en-US" sz="84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filterChain</a:t>
            </a: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4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HttpSecurity</a:t>
            </a: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http) throws Exception {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http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.authorizeHttpRequests(authz -&gt; authz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.requestMatchers(PUBLIC).permitAll()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.requestMatchers("/","/home","/signup").permitAll()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.requestMatchers("/admin/**").hasRole("ADMIN")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.anyRequest().authenticated()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.formLogin(form -&gt; form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.loginPage("/login")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.defaultSuccessUrl("/home")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.failureUrl("/login?error")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.permitAll()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.logout(logout -&gt; logout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.logoutUrl("/logout")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.logoutSuccessUrl("/login?logout")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.permitAll()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.userDetailsService(userDetailsService);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// csrf() 는 기본 활성화 — 별도 설정 불필요!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http.build();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5980176" y="91440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8"/>
                </a:solidFill>
              </a:rPr>
              <a:t>설정 핵심 포인트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0176" y="1298448"/>
            <a:ext cx="281635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80176" y="1298448"/>
            <a:ext cx="54864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35331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authorizeHttpRequests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08192" y="1636776"/>
            <a:ext cx="2633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URL별 권한 설정.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permitAll / hasRole / authenticated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2176272"/>
            <a:ext cx="281635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2176272"/>
            <a:ext cx="54864" cy="7680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22311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formLogin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8192" y="2514600"/>
            <a:ext cx="2633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커스텀 로그인 페이지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성공/실패 URL 설정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054096"/>
            <a:ext cx="281635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0176" y="3054096"/>
            <a:ext cx="54864" cy="7680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310896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08192" y="3392424"/>
            <a:ext cx="2633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세션 무효화 + 쿠키 삭제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성공 후 리다이렉트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3931920"/>
            <a:ext cx="2816352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0176" y="3931920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9867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 기본 활성화!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4270248"/>
            <a:ext cx="2633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Session 방식에서는 반드시 CSRF 활성화 유지</a:t>
            </a:r>
            <a:endParaRPr lang="en-US" sz="950" dirty="0"/>
          </a:p>
        </p:txBody>
      </p:sp>
      <p:sp>
        <p:nvSpPr>
          <p:cNvPr id="25" name="Text 5"/>
          <p:cNvSpPr/>
          <p:nvPr/>
        </p:nvSpPr>
        <p:spPr>
          <a:xfrm>
            <a:off x="3040538" y="3301300"/>
            <a:ext cx="2994502" cy="705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4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840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sz="84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4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PasswordEncoder passwordEncoder() {</a:t>
            </a:r>
            <a:endParaRPr lang="en-US" sz="84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4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BCryptPasswordEncoder();</a:t>
            </a:r>
            <a:endParaRPr lang="en-US" sz="84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4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4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840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비밀번호 암호화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9264"/>
            <a:ext cx="8449056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9264"/>
            <a:ext cx="8302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$2a$10$N9qo8uLOickgx2ZMRZoMyeIjZAgcfl7p92ldGxad68LJZdL17lhWy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499616"/>
            <a:ext cx="138988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49961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$2a$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385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BCrypt 버전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499616"/>
            <a:ext cx="138988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20240" y="149961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10$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93852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Cost Factor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93008" y="1499616"/>
            <a:ext cx="263347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93008" y="149961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22자 Salt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93008" y="19385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128-bit 랜덤 솔트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499616"/>
            <a:ext cx="2487168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49961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31자 Hash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</a:rPr>
              <a:t>192-bit 해시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304288"/>
            <a:ext cx="8449056" cy="2578608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" y="2395728"/>
            <a:ext cx="82661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Bean 등록 (SecurityConfig)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PasswordEncoder passwordEncoder() { return new BCryptPasswordEncoder(); }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회원가입 — 해싱 후 저장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user.setPassword(passwordEncoder.encode(user.getPassword()));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$2a$10$yiTi0281XvoHr9aEVl.r5uOg1nSFUCVxg9hn3ZjZH/I86hRstu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로그인 — </a:t>
            </a:r>
            <a:r>
              <a:rPr lang="en-US" sz="9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AuthenticationProvider가</a:t>
            </a: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내부적으로 자동 호출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passwordEncoder.matches(rawPassword, storedHash) → true/false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⚠️ encode()는 호출마다 다른 salt → 같은 입력도 다른 출력!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passwordEncoder.encode("test");  // $2a$10$...ABC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passwordEncoder.encode("test");  // $2a$10$...XYZ (다름!)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반드시 matches() 로 비교, == 비교 절대 금지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BadgeText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4-3</a:t>
            </a:r>
          </a:p>
        </p:txBody>
      </p:sp>
      <p:sp>
        <p:nvSpPr>
          <p:cNvPr id="4" name="Title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</a:rPr>
              <a:t>Method Security — @PreAuthorize / @PostAuthorize</a:t>
            </a:r>
          </a:p>
        </p:txBody>
      </p:sp>
      <p:sp>
        <p:nvSpPr>
          <p:cNvPr id="5" name="Separator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CodeBg"/>
          <p:cNvSpPr/>
          <p:nvPr/>
        </p:nvSpPr>
        <p:spPr>
          <a:xfrm>
            <a:off x="347472" y="952236"/>
            <a:ext cx="5559552" cy="3849949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7" name="CodeText"/>
          <p:cNvSpPr/>
          <p:nvPr/>
        </p:nvSpPr>
        <p:spPr>
          <a:xfrm>
            <a:off x="420000" y="972612"/>
            <a:ext cx="5400000" cy="38232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lnSpc>
                <a:spcPct val="150000"/>
              </a:lnSpc>
              <a:buNone/>
            </a:pPr>
            <a:r>
              <a:rPr lang="en-US" sz="900" b="0" dirty="0">
                <a:solidFill>
                  <a:srgbClr val="64748B"/>
                </a:solidFill>
                <a:latin typeface="Consolas"/>
              </a:rPr>
              <a:t>// ① @EnableMethodSecurity 활성화 (SecurityConfig)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900" b="0" dirty="0">
                <a:solidFill>
                  <a:srgbClr val="22D3EE"/>
                </a:solidFill>
                <a:latin typeface="Consolas"/>
              </a:rPr>
              <a:t>@Configuration @EnableWebSecurity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900" b="0" dirty="0">
                <a:solidFill>
                  <a:srgbClr val="FFFF00"/>
                </a:solidFill>
                <a:latin typeface="Consolas"/>
              </a:rPr>
              <a:t>@EnableMethodSecurit</a:t>
            </a:r>
            <a:r>
              <a:rPr lang="en-US" sz="900" b="0" dirty="0">
                <a:solidFill>
                  <a:srgbClr val="22D3EE"/>
                </a:solidFill>
                <a:latin typeface="Consolas"/>
              </a:rPr>
              <a:t>y   // ← 이 한 줄로 활성화!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</a:rPr>
              <a:t>public class SecurityConfig { ... }</a:t>
            </a:r>
          </a:p>
          <a:p>
            <a:pPr>
              <a:lnSpc>
                <a:spcPct val="150000"/>
              </a:lnSpc>
              <a:buNone/>
            </a:pPr>
            <a:endParaRPr lang="en-US" sz="90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/>
              </a:rPr>
              <a:t>// ② @PreAuthorize — 메서드 실행 전 </a:t>
            </a:r>
            <a:r>
              <a:rPr lang="en-US" sz="900" dirty="0" err="1">
                <a:solidFill>
                  <a:srgbClr val="64748B"/>
                </a:solidFill>
                <a:latin typeface="Consolas"/>
              </a:rPr>
              <a:t>권한</a:t>
            </a:r>
            <a:r>
              <a:rPr lang="en-US" sz="900" dirty="0">
                <a:solidFill>
                  <a:srgbClr val="64748B"/>
                </a:solidFill>
                <a:latin typeface="Consolas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onsolas"/>
              </a:rPr>
              <a:t>체크</a:t>
            </a:r>
            <a:endParaRPr lang="en-US" sz="900" dirty="0">
              <a:solidFill>
                <a:srgbClr val="64748B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Consolas"/>
              </a:rPr>
              <a:t>// </a:t>
            </a:r>
            <a:r>
              <a:rPr lang="en-US" altLang="ko-KR" sz="900" dirty="0">
                <a:solidFill>
                  <a:srgbClr val="64748B"/>
                </a:solidFill>
                <a:latin typeface="Consolas"/>
              </a:rPr>
              <a:t>ADMIN </a:t>
            </a:r>
            <a:r>
              <a:rPr lang="ko-KR" altLang="en-US" sz="900" dirty="0">
                <a:solidFill>
                  <a:srgbClr val="64748B"/>
                </a:solidFill>
                <a:latin typeface="Consolas"/>
              </a:rPr>
              <a:t>역할을 가진 사람만 전체 회원 목록을 볼 수 있다</a:t>
            </a:r>
            <a:endParaRPr lang="en-US" sz="900" dirty="0">
              <a:solidFill>
                <a:srgbClr val="64748B"/>
              </a:solidFill>
              <a:latin typeface="Consolas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/>
              </a:rPr>
              <a:t>@PreAuthorize("hasRole('ADMIN')")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</a:rPr>
              <a:t>public List&lt;User&gt; getAllUsers() { ... }</a:t>
            </a:r>
          </a:p>
          <a:p>
            <a:pPr>
              <a:lnSpc>
                <a:spcPct val="150000"/>
              </a:lnSpc>
              <a:buNone/>
            </a:pPr>
            <a:endParaRPr lang="en-US" sz="900" dirty="0">
              <a:solidFill>
                <a:srgbClr val="E2E8F0"/>
              </a:solidFill>
              <a:latin typeface="Consolas"/>
            </a:endParaRPr>
          </a:p>
          <a:p>
            <a:pPr>
              <a:lnSpc>
                <a:spcPct val="15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</a:rPr>
              <a:t>// </a:t>
            </a:r>
            <a:r>
              <a:rPr lang="en-US" altLang="ko-KR" sz="900" dirty="0">
                <a:solidFill>
                  <a:srgbClr val="E2E8F0"/>
                </a:solidFill>
                <a:latin typeface="Consolas"/>
              </a:rPr>
              <a:t>USER</a:t>
            </a:r>
            <a:r>
              <a:rPr lang="ko-KR" altLang="en-US" sz="900" dirty="0">
                <a:solidFill>
                  <a:srgbClr val="E2E8F0"/>
                </a:solidFill>
                <a:latin typeface="Consolas"/>
              </a:rPr>
              <a:t>는 자기 자신의 프로필만 볼 수 있습니다</a:t>
            </a:r>
            <a:endParaRPr lang="en-US" sz="90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Consolas"/>
              </a:rPr>
              <a:t>@PreAuthorize("hasRole('USER') and #email == authentication.name")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</a:rPr>
              <a:t>public UserDto getMyProfile(String email) { ... }</a:t>
            </a:r>
          </a:p>
          <a:p>
            <a:pPr>
              <a:lnSpc>
                <a:spcPct val="150000"/>
              </a:lnSpc>
              <a:buNone/>
            </a:pPr>
            <a:endParaRPr lang="en-US" sz="90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/>
              </a:rPr>
              <a:t>// ③ @PostAuthorize — 실행 후 반환값 기반 </a:t>
            </a:r>
            <a:r>
              <a:rPr lang="en-US" sz="900" dirty="0" err="1">
                <a:solidFill>
                  <a:srgbClr val="64748B"/>
                </a:solidFill>
                <a:latin typeface="Consolas"/>
              </a:rPr>
              <a:t>권한</a:t>
            </a:r>
            <a:r>
              <a:rPr lang="en-US" sz="900" dirty="0">
                <a:solidFill>
                  <a:srgbClr val="64748B"/>
                </a:solidFill>
                <a:latin typeface="Consolas"/>
              </a:rPr>
              <a:t> </a:t>
            </a:r>
            <a:r>
              <a:rPr lang="en-US" sz="900" dirty="0" err="1">
                <a:solidFill>
                  <a:srgbClr val="64748B"/>
                </a:solidFill>
                <a:latin typeface="Consolas"/>
              </a:rPr>
              <a:t>체크</a:t>
            </a:r>
            <a:endParaRPr lang="en-US" sz="900" dirty="0">
              <a:solidFill>
                <a:srgbClr val="64748B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Consolas"/>
              </a:rPr>
              <a:t>// </a:t>
            </a:r>
            <a:r>
              <a:rPr lang="en-US" altLang="ko-KR" sz="900" dirty="0">
                <a:solidFill>
                  <a:srgbClr val="64748B"/>
                </a:solidFill>
                <a:latin typeface="Consolas"/>
              </a:rPr>
              <a:t>DB</a:t>
            </a:r>
            <a:r>
              <a:rPr lang="ko-KR" altLang="en-US" sz="900" dirty="0">
                <a:solidFill>
                  <a:srgbClr val="64748B"/>
                </a:solidFill>
                <a:latin typeface="Consolas"/>
              </a:rPr>
              <a:t>에서 꺼낸 </a:t>
            </a:r>
            <a:r>
              <a:rPr lang="en-US" altLang="ko-KR" sz="900" dirty="0">
                <a:solidFill>
                  <a:srgbClr val="64748B"/>
                </a:solidFill>
                <a:latin typeface="Consolas"/>
              </a:rPr>
              <a:t>User</a:t>
            </a:r>
            <a:r>
              <a:rPr lang="ko-KR" altLang="en-US" sz="900" dirty="0">
                <a:solidFill>
                  <a:srgbClr val="64748B"/>
                </a:solidFill>
                <a:latin typeface="Consolas"/>
              </a:rPr>
              <a:t>가 본인 것일 때만 반환</a:t>
            </a:r>
            <a:endParaRPr lang="en-US" sz="900" dirty="0">
              <a:solidFill>
                <a:srgbClr val="64748B"/>
              </a:solidFill>
              <a:latin typeface="Consolas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/>
              </a:rPr>
              <a:t>@PostAuthorize("returnObject.email == authentication.name")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/>
              </a:rPr>
              <a:t>public User getUserById(Integer id) { ... }</a:t>
            </a:r>
          </a:p>
        </p:txBody>
      </p:sp>
      <p:sp>
        <p:nvSpPr>
          <p:cNvPr id="8" name="RightTitle"/>
          <p:cNvSpPr/>
          <p:nvPr/>
        </p:nvSpPr>
        <p:spPr>
          <a:xfrm>
            <a:off x="5980176" y="952236"/>
            <a:ext cx="2816352" cy="2926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ko-KR" sz="1100" b="1" dirty="0">
                <a:solidFill>
                  <a:srgbClr val="FFFFFF"/>
                </a:solidFill>
              </a:rPr>
              <a:t>SpEL 표현식 레퍼런스</a:t>
            </a:r>
          </a:p>
        </p:txBody>
      </p:sp>
      <p:sp>
        <p:nvSpPr>
          <p:cNvPr id="9" name="RightContent"/>
          <p:cNvSpPr/>
          <p:nvPr/>
        </p:nvSpPr>
        <p:spPr>
          <a:xfrm>
            <a:off x="5980176" y="1254635"/>
            <a:ext cx="2816352" cy="1671443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50" b="1" dirty="0">
                <a:solidFill>
                  <a:srgbClr val="0891B2"/>
                </a:solidFill>
                <a:latin typeface="Consolas"/>
              </a:rPr>
              <a:t>hasRole('X')</a:t>
            </a:r>
          </a:p>
          <a:p>
            <a:pPr algn="l">
              <a:buNone/>
            </a:pPr>
            <a:r>
              <a:rPr lang="ko-KR" sz="900" dirty="0">
                <a:solidFill>
                  <a:srgbClr val="475569"/>
                </a:solidFill>
              </a:rPr>
              <a:t>  특정 역할 보유 여부</a:t>
            </a:r>
            <a:endParaRPr lang="en-US" alt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endParaRPr 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950" b="1" dirty="0">
                <a:solidFill>
                  <a:srgbClr val="0891B2"/>
                </a:solidFill>
                <a:latin typeface="Consolas"/>
              </a:rPr>
              <a:t>isAuthenticated()</a:t>
            </a:r>
          </a:p>
          <a:p>
            <a:pPr algn="l">
              <a:buNone/>
            </a:pPr>
            <a:r>
              <a:rPr lang="ko-KR" sz="900" dirty="0">
                <a:solidFill>
                  <a:srgbClr val="475569"/>
                </a:solidFill>
              </a:rPr>
              <a:t>  로그인 상태 확인</a:t>
            </a:r>
            <a:endParaRPr lang="en-US" alt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endParaRPr 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950" b="1" dirty="0">
                <a:solidFill>
                  <a:srgbClr val="0891B2"/>
                </a:solidFill>
                <a:latin typeface="Consolas"/>
              </a:rPr>
              <a:t>#param == auth.name</a:t>
            </a:r>
          </a:p>
          <a:p>
            <a:pPr algn="l">
              <a:buNone/>
            </a:pPr>
            <a:r>
              <a:rPr lang="ko-KR" sz="900" dirty="0">
                <a:solidFill>
                  <a:srgbClr val="475569"/>
                </a:solidFill>
              </a:rPr>
              <a:t>  파라미터 </a:t>
            </a:r>
            <a:r>
              <a:rPr lang="ko-KR" sz="900" dirty="0" err="1">
                <a:solidFill>
                  <a:srgbClr val="475569"/>
                </a:solidFill>
              </a:rPr>
              <a:t>vs</a:t>
            </a:r>
            <a:r>
              <a:rPr lang="ko-KR" sz="900" dirty="0">
                <a:solidFill>
                  <a:srgbClr val="475569"/>
                </a:solidFill>
              </a:rPr>
              <a:t> </a:t>
            </a:r>
            <a:r>
              <a:rPr lang="ko-KR" sz="900" dirty="0" err="1">
                <a:solidFill>
                  <a:srgbClr val="475569"/>
                </a:solidFill>
              </a:rPr>
              <a:t>로그인명</a:t>
            </a:r>
            <a:endParaRPr lang="en-US" alt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endParaRPr lang="ko-KR" sz="900" dirty="0">
              <a:solidFill>
                <a:srgbClr val="475569"/>
              </a:solidFill>
            </a:endParaRPr>
          </a:p>
          <a:p>
            <a:pPr algn="l">
              <a:buNone/>
            </a:pPr>
            <a:r>
              <a:rPr lang="en-US" sz="950" b="1" dirty="0">
                <a:solidFill>
                  <a:srgbClr val="0891B2"/>
                </a:solidFill>
                <a:latin typeface="Consolas"/>
              </a:rPr>
              <a:t>returnObject.xxx</a:t>
            </a:r>
          </a:p>
          <a:p>
            <a:pPr algn="l">
              <a:buNone/>
            </a:pPr>
            <a:r>
              <a:rPr lang="ko-KR" sz="900" dirty="0">
                <a:solidFill>
                  <a:srgbClr val="475569"/>
                </a:solidFill>
              </a:rPr>
              <a:t>  @PostAuthorize 전용</a:t>
            </a:r>
          </a:p>
        </p:txBody>
      </p:sp>
      <p:sp>
        <p:nvSpPr>
          <p:cNvPr id="10" name="VsTitle"/>
          <p:cNvSpPr/>
          <p:nvPr/>
        </p:nvSpPr>
        <p:spPr>
          <a:xfrm>
            <a:off x="5980176" y="2979860"/>
            <a:ext cx="28163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URL vs Method Security</a:t>
            </a:r>
          </a:p>
        </p:txBody>
      </p:sp>
      <p:sp>
        <p:nvSpPr>
          <p:cNvPr id="11" name="VsContent"/>
          <p:cNvSpPr/>
          <p:nvPr/>
        </p:nvSpPr>
        <p:spPr>
          <a:xfrm>
            <a:off x="5980176" y="3272468"/>
            <a:ext cx="2816352" cy="1529717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lnSpc>
                <a:spcPct val="150000"/>
              </a:lnSpc>
              <a:buNone/>
            </a:pPr>
            <a:r>
              <a:rPr lang="ko-KR" sz="900" b="1" dirty="0">
                <a:solidFill>
                  <a:srgbClr val="6D28D9"/>
                </a:solidFill>
              </a:rPr>
              <a:t>URL 방식 (SecurityConfig)</a:t>
            </a:r>
          </a:p>
          <a:p>
            <a:pPr algn="l">
              <a:lnSpc>
                <a:spcPct val="150000"/>
              </a:lnSpc>
              <a:buNone/>
            </a:pPr>
            <a:r>
              <a:rPr lang="ko-KR" sz="850" dirty="0">
                <a:solidFill>
                  <a:srgbClr val="475569"/>
                </a:solidFill>
              </a:rPr>
              <a:t>  패턴 매칭, 설정 집중 관리</a:t>
            </a:r>
            <a:endParaRPr lang="en-US" altLang="ko-KR" sz="850" dirty="0">
              <a:solidFill>
                <a:srgbClr val="475569"/>
              </a:solidFill>
            </a:endParaRPr>
          </a:p>
          <a:p>
            <a:pPr algn="l">
              <a:lnSpc>
                <a:spcPct val="150000"/>
              </a:lnSpc>
              <a:buNone/>
            </a:pPr>
            <a:endParaRPr lang="ko-KR" sz="850" dirty="0">
              <a:solidFill>
                <a:srgbClr val="475569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sz="900" b="1" dirty="0">
                <a:solidFill>
                  <a:srgbClr val="6D28D9"/>
                </a:solidFill>
              </a:rPr>
              <a:t>Method 방식 (@PreAuthorize)</a:t>
            </a:r>
          </a:p>
          <a:p>
            <a:pPr algn="l">
              <a:lnSpc>
                <a:spcPct val="150000"/>
              </a:lnSpc>
              <a:buNone/>
            </a:pPr>
            <a:r>
              <a:rPr lang="ko-KR" sz="850" dirty="0">
                <a:solidFill>
                  <a:srgbClr val="475569"/>
                </a:solidFill>
              </a:rPr>
              <a:t>  파라미터 기반 세밀한 제어</a:t>
            </a:r>
            <a:endParaRPr lang="en-US" altLang="ko-KR" sz="850" dirty="0">
              <a:solidFill>
                <a:srgbClr val="475569"/>
              </a:solidFill>
            </a:endParaRPr>
          </a:p>
          <a:p>
            <a:pPr>
              <a:lnSpc>
                <a:spcPct val="150000"/>
              </a:lnSpc>
            </a:pPr>
            <a:r>
              <a:rPr lang="ko-KR" sz="850" b="1" dirty="0">
                <a:solidFill>
                  <a:srgbClr val="DC2626"/>
                </a:solidFill>
              </a:rPr>
              <a:t>실무: </a:t>
            </a:r>
            <a:r>
              <a:rPr lang="ko-KR" altLang="en-US" sz="850" b="1" dirty="0">
                <a:solidFill>
                  <a:srgbClr val="DC2626"/>
                </a:solidFill>
              </a:rPr>
              <a:t>둘 중 하나를 일관성 있게 사용</a:t>
            </a:r>
            <a:r>
              <a:rPr lang="en-US" altLang="ko-KR" sz="850" b="1" dirty="0">
                <a:solidFill>
                  <a:srgbClr val="DC2626"/>
                </a:solidFill>
              </a:rPr>
              <a:t>, </a:t>
            </a:r>
            <a:r>
              <a:rPr lang="en-US" altLang="ko-KR" sz="850" b="1" dirty="0" err="1">
                <a:solidFill>
                  <a:srgbClr val="DC2626"/>
                </a:solidFill>
              </a:rPr>
              <a:t>SecurityConfig</a:t>
            </a:r>
            <a:r>
              <a:rPr lang="ko-KR" altLang="en-US" sz="850" b="1" dirty="0">
                <a:solidFill>
                  <a:srgbClr val="DC2626"/>
                </a:solidFill>
              </a:rPr>
              <a:t>에서 </a:t>
            </a:r>
            <a:r>
              <a:rPr lang="en-US" altLang="ko-KR" sz="850" b="1" dirty="0">
                <a:solidFill>
                  <a:srgbClr val="DC2626"/>
                </a:solidFill>
              </a:rPr>
              <a:t>URL </a:t>
            </a:r>
            <a:r>
              <a:rPr lang="ko-KR" altLang="en-US" sz="850" b="1" dirty="0">
                <a:solidFill>
                  <a:srgbClr val="DC2626"/>
                </a:solidFill>
              </a:rPr>
              <a:t>레벨로 통합 관리하는 것이 더 명확</a:t>
            </a:r>
            <a:r>
              <a:rPr lang="ko-KR" sz="850" b="1" dirty="0">
                <a:solidFill>
                  <a:srgbClr val="DC2626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3413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+ Spring Security — sec: 속성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399"/>
            <a:ext cx="5376672" cy="4174709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05840"/>
            <a:ext cx="5193792" cy="408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</a:t>
            </a:r>
            <a:r>
              <a:rPr lang="en-US" sz="85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xmlns:th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="http://www.thymeleaf.org"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xmlns:sec="https://www.thymeleaf.org/extras/spring-security"&gt;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인증된 사용자 이름 표시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8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sec:authorize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50" dirty="0" err="1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</a:t>
            </a:r>
            <a:r>
              <a:rPr lang="en-US" sz="8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환영합니다,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</a:t>
            </a:r>
            <a:r>
              <a:rPr lang="en-US" sz="8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sec:authentication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="name"&gt;&lt;/span&gt;님! 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ADMIN 역할만 표시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8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sec:authorize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hasRole('ADMIN'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th:href="@{/admin/home}"&gt;관리자 페이지&lt;/a&gt;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미인증 사용자에게만 표시 --&gt;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</a:t>
            </a:r>
            <a:r>
              <a:rPr lang="en-US" sz="8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sec:authorize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isAnonymous(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th:href="@{/login}"&gt;로그인&lt;/a&gt;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th:href="@{/signup}"&gt;회원가입&lt;/a&gt;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</a:t>
            </a:r>
            <a:r>
              <a:rPr lang="ko-KR" alt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로그인한 사용자 </a:t>
            </a: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</a:p>
          <a:p>
            <a:pPr marL="0" indent="0">
              <a:buNone/>
            </a:pP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</a:t>
            </a:r>
            <a:r>
              <a:rPr lang="en-US" sz="850" dirty="0" err="1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sec:authorize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850" dirty="0" err="1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</a:t>
            </a:r>
            <a:r>
              <a:rPr lang="en-US" sz="85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   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</a:t>
            </a:r>
            <a:r>
              <a:rPr lang="en-US" sz="850" dirty="0" err="1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sec:authentication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="name"&gt;&lt;/span&gt;</a:t>
            </a:r>
            <a:r>
              <a:rPr lang="ko-KR" alt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님</a:t>
            </a: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   </a:t>
            </a:r>
          </a:p>
          <a:p>
            <a:pPr marL="0" indent="0">
              <a:buNone/>
            </a:pP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</a:t>
            </a:r>
            <a:r>
              <a:rPr lang="en-US" sz="85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th:action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="@{/logout}" method="post"&gt;       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</a:t>
            </a:r>
            <a:r>
              <a:rPr lang="ko-KR" alt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로그아웃</a:t>
            </a:r>
            <a:r>
              <a:rPr lang="en-US" altLang="ko-KR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button&gt;   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88736" y="9144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8"/>
                </a:solidFill>
              </a:rPr>
              <a:t>sec: 속성 레퍼런스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88736" y="1298448"/>
            <a:ext cx="2907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61888" y="1353312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isAuthenticated()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61888" y="16093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인증 완료된 사용자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88736" y="1956816"/>
            <a:ext cx="2907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61888" y="201168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isAnonymous()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61888" y="226771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미인증 익명 사용자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88736" y="2615184"/>
            <a:ext cx="2907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D28D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61888" y="2670048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hasRole('X')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61888" y="292608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단일 역할 보유 확인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88736" y="3273552"/>
            <a:ext cx="2907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61888" y="3328416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hasAnyRole('X','Y')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61888" y="3584448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여러 역할 중 하나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88736" y="3931920"/>
            <a:ext cx="290779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61888" y="398678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sec:authentication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61888" y="4242816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name/principal 속성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3856" y="256256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 — 폼 페이지 구현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2852928" cy="4005072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005840"/>
            <a:ext cx="2670048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login.html --&gt;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th:action="@{/login}"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실패 메시지 --&gt;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th:if="${param.error}"&gt;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style="color:red"&gt;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이메일/비밀번호 오류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th:if="${param.logout}"&gt;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style="color:blue"&gt;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로그아웃 완료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&lt;/p&gt;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&lt;label&gt;Email:&lt;/label&gt;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name="username" /&gt;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&lt;label&gt;Password:&lt;/label&gt;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type="password"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name="password" /&gt;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CSRF 토큰 자동 삽입 --&gt;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th:action 사용 시 자동 --&gt;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로그인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20" dirty="0"/>
          </a:p>
        </p:txBody>
      </p:sp>
      <p:sp>
        <p:nvSpPr>
          <p:cNvPr id="34" name="TextBox 33"/>
          <p:cNvSpPr txBox="1"/>
          <p:nvPr/>
        </p:nvSpPr>
        <p:spPr>
          <a:xfrm>
            <a:off x="3632933" y="1020064"/>
            <a:ext cx="1467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localhost:8080/login</a:t>
            </a:r>
            <a:endParaRPr lang="ko-KR" alt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3546389" y="2994010"/>
            <a:ext cx="1852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localhost:8080/</a:t>
            </a:r>
            <a:r>
              <a:rPr lang="en-US" altLang="ko-KR" sz="1200" dirty="0" err="1"/>
              <a:t>login?error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6030429" y="1020064"/>
            <a:ext cx="19391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localhost:8080/</a:t>
            </a:r>
            <a:r>
              <a:rPr lang="en-US" altLang="ko-KR" sz="1200" dirty="0" err="1"/>
              <a:t>login?logout</a:t>
            </a:r>
            <a:endParaRPr lang="ko-KR" altLang="en-US" sz="1200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264" y="1299078"/>
            <a:ext cx="1972939" cy="1412722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124" y="3271009"/>
            <a:ext cx="1945061" cy="1498841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736" y="1260351"/>
            <a:ext cx="2371797" cy="1833070"/>
          </a:xfrm>
          <a:prstGeom prst="rect">
            <a:avLst/>
          </a:prstGeom>
        </p:spPr>
      </p:pic>
      <p:sp>
        <p:nvSpPr>
          <p:cNvPr id="40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5-2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271089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 — 폼 페이지 구현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33272"/>
            <a:ext cx="3133554" cy="4005072"/>
          </a:xfrm>
          <a:prstGeom prst="rect">
            <a:avLst/>
          </a:prstGeom>
          <a:solidFill>
            <a:srgbClr val="1E293B"/>
          </a:solidFill>
          <a:ln w="10160">
            <a:solidFill>
              <a:srgbClr val="0891B2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1" y="1124712"/>
            <a:ext cx="2997971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signup.html --&gt;</a:t>
            </a:r>
          </a:p>
          <a:p>
            <a:pPr marL="0" indent="0">
              <a:buNone/>
            </a:pPr>
            <a:endParaRPr lang="en-US" sz="820" dirty="0"/>
          </a:p>
          <a:p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th:action="@{/signup}</a:t>
            </a:r>
            <a:r>
              <a:rPr lang="en-US" altLang="ko-KR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th:object="${user}"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th:if="${</a:t>
            </a:r>
            <a:r>
              <a:rPr lang="en-US" sz="8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emailExists</a:t>
            </a: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 style="color:red"&gt;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이미 사용 중인 이메일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&lt;label&gt;Email:&lt;/label&gt;</a:t>
            </a:r>
            <a:endParaRPr lang="en-US" sz="820" dirty="0"/>
          </a:p>
          <a:p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</a:t>
            </a:r>
            <a:r>
              <a:rPr lang="en-US" altLang="ko-KR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th:field="*{email}" /&gt;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&lt;label&gt;Password:&lt;/label&gt;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</a:t>
            </a:r>
            <a:r>
              <a:rPr lang="en-US" sz="82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password"th:field</a:t>
            </a: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="*{password}" /&gt;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 회원가입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20" dirty="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814" y="3047982"/>
            <a:ext cx="2488986" cy="1716286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626" y="3046246"/>
            <a:ext cx="2288433" cy="171802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77185" y="2769247"/>
            <a:ext cx="1568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localhost:8080/signup</a:t>
            </a:r>
            <a:endParaRPr lang="ko-KR" altLang="en-US" sz="12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356" y="1107274"/>
            <a:ext cx="4582164" cy="137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52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6773"/>
            <a:ext cx="9144000" cy="20117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r>
              <a:rPr lang="en-US" altLang="ko-KR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구현 및 설정 항목</a:t>
            </a:r>
            <a:r>
              <a:rPr lang="en-US" altLang="ko-KR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(1/2)</a:t>
            </a:r>
            <a:endParaRPr lang="en-US" sz="2400" dirty="0"/>
          </a:p>
        </p:txBody>
      </p:sp>
      <p:sp>
        <p:nvSpPr>
          <p:cNvPr id="50" name="Shape 48"/>
          <p:cNvSpPr/>
          <p:nvPr/>
        </p:nvSpPr>
        <p:spPr>
          <a:xfrm>
            <a:off x="193492" y="832375"/>
            <a:ext cx="3145536" cy="1261872"/>
          </a:xfrm>
          <a:prstGeom prst="rect">
            <a:avLst/>
          </a:prstGeom>
          <a:solidFill>
            <a:srgbClr val="13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3492" y="832375"/>
            <a:ext cx="3145536" cy="30175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932" y="832375"/>
            <a:ext cx="30083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의존성 추가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84932" y="1198135"/>
            <a:ext cx="2962656" cy="548640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0652" y="1216423"/>
            <a:ext cx="2871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spring-boot-starter-security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4932" y="1801639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chemeClr val="bg1"/>
                </a:solidFill>
              </a:rPr>
              <a:t>Security </a:t>
            </a:r>
            <a:r>
              <a:rPr lang="en-US" altLang="ko-KR" sz="800" dirty="0" err="1">
                <a:solidFill>
                  <a:schemeClr val="bg1"/>
                </a:solidFill>
              </a:rPr>
              <a:t>자동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설정·필터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체인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활성화</a:t>
            </a:r>
            <a:r>
              <a:rPr lang="en-US" altLang="ko-KR" sz="800" dirty="0">
                <a:solidFill>
                  <a:schemeClr val="bg1"/>
                </a:solidFill>
              </a:rPr>
              <a:t>  </a:t>
            </a:r>
          </a:p>
          <a:p>
            <a:r>
              <a:rPr lang="en-US" altLang="ko-KR" sz="800" dirty="0" err="1">
                <a:solidFill>
                  <a:schemeClr val="bg1"/>
                </a:solidFill>
              </a:rPr>
              <a:t>모든</a:t>
            </a:r>
            <a:r>
              <a:rPr lang="en-US" altLang="ko-KR" sz="800" dirty="0">
                <a:solidFill>
                  <a:schemeClr val="bg1"/>
                </a:solidFill>
              </a:rPr>
              <a:t> URL </a:t>
            </a:r>
            <a:r>
              <a:rPr lang="en-US" altLang="ko-KR" sz="800" dirty="0" err="1">
                <a:solidFill>
                  <a:schemeClr val="bg1"/>
                </a:solidFill>
              </a:rPr>
              <a:t>기본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차단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즉시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적용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71" name="Shape 48"/>
          <p:cNvSpPr/>
          <p:nvPr/>
        </p:nvSpPr>
        <p:spPr>
          <a:xfrm>
            <a:off x="211780" y="2304558"/>
            <a:ext cx="3108960" cy="1788169"/>
          </a:xfrm>
          <a:prstGeom prst="rect">
            <a:avLst/>
          </a:prstGeom>
          <a:solidFill>
            <a:srgbClr val="13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Shape 49"/>
          <p:cNvSpPr/>
          <p:nvPr/>
        </p:nvSpPr>
        <p:spPr>
          <a:xfrm>
            <a:off x="211780" y="2304559"/>
            <a:ext cx="3108960" cy="31089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50"/>
          <p:cNvSpPr/>
          <p:nvPr/>
        </p:nvSpPr>
        <p:spPr>
          <a:xfrm>
            <a:off x="303220" y="2304559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UserDetailsService 구현</a:t>
            </a:r>
            <a:endParaRPr lang="en-US" sz="1050" dirty="0"/>
          </a:p>
        </p:txBody>
      </p:sp>
      <p:sp>
        <p:nvSpPr>
          <p:cNvPr id="74" name="Shape 51"/>
          <p:cNvSpPr/>
          <p:nvPr/>
        </p:nvSpPr>
        <p:spPr>
          <a:xfrm>
            <a:off x="303220" y="2688607"/>
            <a:ext cx="2926080" cy="749808"/>
          </a:xfrm>
          <a:prstGeom prst="rect">
            <a:avLst/>
          </a:prstGeom>
          <a:solidFill>
            <a:srgbClr val="0A162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5" name="Text 52"/>
          <p:cNvSpPr/>
          <p:nvPr/>
        </p:nvSpPr>
        <p:spPr>
          <a:xfrm>
            <a:off x="348940" y="2706895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UserService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implements UserDetailsService 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UserDetails loadUserByUsername(String id);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76" name="Text 53"/>
          <p:cNvSpPr/>
          <p:nvPr/>
        </p:nvSpPr>
        <p:spPr>
          <a:xfrm>
            <a:off x="303220" y="3493279"/>
            <a:ext cx="2926080" cy="4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DB에서 사용자 조회 후 UserDetails 반환.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실패 시 UsernameNotFoundException </a:t>
            </a:r>
            <a:r>
              <a:rPr lang="en-US" sz="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</a:t>
            </a: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altLang="ko-KR" sz="800" dirty="0" err="1">
                <a:solidFill>
                  <a:schemeClr val="bg1"/>
                </a:solidFill>
              </a:rPr>
              <a:t>AuthenticationProvider가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자동으로</a:t>
            </a:r>
            <a:r>
              <a:rPr lang="en-US" altLang="ko-KR" sz="800" dirty="0">
                <a:solidFill>
                  <a:schemeClr val="bg1"/>
                </a:solidFill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</a:rPr>
              <a:t>호출</a:t>
            </a:r>
            <a:endParaRPr lang="en-US" altLang="ko-KR" sz="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57" name="Shape 9"/>
          <p:cNvSpPr/>
          <p:nvPr/>
        </p:nvSpPr>
        <p:spPr>
          <a:xfrm>
            <a:off x="3456432" y="818271"/>
            <a:ext cx="5376672" cy="4187952"/>
          </a:xfrm>
          <a:prstGeom prst="rect">
            <a:avLst/>
          </a:prstGeom>
          <a:solidFill>
            <a:srgbClr val="132033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8" name="Shape 10"/>
          <p:cNvSpPr/>
          <p:nvPr/>
        </p:nvSpPr>
        <p:spPr>
          <a:xfrm>
            <a:off x="3456432" y="818271"/>
            <a:ext cx="5376672" cy="365760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9" name="Text 11"/>
          <p:cNvSpPr/>
          <p:nvPr/>
        </p:nvSpPr>
        <p:spPr>
          <a:xfrm>
            <a:off x="3959352" y="837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Configuration</a:t>
            </a:r>
            <a:endParaRPr lang="en-US" sz="1100" dirty="0"/>
          </a:p>
        </p:txBody>
      </p:sp>
      <p:sp>
        <p:nvSpPr>
          <p:cNvPr id="60" name="Text 12"/>
          <p:cNvSpPr/>
          <p:nvPr/>
        </p:nvSpPr>
        <p:spPr>
          <a:xfrm>
            <a:off x="6473952" y="818271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 @EnableWebSecurity</a:t>
            </a:r>
            <a:endParaRPr lang="en-US" sz="800" dirty="0"/>
          </a:p>
        </p:txBody>
      </p:sp>
      <p:sp>
        <p:nvSpPr>
          <p:cNvPr id="61" name="Shape 13"/>
          <p:cNvSpPr/>
          <p:nvPr/>
        </p:nvSpPr>
        <p:spPr>
          <a:xfrm>
            <a:off x="3602736" y="1293759"/>
            <a:ext cx="5084064" cy="2999232"/>
          </a:xfrm>
          <a:prstGeom prst="rect">
            <a:avLst/>
          </a:prstGeom>
          <a:solidFill>
            <a:srgbClr val="1C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2" name="Shape 14"/>
          <p:cNvSpPr/>
          <p:nvPr/>
        </p:nvSpPr>
        <p:spPr>
          <a:xfrm>
            <a:off x="3602736" y="1293759"/>
            <a:ext cx="5084064" cy="292608"/>
          </a:xfrm>
          <a:prstGeom prst="rect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3" name="Text 15"/>
          <p:cNvSpPr/>
          <p:nvPr/>
        </p:nvSpPr>
        <p:spPr>
          <a:xfrm>
            <a:off x="3694176" y="1302903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900" dirty="0">
              <a:solidFill>
                <a:srgbClr val="FFFF00"/>
              </a:solidFill>
            </a:endParaRPr>
          </a:p>
        </p:txBody>
      </p:sp>
      <p:sp>
        <p:nvSpPr>
          <p:cNvPr id="64" name="Text 16"/>
          <p:cNvSpPr/>
          <p:nvPr/>
        </p:nvSpPr>
        <p:spPr>
          <a:xfrm>
            <a:off x="4133088" y="1302903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SecurityFilterChain</a:t>
            </a:r>
            <a:r>
              <a:rPr lang="en-US" sz="9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filterChain(HttpSecurity http)</a:t>
            </a:r>
            <a:endParaRPr lang="en-US" sz="900" dirty="0"/>
          </a:p>
        </p:txBody>
      </p:sp>
      <p:sp>
        <p:nvSpPr>
          <p:cNvPr id="65" name="Shape 17"/>
          <p:cNvSpPr/>
          <p:nvPr/>
        </p:nvSpPr>
        <p:spPr>
          <a:xfrm>
            <a:off x="3694176" y="1659519"/>
            <a:ext cx="2350008" cy="1243584"/>
          </a:xfrm>
          <a:prstGeom prst="rect">
            <a:avLst/>
          </a:prstGeom>
          <a:solidFill>
            <a:srgbClr val="0A162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66" name="Shape 18"/>
          <p:cNvSpPr/>
          <p:nvPr/>
        </p:nvSpPr>
        <p:spPr>
          <a:xfrm>
            <a:off x="3694176" y="1659519"/>
            <a:ext cx="23500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7" name="Text 19"/>
          <p:cNvSpPr/>
          <p:nvPr/>
        </p:nvSpPr>
        <p:spPr>
          <a:xfrm>
            <a:off x="3767328" y="1723527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· 인가 규칙</a:t>
            </a:r>
            <a:endParaRPr lang="en-US" sz="950" dirty="0"/>
          </a:p>
        </p:txBody>
      </p:sp>
      <p:sp>
        <p:nvSpPr>
          <p:cNvPr id="68" name="Shape 20"/>
          <p:cNvSpPr/>
          <p:nvPr/>
        </p:nvSpPr>
        <p:spPr>
          <a:xfrm>
            <a:off x="3749040" y="1970415"/>
            <a:ext cx="2240280" cy="646664"/>
          </a:xfrm>
          <a:prstGeom prst="rect">
            <a:avLst/>
          </a:prstGeom>
          <a:solidFill>
            <a:srgbClr val="060E1A"/>
          </a:solidFill>
          <a:ln w="5080">
            <a:solidFill>
              <a:srgbClr val="34D399"/>
            </a:solidFill>
            <a:prstDash val="dash"/>
          </a:ln>
        </p:spPr>
      </p:sp>
      <p:sp>
        <p:nvSpPr>
          <p:cNvPr id="69" name="Text 21"/>
          <p:cNvSpPr/>
          <p:nvPr/>
        </p:nvSpPr>
        <p:spPr>
          <a:xfrm>
            <a:off x="3767328" y="1960659"/>
            <a:ext cx="2167128" cy="61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.authorizeHttpRequests(authz -&gt; authz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.requestMatchers(PUBLIC).permitAll()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.requestMatchers("/admin/**")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.hasRole("ADMIN")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.anyRequest().authenticated()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50" dirty="0"/>
          </a:p>
        </p:txBody>
      </p:sp>
      <p:sp>
        <p:nvSpPr>
          <p:cNvPr id="70" name="Text 22"/>
          <p:cNvSpPr/>
          <p:nvPr/>
        </p:nvSpPr>
        <p:spPr>
          <a:xfrm>
            <a:off x="3767328" y="2671943"/>
            <a:ext cx="22219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패턴별 접근 권한 정의.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requestMatchers() 선언 순서가 우선순위.</a:t>
            </a:r>
            <a:endParaRPr lang="en-US" sz="750" dirty="0"/>
          </a:p>
        </p:txBody>
      </p:sp>
      <p:sp>
        <p:nvSpPr>
          <p:cNvPr id="78" name="Shape 23"/>
          <p:cNvSpPr/>
          <p:nvPr/>
        </p:nvSpPr>
        <p:spPr>
          <a:xfrm>
            <a:off x="6153912" y="1659519"/>
            <a:ext cx="2350008" cy="1243584"/>
          </a:xfrm>
          <a:prstGeom prst="rect">
            <a:avLst/>
          </a:prstGeom>
          <a:solidFill>
            <a:srgbClr val="0A162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79" name="Shape 24"/>
          <p:cNvSpPr/>
          <p:nvPr/>
        </p:nvSpPr>
        <p:spPr>
          <a:xfrm>
            <a:off x="6153912" y="1659519"/>
            <a:ext cx="23500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0" name="Text 25"/>
          <p:cNvSpPr/>
          <p:nvPr/>
        </p:nvSpPr>
        <p:spPr>
          <a:xfrm>
            <a:off x="6227064" y="1723527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로그인 설정</a:t>
            </a:r>
            <a:endParaRPr lang="en-US" sz="950" dirty="0"/>
          </a:p>
        </p:txBody>
      </p:sp>
      <p:sp>
        <p:nvSpPr>
          <p:cNvPr id="81" name="Shape 26"/>
          <p:cNvSpPr/>
          <p:nvPr/>
        </p:nvSpPr>
        <p:spPr>
          <a:xfrm>
            <a:off x="6208776" y="1970415"/>
            <a:ext cx="2240280" cy="646664"/>
          </a:xfrm>
          <a:prstGeom prst="rect">
            <a:avLst/>
          </a:prstGeom>
          <a:solidFill>
            <a:srgbClr val="060E1A"/>
          </a:solidFill>
          <a:ln w="5080">
            <a:solidFill>
              <a:srgbClr val="34D399"/>
            </a:solidFill>
            <a:prstDash val="dash"/>
          </a:ln>
        </p:spPr>
      </p:sp>
      <p:sp>
        <p:nvSpPr>
          <p:cNvPr id="82" name="Text 27"/>
          <p:cNvSpPr/>
          <p:nvPr/>
        </p:nvSpPr>
        <p:spPr>
          <a:xfrm>
            <a:off x="6245352" y="1988703"/>
            <a:ext cx="2167128" cy="61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.formLogin(form -&gt; form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.loginPage("/login")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.defaultSuccessUrl("/home")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.failureUrl("/login?error")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.permitAll()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50" dirty="0"/>
          </a:p>
        </p:txBody>
      </p:sp>
      <p:sp>
        <p:nvSpPr>
          <p:cNvPr id="83" name="Text 28"/>
          <p:cNvSpPr/>
          <p:nvPr/>
        </p:nvSpPr>
        <p:spPr>
          <a:xfrm>
            <a:off x="6227064" y="2671943"/>
            <a:ext cx="22219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로그인 페이지 지정.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성공/실패 리다이렉트 URL 설정.</a:t>
            </a:r>
            <a:endParaRPr lang="en-US" sz="750" dirty="0"/>
          </a:p>
        </p:txBody>
      </p:sp>
      <p:sp>
        <p:nvSpPr>
          <p:cNvPr id="84" name="Shape 29"/>
          <p:cNvSpPr/>
          <p:nvPr/>
        </p:nvSpPr>
        <p:spPr>
          <a:xfrm>
            <a:off x="3694176" y="2976255"/>
            <a:ext cx="2350008" cy="1243584"/>
          </a:xfrm>
          <a:prstGeom prst="rect">
            <a:avLst/>
          </a:prstGeom>
          <a:solidFill>
            <a:srgbClr val="0A162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85" name="Shape 30"/>
          <p:cNvSpPr/>
          <p:nvPr/>
        </p:nvSpPr>
        <p:spPr>
          <a:xfrm>
            <a:off x="3694176" y="2976255"/>
            <a:ext cx="23500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6" name="Text 31"/>
          <p:cNvSpPr/>
          <p:nvPr/>
        </p:nvSpPr>
        <p:spPr>
          <a:xfrm>
            <a:off x="3767328" y="3040263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설정</a:t>
            </a:r>
            <a:endParaRPr lang="en-US" sz="950" dirty="0"/>
          </a:p>
        </p:txBody>
      </p:sp>
      <p:sp>
        <p:nvSpPr>
          <p:cNvPr id="87" name="Shape 32"/>
          <p:cNvSpPr/>
          <p:nvPr/>
        </p:nvSpPr>
        <p:spPr>
          <a:xfrm>
            <a:off x="3749040" y="3287151"/>
            <a:ext cx="2240280" cy="646664"/>
          </a:xfrm>
          <a:prstGeom prst="rect">
            <a:avLst/>
          </a:prstGeom>
          <a:solidFill>
            <a:srgbClr val="060E1A"/>
          </a:solidFill>
          <a:ln w="5080">
            <a:solidFill>
              <a:srgbClr val="34D399"/>
            </a:solidFill>
            <a:prstDash val="dash"/>
          </a:ln>
        </p:spPr>
      </p:sp>
      <p:sp>
        <p:nvSpPr>
          <p:cNvPr id="88" name="Text 33"/>
          <p:cNvSpPr/>
          <p:nvPr/>
        </p:nvSpPr>
        <p:spPr>
          <a:xfrm>
            <a:off x="3785616" y="3305439"/>
            <a:ext cx="2167128" cy="61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.logout(logout -&gt; logout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.logoutUrl("/logout")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.logoutSuccessUrl("/login?logout")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.permitAll()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650" dirty="0"/>
          </a:p>
        </p:txBody>
      </p:sp>
      <p:sp>
        <p:nvSpPr>
          <p:cNvPr id="89" name="Text 34"/>
          <p:cNvSpPr/>
          <p:nvPr/>
        </p:nvSpPr>
        <p:spPr>
          <a:xfrm>
            <a:off x="3767328" y="3988679"/>
            <a:ext cx="22219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/logout 처리.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무효화 및 리다이렉트 경로 지정.</a:t>
            </a:r>
            <a:endParaRPr lang="en-US" sz="750" dirty="0"/>
          </a:p>
        </p:txBody>
      </p:sp>
      <p:sp>
        <p:nvSpPr>
          <p:cNvPr id="90" name="Shape 35"/>
          <p:cNvSpPr/>
          <p:nvPr/>
        </p:nvSpPr>
        <p:spPr>
          <a:xfrm>
            <a:off x="6153912" y="2976255"/>
            <a:ext cx="2350008" cy="1243584"/>
          </a:xfrm>
          <a:prstGeom prst="rect">
            <a:avLst/>
          </a:prstGeom>
          <a:solidFill>
            <a:srgbClr val="0A162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91" name="Shape 36"/>
          <p:cNvSpPr/>
          <p:nvPr/>
        </p:nvSpPr>
        <p:spPr>
          <a:xfrm>
            <a:off x="6153912" y="2976255"/>
            <a:ext cx="2350008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2" name="Text 37"/>
          <p:cNvSpPr/>
          <p:nvPr/>
        </p:nvSpPr>
        <p:spPr>
          <a:xfrm>
            <a:off x="6227064" y="3040263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</a:t>
            </a: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 CSRF</a:t>
            </a:r>
            <a:endParaRPr lang="en-US" sz="950" dirty="0"/>
          </a:p>
        </p:txBody>
      </p:sp>
      <p:sp>
        <p:nvSpPr>
          <p:cNvPr id="93" name="Shape 38"/>
          <p:cNvSpPr/>
          <p:nvPr/>
        </p:nvSpPr>
        <p:spPr>
          <a:xfrm>
            <a:off x="6208776" y="3287151"/>
            <a:ext cx="2240280" cy="562539"/>
          </a:xfrm>
          <a:prstGeom prst="rect">
            <a:avLst/>
          </a:prstGeom>
          <a:solidFill>
            <a:srgbClr val="060E1A"/>
          </a:solidFill>
          <a:ln w="5080">
            <a:solidFill>
              <a:srgbClr val="34D399"/>
            </a:solidFill>
            <a:prstDash val="dash"/>
          </a:ln>
        </p:spPr>
      </p:sp>
      <p:sp>
        <p:nvSpPr>
          <p:cNvPr id="94" name="Text 39"/>
          <p:cNvSpPr/>
          <p:nvPr/>
        </p:nvSpPr>
        <p:spPr>
          <a:xfrm>
            <a:off x="6245352" y="3305439"/>
            <a:ext cx="2167128" cy="61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.userDetailsService(userDetailsService)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CSRF 기본 활성화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FF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별도 설정 불필요!</a:t>
            </a:r>
            <a:endParaRPr lang="en-US" sz="650" dirty="0"/>
          </a:p>
        </p:txBody>
      </p:sp>
      <p:sp>
        <p:nvSpPr>
          <p:cNvPr id="95" name="Text 40"/>
          <p:cNvSpPr/>
          <p:nvPr/>
        </p:nvSpPr>
        <p:spPr>
          <a:xfrm>
            <a:off x="6208776" y="3932421"/>
            <a:ext cx="2221992" cy="26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서비스 직접 연결.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CSRF는 </a:t>
            </a:r>
            <a:r>
              <a:rPr lang="en-US" sz="7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</a:t>
            </a: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750" dirty="0"/>
          </a:p>
        </p:txBody>
      </p:sp>
      <p:sp>
        <p:nvSpPr>
          <p:cNvPr id="96" name="Shape 41"/>
          <p:cNvSpPr/>
          <p:nvPr/>
        </p:nvSpPr>
        <p:spPr>
          <a:xfrm>
            <a:off x="3602736" y="4402719"/>
            <a:ext cx="5084064" cy="512064"/>
          </a:xfrm>
          <a:prstGeom prst="rect">
            <a:avLst/>
          </a:prstGeom>
          <a:solidFill>
            <a:srgbClr val="1C2E4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7" name="Shape 42"/>
          <p:cNvSpPr/>
          <p:nvPr/>
        </p:nvSpPr>
        <p:spPr>
          <a:xfrm>
            <a:off x="3602736" y="4402719"/>
            <a:ext cx="54864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8" name="Text 43"/>
          <p:cNvSpPr/>
          <p:nvPr/>
        </p:nvSpPr>
        <p:spPr>
          <a:xfrm>
            <a:off x="3730752" y="4439295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 </a:t>
            </a:r>
            <a:r>
              <a:rPr lang="en-US" altLang="ko-KR" sz="1000" b="1" dirty="0" err="1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</a:t>
            </a:r>
            <a:endParaRPr lang="en-US" sz="1000" dirty="0">
              <a:solidFill>
                <a:srgbClr val="FFFF00"/>
              </a:solidFill>
            </a:endParaRPr>
          </a:p>
        </p:txBody>
      </p:sp>
      <p:sp>
        <p:nvSpPr>
          <p:cNvPr id="99" name="Text 44"/>
          <p:cNvSpPr/>
          <p:nvPr/>
        </p:nvSpPr>
        <p:spPr>
          <a:xfrm>
            <a:off x="3730752" y="4631319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100" name="Text 45"/>
          <p:cNvSpPr/>
          <p:nvPr/>
        </p:nvSpPr>
        <p:spPr>
          <a:xfrm>
            <a:off x="4059148" y="4640661"/>
            <a:ext cx="172727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8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101" name="Shape 46"/>
          <p:cNvSpPr/>
          <p:nvPr/>
        </p:nvSpPr>
        <p:spPr>
          <a:xfrm>
            <a:off x="6408476" y="4475871"/>
            <a:ext cx="2186884" cy="402336"/>
          </a:xfrm>
          <a:prstGeom prst="rect">
            <a:avLst/>
          </a:prstGeom>
          <a:solidFill>
            <a:srgbClr val="0A1628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02" name="Text 47"/>
          <p:cNvSpPr/>
          <p:nvPr/>
        </p:nvSpPr>
        <p:spPr>
          <a:xfrm>
            <a:off x="6408476" y="4469470"/>
            <a:ext cx="21868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</a:t>
            </a:r>
            <a:r>
              <a:rPr lang="en-US" sz="800" dirty="0" err="1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BCryptPasswordEncoder</a:t>
            </a: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00" dirty="0"/>
          </a:p>
        </p:txBody>
      </p:sp>
      <p:sp>
        <p:nvSpPr>
          <p:cNvPr id="103" name="직사각형 102"/>
          <p:cNvSpPr/>
          <p:nvPr/>
        </p:nvSpPr>
        <p:spPr>
          <a:xfrm>
            <a:off x="3485332" y="832375"/>
            <a:ext cx="490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650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32033"/>
          </a:solidFill>
          <a:ln w="12700">
            <a:solidFill>
              <a:srgbClr val="13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6773"/>
            <a:ext cx="9144000" cy="20117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r>
              <a:rPr lang="en-US" altLang="ko-KR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구현 및 설정 항목 </a:t>
            </a:r>
            <a:r>
              <a:rPr lang="en-US" altLang="ko-KR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(2/2)</a:t>
            </a:r>
            <a:endParaRPr lang="en-US" sz="2400" dirty="0"/>
          </a:p>
        </p:txBody>
      </p:sp>
      <p:sp>
        <p:nvSpPr>
          <p:cNvPr id="77" name="Shape 16"/>
          <p:cNvSpPr/>
          <p:nvPr/>
        </p:nvSpPr>
        <p:spPr>
          <a:xfrm>
            <a:off x="862374" y="859380"/>
            <a:ext cx="3003331" cy="908409"/>
          </a:xfrm>
          <a:prstGeom prst="rect">
            <a:avLst/>
          </a:prstGeom>
          <a:solidFill>
            <a:srgbClr val="0A1628"/>
          </a:solidFill>
          <a:ln w="19050">
            <a:solidFill>
              <a:srgbClr val="7C3AED"/>
            </a:solidFill>
            <a:prstDash val="solid"/>
          </a:ln>
          <a:effectLst>
            <a:outerShdw blurRad="381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4" name="Shape 17"/>
          <p:cNvSpPr/>
          <p:nvPr/>
        </p:nvSpPr>
        <p:spPr>
          <a:xfrm>
            <a:off x="862374" y="859380"/>
            <a:ext cx="3003331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5" name="Text 18"/>
          <p:cNvSpPr/>
          <p:nvPr/>
        </p:nvSpPr>
        <p:spPr>
          <a:xfrm>
            <a:off x="862374" y="859380"/>
            <a:ext cx="3003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</a:rPr>
              <a:t>④</a:t>
            </a:r>
            <a:r>
              <a:rPr lang="en-US" sz="1200" b="1" dirty="0">
                <a:solidFill>
                  <a:srgbClr val="FFFFFF"/>
                </a:solidFill>
              </a:rPr>
              <a:t> User / Role Entity 설계</a:t>
            </a:r>
            <a:endParaRPr lang="en-US" sz="1200" dirty="0"/>
          </a:p>
        </p:txBody>
      </p:sp>
      <p:sp>
        <p:nvSpPr>
          <p:cNvPr id="106" name="Shape 19"/>
          <p:cNvSpPr/>
          <p:nvPr/>
        </p:nvSpPr>
        <p:spPr>
          <a:xfrm>
            <a:off x="972102" y="1188564"/>
            <a:ext cx="2685498" cy="57922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7" name="Text 20"/>
          <p:cNvSpPr/>
          <p:nvPr/>
        </p:nvSpPr>
        <p:spPr>
          <a:xfrm>
            <a:off x="1131018" y="1248128"/>
            <a:ext cx="2367665" cy="4201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 public class 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</a:p>
          <a:p>
            <a:pPr>
              <a:spcAft>
                <a:spcPts val="100"/>
              </a:spcAft>
            </a:pPr>
            <a:r>
              <a:rPr lang="en-US" altLang="ko-KR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 public class </a:t>
            </a:r>
            <a:r>
              <a:rPr lang="en-US" altLang="ko-KR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</p:txBody>
      </p:sp>
      <p:sp>
        <p:nvSpPr>
          <p:cNvPr id="141" name="Shape 4"/>
          <p:cNvSpPr/>
          <p:nvPr/>
        </p:nvSpPr>
        <p:spPr>
          <a:xfrm>
            <a:off x="972102" y="1877677"/>
            <a:ext cx="2834640" cy="3229724"/>
          </a:xfrm>
          <a:prstGeom prst="rect">
            <a:avLst/>
          </a:prstGeom>
          <a:solidFill>
            <a:srgbClr val="0A1628"/>
          </a:solidFill>
          <a:ln w="19050">
            <a:solidFill>
              <a:srgbClr val="0891B2"/>
            </a:solidFill>
            <a:prstDash val="solid"/>
          </a:ln>
          <a:effectLst>
            <a:outerShdw blurRad="381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2" name="Shape 5"/>
          <p:cNvSpPr/>
          <p:nvPr/>
        </p:nvSpPr>
        <p:spPr>
          <a:xfrm>
            <a:off x="972102" y="1877677"/>
            <a:ext cx="28346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3" name="Text 6"/>
          <p:cNvSpPr/>
          <p:nvPr/>
        </p:nvSpPr>
        <p:spPr>
          <a:xfrm>
            <a:off x="972102" y="1877677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⑤ application.properties</a:t>
            </a:r>
            <a:endParaRPr lang="en-US" sz="1200" dirty="0"/>
          </a:p>
        </p:txBody>
      </p:sp>
      <p:sp>
        <p:nvSpPr>
          <p:cNvPr id="144" name="Shape 7"/>
          <p:cNvSpPr/>
          <p:nvPr/>
        </p:nvSpPr>
        <p:spPr>
          <a:xfrm>
            <a:off x="1081830" y="2206861"/>
            <a:ext cx="2615184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5" name="Text 8"/>
          <p:cNvSpPr/>
          <p:nvPr/>
        </p:nvSpPr>
        <p:spPr>
          <a:xfrm>
            <a:off x="1127235" y="2280013"/>
            <a:ext cx="2551491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DB 연결 ─────────────────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jdbc:mysql://localhost/db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spring.datasource.username=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spring.datasource.password=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JPA ─────────────────────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spring.jpa.hibernate.ddl-auto=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spring.jpa.show-sql=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endParaRPr lang="en-US" sz="900" dirty="0"/>
          </a:p>
        </p:txBody>
      </p:sp>
      <p:sp>
        <p:nvSpPr>
          <p:cNvPr id="147" name="Shape 10"/>
          <p:cNvSpPr/>
          <p:nvPr/>
        </p:nvSpPr>
        <p:spPr>
          <a:xfrm>
            <a:off x="4391328" y="886338"/>
            <a:ext cx="2944998" cy="1861277"/>
          </a:xfrm>
          <a:prstGeom prst="rect">
            <a:avLst/>
          </a:prstGeom>
          <a:solidFill>
            <a:srgbClr val="0A1628"/>
          </a:solidFill>
          <a:ln w="19050">
            <a:solidFill>
              <a:srgbClr val="D97706"/>
            </a:solidFill>
            <a:prstDash val="solid"/>
          </a:ln>
          <a:effectLst>
            <a:outerShdw blurRad="381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8" name="Shape 11"/>
          <p:cNvSpPr/>
          <p:nvPr/>
        </p:nvSpPr>
        <p:spPr>
          <a:xfrm>
            <a:off x="4435471" y="886338"/>
            <a:ext cx="28346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9" name="Text 12"/>
          <p:cNvSpPr/>
          <p:nvPr/>
        </p:nvSpPr>
        <p:spPr>
          <a:xfrm>
            <a:off x="4435471" y="88633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⑥ 로그인 HTML  (Thymeleaf)</a:t>
            </a:r>
            <a:endParaRPr lang="en-US" sz="1200" dirty="0"/>
          </a:p>
        </p:txBody>
      </p:sp>
      <p:sp>
        <p:nvSpPr>
          <p:cNvPr id="150" name="Shape 13"/>
          <p:cNvSpPr/>
          <p:nvPr/>
        </p:nvSpPr>
        <p:spPr>
          <a:xfrm>
            <a:off x="4456597" y="1215522"/>
            <a:ext cx="2813514" cy="13933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1" name="Text 14"/>
          <p:cNvSpPr/>
          <p:nvPr/>
        </p:nvSpPr>
        <p:spPr>
          <a:xfrm>
            <a:off x="4412454" y="1288674"/>
            <a:ext cx="2857657" cy="1320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✅ th:action 필수! --&gt;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th:action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@{/login}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 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="post"&gt;
</a:t>
            </a: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"text“ name="username"/&gt;
</a:t>
            </a: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"password“ name="password"/&gt;
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"submit"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&gt;로그인&lt;/button&gt;
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113590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3774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6-1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3856" y="23774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CSRF(Cross-Site Request Forgery) – </a:t>
            </a:r>
            <a:r>
              <a:rPr lang="ko-KR" alt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시나리오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384048" y="1458610"/>
            <a:ext cx="804672" cy="104241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75488" y="1568338"/>
            <a:ext cx="621792" cy="402336"/>
          </a:xfrm>
          <a:prstGeom prst="rect">
            <a:avLst/>
          </a:prstGeom>
          <a:solidFill>
            <a:srgbClr val="000000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12064" y="2043826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12064" y="2153554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12064" y="2263282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9728" y="253760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attacker.com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3877056" y="1517266"/>
            <a:ext cx="1170432" cy="804672"/>
          </a:xfrm>
          <a:prstGeom prst="rect">
            <a:avLst/>
          </a:prstGeom>
          <a:solidFill>
            <a:srgbClr val="334155"/>
          </a:solidFill>
          <a:ln w="635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950208" y="1590418"/>
            <a:ext cx="1024128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950208" y="1608706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🙋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3749040" y="2321938"/>
            <a:ext cx="1426464" cy="109728"/>
          </a:xfrm>
          <a:prstGeom prst="rect">
            <a:avLst/>
          </a:prstGeom>
          <a:solidFill>
            <a:srgbClr val="334155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764467" y="2462889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Browser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845552" y="1426464"/>
            <a:ext cx="804672" cy="10424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36992" y="1536192"/>
            <a:ext cx="621792" cy="402336"/>
          </a:xfrm>
          <a:prstGeom prst="rect">
            <a:avLst/>
          </a:prstGeom>
          <a:solidFill>
            <a:srgbClr val="000000"/>
          </a:solidFill>
          <a:ln w="5080">
            <a:solidFill>
              <a:srgbClr val="94A3B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73568" y="2011680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973568" y="2121408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973568" y="2231136"/>
            <a:ext cx="548640" cy="731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571232" y="250545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mybank.com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047488" y="1572768"/>
            <a:ext cx="2798064" cy="7620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630848" y="1038992"/>
            <a:ext cx="1642299" cy="47548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684613" y="1049965"/>
            <a:ext cx="15885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3C7"/>
                </a:solidFill>
              </a:rPr>
              <a:t>① </a:t>
            </a:r>
            <a:r>
              <a:rPr lang="en-US" sz="1000" dirty="0">
                <a:solidFill>
                  <a:srgbClr val="FFFFFF"/>
                </a:solidFill>
              </a:rPr>
              <a:t>Victim, mybank.com에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로그인 → JSESSIONID 발급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845552" y="2084832"/>
            <a:ext cx="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rot="-7786308">
            <a:off x="7655771" y="1510403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514171" y="1716248"/>
            <a:ext cx="1993392" cy="256032"/>
          </a:xfrm>
          <a:prstGeom prst="rect">
            <a:avLst/>
          </a:prstGeom>
          <a:solidFill>
            <a:srgbClr val="0A1A2E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05378" y="172378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🍪</a:t>
            </a:r>
            <a:r>
              <a:rPr lang="en-US" sz="1000" dirty="0">
                <a:solidFill>
                  <a:srgbClr val="000000"/>
                </a:solidFill>
              </a:rPr>
              <a:t> </a:t>
            </a: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JSESSIONID=abc123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 rot="13173580">
            <a:off x="1251088" y="1725377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770214" y="1151013"/>
            <a:ext cx="1548132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1843366" y="1169301"/>
            <a:ext cx="14650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3C7"/>
                </a:solidFill>
              </a:rPr>
              <a:t>② </a:t>
            </a:r>
            <a:r>
              <a:rPr lang="en-US" sz="1000" dirty="0">
                <a:solidFill>
                  <a:srgbClr val="FFFFFF"/>
                </a:solidFill>
              </a:rPr>
              <a:t>Victim이 악성 사이트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attacker.com 방문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 flipV="1">
            <a:off x="1239986" y="2024833"/>
            <a:ext cx="2623278" cy="21481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rot="2373580">
            <a:off x="3671442" y="1916109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739486" y="2263127"/>
            <a:ext cx="1686992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1812638" y="2281415"/>
            <a:ext cx="161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3C7"/>
                </a:solidFill>
              </a:rPr>
              <a:t>③ </a:t>
            </a:r>
            <a:r>
              <a:rPr lang="en-US" sz="1000" dirty="0">
                <a:solidFill>
                  <a:srgbClr val="FFFFFF"/>
                </a:solidFill>
              </a:rPr>
              <a:t>악성 HTML 자동 전달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(숨겨진 form + script)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292608" y="3255264"/>
            <a:ext cx="4187952" cy="1481328"/>
          </a:xfrm>
          <a:prstGeom prst="rect">
            <a:avLst/>
          </a:prstGeom>
          <a:solidFill>
            <a:srgbClr val="0A1A2E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292608" y="3255264"/>
            <a:ext cx="4187952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84048" y="325526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 악성 사이트에 숨겨진 CSRF 코드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02336" y="36027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action="https://mybank.com/transfer"</a:t>
            </a:r>
            <a:endParaRPr lang="en-US" sz="880" dirty="0"/>
          </a:p>
        </p:txBody>
      </p:sp>
      <p:sp>
        <p:nvSpPr>
          <p:cNvPr id="45" name="Text 39"/>
          <p:cNvSpPr/>
          <p:nvPr/>
        </p:nvSpPr>
        <p:spPr>
          <a:xfrm>
            <a:off x="402336" y="376275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 id="form1"&gt;</a:t>
            </a:r>
            <a:endParaRPr lang="en-US" sz="880" dirty="0"/>
          </a:p>
        </p:txBody>
      </p:sp>
      <p:sp>
        <p:nvSpPr>
          <p:cNvPr id="46" name="Text 40"/>
          <p:cNvSpPr/>
          <p:nvPr/>
        </p:nvSpPr>
        <p:spPr>
          <a:xfrm>
            <a:off x="402336" y="392277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name="recipient" value="attacker"/&gt;</a:t>
            </a:r>
            <a:endParaRPr lang="en-US" sz="880" dirty="0"/>
          </a:p>
        </p:txBody>
      </p:sp>
      <p:sp>
        <p:nvSpPr>
          <p:cNvPr id="47" name="Text 41"/>
          <p:cNvSpPr/>
          <p:nvPr/>
        </p:nvSpPr>
        <p:spPr>
          <a:xfrm>
            <a:off x="402336" y="408279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name="amount"    value="1000000"/&gt;</a:t>
            </a:r>
            <a:endParaRPr lang="en-US" sz="880" dirty="0"/>
          </a:p>
        </p:txBody>
      </p:sp>
      <p:sp>
        <p:nvSpPr>
          <p:cNvPr id="48" name="Text 42"/>
          <p:cNvSpPr/>
          <p:nvPr/>
        </p:nvSpPr>
        <p:spPr>
          <a:xfrm>
            <a:off x="402336" y="424281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880" dirty="0"/>
          </a:p>
        </p:txBody>
      </p:sp>
      <p:sp>
        <p:nvSpPr>
          <p:cNvPr id="49" name="Text 43"/>
          <p:cNvSpPr/>
          <p:nvPr/>
        </p:nvSpPr>
        <p:spPr>
          <a:xfrm>
            <a:off x="402336" y="44028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&lt;script&gt;document.getElementById("form1")</a:t>
            </a:r>
            <a:endParaRPr lang="en-US" sz="880" dirty="0"/>
          </a:p>
        </p:txBody>
      </p:sp>
      <p:sp>
        <p:nvSpPr>
          <p:cNvPr id="50" name="Text 44"/>
          <p:cNvSpPr/>
          <p:nvPr/>
        </p:nvSpPr>
        <p:spPr>
          <a:xfrm>
            <a:off x="402336" y="456285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.submit();&lt;/script&gt;</a:t>
            </a:r>
            <a:endParaRPr lang="en-US" sz="880" dirty="0"/>
          </a:p>
        </p:txBody>
      </p:sp>
      <p:sp>
        <p:nvSpPr>
          <p:cNvPr id="51" name="Shape 45"/>
          <p:cNvSpPr/>
          <p:nvPr/>
        </p:nvSpPr>
        <p:spPr>
          <a:xfrm>
            <a:off x="5047488" y="2157984"/>
            <a:ext cx="2798064" cy="256032"/>
          </a:xfrm>
          <a:prstGeom prst="line">
            <a:avLst/>
          </a:prstGeom>
          <a:noFill/>
          <a:ln w="40640">
            <a:solidFill>
              <a:srgbClr val="EF4444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 rot="3013692">
            <a:off x="7735824" y="2304288"/>
            <a:ext cx="20116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5437761" y="2387372"/>
            <a:ext cx="1548255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48"/>
          <p:cNvSpPr/>
          <p:nvPr/>
        </p:nvSpPr>
        <p:spPr>
          <a:xfrm>
            <a:off x="5505378" y="2404872"/>
            <a:ext cx="14751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3C7"/>
                </a:solidFill>
              </a:rPr>
              <a:t>④ </a:t>
            </a:r>
            <a:r>
              <a:rPr lang="en-US" sz="1000" dirty="0">
                <a:solidFill>
                  <a:srgbClr val="FFFFFF"/>
                </a:solidFill>
              </a:rPr>
              <a:t>브라우저가 mybank에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요청 자동 전송!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4645152" y="3255264"/>
            <a:ext cx="4407408" cy="1481328"/>
          </a:xfrm>
          <a:prstGeom prst="rect">
            <a:avLst/>
          </a:prstGeom>
          <a:solidFill>
            <a:srgbClr val="0A1A2E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4645152" y="3255264"/>
            <a:ext cx="4407408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4736592" y="3255264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 브라우저가 전송하는 실제 HTTP 요청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4754880" y="360273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/transfer HTTP/1.1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4754880" y="378561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mybank.com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4754880" y="396849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JSESSIONID=abc123</a:t>
            </a:r>
            <a:endParaRPr lang="en-US" sz="900" dirty="0"/>
          </a:p>
        </p:txBody>
      </p:sp>
      <p:sp>
        <p:nvSpPr>
          <p:cNvPr id="61" name="Text 55"/>
          <p:cNvSpPr/>
          <p:nvPr/>
        </p:nvSpPr>
        <p:spPr>
          <a:xfrm>
            <a:off x="4754880" y="415137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브라우저 자동 첨부! 서버는 정상 요청으로 인식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4754880" y="433425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4754880" y="451713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recipient=attacker&amp;amount=1000000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292608" y="4828032"/>
            <a:ext cx="5212770" cy="237744"/>
          </a:xfrm>
          <a:prstGeom prst="rect">
            <a:avLst/>
          </a:prstGeom>
          <a:solidFill>
            <a:srgbClr val="1C0808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402335" y="4828032"/>
            <a:ext cx="5000251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🔥 핵심: </a:t>
            </a:r>
            <a:r>
              <a:rPr lang="en-US" sz="950" dirty="0">
                <a:solidFill>
                  <a:srgbClr val="FFFFFF"/>
                </a:solidFill>
              </a:rPr>
              <a:t>브라우저는 쿠키를 모든 요청에 자동 전송 → 악성 사이트 요청에도 피해자 쿠키가 첨부됨</a:t>
            </a:r>
            <a:endParaRPr lang="en-US" sz="1000" dirty="0"/>
          </a:p>
        </p:txBody>
      </p:sp>
      <p:sp>
        <p:nvSpPr>
          <p:cNvPr id="66" name="Shape 60"/>
          <p:cNvSpPr/>
          <p:nvPr/>
        </p:nvSpPr>
        <p:spPr>
          <a:xfrm>
            <a:off x="5563332" y="4828032"/>
            <a:ext cx="3419856" cy="237744"/>
          </a:xfrm>
          <a:prstGeom prst="rect">
            <a:avLst/>
          </a:prstGeom>
          <a:solidFill>
            <a:srgbClr val="0A1C0A"/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673060" y="4828032"/>
            <a:ext cx="3255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대응: </a:t>
            </a:r>
            <a:r>
              <a:rPr lang="en-US" sz="950" dirty="0">
                <a:solidFill>
                  <a:srgbClr val="FFFFFF"/>
                </a:solidFill>
              </a:rPr>
              <a:t>CsrfFilter가 POST 요청마다 </a:t>
            </a: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_csrf 토큰</a:t>
            </a:r>
            <a:r>
              <a:rPr lang="en-US" sz="950" dirty="0">
                <a:solidFill>
                  <a:srgbClr val="FFFFFF"/>
                </a:solidFill>
              </a:rPr>
              <a:t> 검증 → 차단</a:t>
            </a:r>
            <a:endParaRPr lang="en-US" sz="1000" dirty="0"/>
          </a:p>
        </p:txBody>
      </p:sp>
      <p:sp>
        <p:nvSpPr>
          <p:cNvPr id="70" name="Shape 31"/>
          <p:cNvSpPr/>
          <p:nvPr/>
        </p:nvSpPr>
        <p:spPr>
          <a:xfrm flipV="1">
            <a:off x="1309766" y="1648442"/>
            <a:ext cx="2544155" cy="155149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5" name="Text 34"/>
          <p:cNvSpPr/>
          <p:nvPr/>
        </p:nvSpPr>
        <p:spPr>
          <a:xfrm>
            <a:off x="5402587" y="2880360"/>
            <a:ext cx="20709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🍪 </a:t>
            </a: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JSESSIONID=abc123</a:t>
            </a:r>
            <a:endParaRPr lang="en-US" sz="1100" dirty="0"/>
          </a:p>
        </p:txBody>
      </p:sp>
      <p:sp>
        <p:nvSpPr>
          <p:cNvPr id="76" name="Shape 24"/>
          <p:cNvSpPr/>
          <p:nvPr/>
        </p:nvSpPr>
        <p:spPr>
          <a:xfrm rot="-7786308">
            <a:off x="5065085" y="1524511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98644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7472" y="171907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</a:t>
            </a:r>
            <a:r>
              <a:rPr lang="ko-KR" altLang="en-US" sz="1800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</a:t>
            </a:r>
            <a:r>
              <a:rPr lang="ko-KR" altLang="en-US" b="1" dirty="0">
                <a:solidFill>
                  <a:srgbClr val="16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8449056" cy="2560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8449056" cy="45720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1440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38"/>
                </a:solidFill>
              </a:rPr>
              <a:t>  CSRF: 인증된 사용자를 속여 의도치 않은 요청을 실행시키는 공격. Spring Security는 CsrfFilter로 기본 </a:t>
            </a:r>
            <a:r>
              <a:rPr lang="en-US" sz="1100" dirty="0" err="1">
                <a:solidFill>
                  <a:srgbClr val="162638"/>
                </a:solidFill>
              </a:rPr>
              <a:t>보호</a:t>
            </a:r>
            <a:r>
              <a:rPr lang="en-US" sz="1100" dirty="0">
                <a:solidFill>
                  <a:srgbClr val="162638"/>
                </a:solidFill>
              </a:rPr>
              <a:t> </a:t>
            </a:r>
            <a:r>
              <a:rPr lang="en-US" sz="1100" dirty="0" err="1">
                <a:solidFill>
                  <a:srgbClr val="162638"/>
                </a:solidFill>
              </a:rPr>
              <a:t>활성화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724912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481328"/>
            <a:ext cx="272491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동작 원리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38528"/>
            <a:ext cx="2542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CsrfFilter가 모든 요청 인터셉트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검증 생략 (읽기)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 HEAD / TRACE / OPTIONS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토큰 검증 필수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b="1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PUT / DELETE / PATCH</a:t>
            </a:r>
            <a:endParaRPr lang="en-US" sz="900" b="1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토큰 불일치/누락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403 AccessDeniedException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81328"/>
            <a:ext cx="2724912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481328"/>
            <a:ext cx="272491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481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Thymeleaf 자동 삽입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3552" y="1938528"/>
            <a:ext cx="2542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th:action 사용 시 자동 삽입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th:action="@{/login}"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렌더링 결과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type="hidden"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name="_csrf"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value="57f12f98-9a3b..."/&gt;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16752" y="1481328"/>
            <a:ext cx="2724912" cy="33467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16752" y="1481328"/>
            <a:ext cx="2724912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1481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방식에서 필수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1938528"/>
            <a:ext cx="2542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기반 = CSRF 활성화 필수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이유: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JSESSIONID 쿠키는 자동 전송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악성 사이트가 쿠키 악용 가능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토큰으로 요청 출처 검증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절대 disable() 하지 말 것!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(JWT에서는 세션 없으므로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26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csrf.disable() 가능)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0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3" name="MainTitle"/>
          <p:cNvSpPr/>
          <p:nvPr/>
        </p:nvSpPr>
        <p:spPr>
          <a:xfrm>
            <a:off x="347472" y="130000"/>
            <a:ext cx="8449056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altLang="ko-KR" sz="2800" b="1" dirty="0">
                <a:latin typeface="Calibri"/>
              </a:rPr>
              <a:t>Session </a:t>
            </a:r>
            <a:r>
              <a:rPr lang="ko-KR" altLang="en-US" sz="2800" b="1" dirty="0">
                <a:latin typeface="Calibri"/>
              </a:rPr>
              <a:t>기반 인증</a:t>
            </a:r>
            <a:endParaRPr lang="ko-KR" sz="2800" b="1" dirty="0">
              <a:latin typeface="Calibri"/>
            </a:endParaRPr>
          </a:p>
        </p:txBody>
      </p:sp>
      <p:sp>
        <p:nvSpPr>
          <p:cNvPr id="5" name="Card1"/>
          <p:cNvSpPr/>
          <p:nvPr/>
        </p:nvSpPr>
        <p:spPr>
          <a:xfrm>
            <a:off x="347472" y="900000"/>
            <a:ext cx="2700000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22D3EE"/>
                </a:solidFill>
              </a:rPr>
              <a:t>🔐 핵심 3요소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Authentication (인증)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Authorization (인가)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Protection (CSRF/XSS)</a:t>
            </a:r>
          </a:p>
        </p:txBody>
      </p:sp>
      <p:sp>
        <p:nvSpPr>
          <p:cNvPr id="6" name="Card2"/>
          <p:cNvSpPr/>
          <p:nvPr/>
        </p:nvSpPr>
        <p:spPr>
          <a:xfrm>
            <a:off x="3147472" y="900000"/>
            <a:ext cx="2700000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A78BFA"/>
                </a:solidFill>
              </a:rPr>
              <a:t>⚡ SecurityFilterChain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7개 필터 순서대로 실행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★ UsernamePasswordAuth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★ AuthorizationFilter</a:t>
            </a:r>
          </a:p>
        </p:txBody>
      </p:sp>
      <p:sp>
        <p:nvSpPr>
          <p:cNvPr id="7" name="Card3"/>
          <p:cNvSpPr/>
          <p:nvPr/>
        </p:nvSpPr>
        <p:spPr>
          <a:xfrm>
            <a:off x="5947472" y="900000"/>
            <a:ext cx="2847056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34D399"/>
                </a:solidFill>
              </a:rPr>
              <a:t>💻 개발자 구현 목록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UserDetailsService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BCryptPasswordEncoder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SecurityFilterChain Bean</a:t>
            </a:r>
          </a:p>
        </p:txBody>
      </p:sp>
      <p:sp>
        <p:nvSpPr>
          <p:cNvPr id="8" name="Card4"/>
          <p:cNvSpPr/>
          <p:nvPr/>
        </p:nvSpPr>
        <p:spPr>
          <a:xfrm>
            <a:off x="347472" y="2700000"/>
            <a:ext cx="2700000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FCD34D"/>
                </a:solidFill>
              </a:rPr>
              <a:t>🔑 RBAC 설계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User ↔ Role (N:N)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ROLE_ prefix 필수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FetchType.EAGER 설정</a:t>
            </a:r>
          </a:p>
        </p:txBody>
      </p:sp>
      <p:sp>
        <p:nvSpPr>
          <p:cNvPr id="9" name="Card5"/>
          <p:cNvSpPr/>
          <p:nvPr/>
        </p:nvSpPr>
        <p:spPr>
          <a:xfrm>
            <a:off x="3147472" y="2700000"/>
            <a:ext cx="2700000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DC2626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FCA5A5"/>
                </a:solidFill>
              </a:rPr>
              <a:t>🔒 BCrypt 주의사항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encode() → 매번 다른 해시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matches()로만 비교!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b="1" dirty="0">
                <a:solidFill>
                  <a:srgbClr val="FCA5A5"/>
                </a:solidFill>
              </a:rPr>
              <a:t>• == 비교 절대 금지!</a:t>
            </a:r>
          </a:p>
        </p:txBody>
      </p:sp>
      <p:sp>
        <p:nvSpPr>
          <p:cNvPr id="10" name="Card6"/>
          <p:cNvSpPr/>
          <p:nvPr/>
        </p:nvSpPr>
        <p:spPr>
          <a:xfrm>
            <a:off x="5947472" y="2700000"/>
            <a:ext cx="2847056" cy="170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txBody>
          <a:bodyPr wrap="square" lIns="182880" tIns="182880" rIns="182880" bIns="182880" rtlCol="0" anchor="t"/>
          <a:lstStyle/>
          <a:p>
            <a:pPr algn="l">
              <a:lnSpc>
                <a:spcPts val="2400"/>
              </a:lnSpc>
              <a:buNone/>
            </a:pPr>
            <a:r>
              <a:rPr lang="ko-KR" sz="1200" b="1" dirty="0">
                <a:solidFill>
                  <a:srgbClr val="22D3EE"/>
                </a:solidFill>
              </a:rPr>
              <a:t>🛡 CSRF &amp; Session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Session: CSRF 반드시 ON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JWT: CSRF disable 가능</a:t>
            </a:r>
          </a:p>
          <a:p>
            <a:pPr algn="l">
              <a:lnSpc>
                <a:spcPts val="2400"/>
              </a:lnSpc>
              <a:buNone/>
            </a:pPr>
            <a:r>
              <a:rPr lang="ko-KR" sz="1000" dirty="0">
                <a:solidFill>
                  <a:srgbClr val="E2E8F0"/>
                </a:solidFill>
              </a:rPr>
              <a:t>• th:action → _csrf 자동</a:t>
            </a:r>
          </a:p>
        </p:txBody>
      </p:sp>
    </p:spTree>
    <p:extLst>
      <p:ext uri="{BB962C8B-B14F-4D97-AF65-F5344CB8AC3E}">
        <p14:creationId xmlns:p14="http://schemas.microsoft.com/office/powerpoint/2010/main" val="21231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4101</Words>
  <Application>Microsoft Office PowerPoint</Application>
  <PresentationFormat>화면 슬라이드 쇼(16:9)</PresentationFormat>
  <Paragraphs>819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맑은 고딕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60</cp:revision>
  <dcterms:created xsi:type="dcterms:W3CDTF">2026-05-12T05:58:13Z</dcterms:created>
  <dcterms:modified xsi:type="dcterms:W3CDTF">2026-05-19T01:20:29Z</dcterms:modified>
</cp:coreProperties>
</file>