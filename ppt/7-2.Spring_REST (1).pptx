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58" r:id="rId5"/>
    <p:sldId id="269" r:id="rId6"/>
    <p:sldId id="259" r:id="rId7"/>
    <p:sldId id="260" r:id="rId8"/>
    <p:sldId id="270" r:id="rId9"/>
    <p:sldId id="271" r:id="rId10"/>
    <p:sldId id="261" r:id="rId11"/>
    <p:sldId id="262" r:id="rId12"/>
    <p:sldId id="268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8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5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30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83149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Spring REST API 구현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943269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B33F"/>
                </a:solidFill>
              </a:rPr>
              <a:t>Part 2 · RESTful Web Service with Spring Framework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626184"/>
            <a:ext cx="7315200" cy="27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3488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B0BEC5"/>
                </a:solidFill>
              </a:rPr>
              <a:t>✔  S</a:t>
            </a:r>
            <a:r>
              <a:rPr lang="en-US" altLang="ko-KR" sz="1400" dirty="0">
                <a:solidFill>
                  <a:srgbClr val="B0BEC5"/>
                </a:solidFill>
              </a:rPr>
              <a:t>pring REST Controller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B0BEC5"/>
                </a:solidFill>
              </a:rPr>
              <a:t>✔  </a:t>
            </a:r>
            <a:r>
              <a:rPr lang="en-US" altLang="ko-KR" sz="1400" dirty="0" err="1">
                <a:solidFill>
                  <a:srgbClr val="B0BEC5"/>
                </a:solidFill>
              </a:rPr>
              <a:t>핵심</a:t>
            </a:r>
            <a:r>
              <a:rPr lang="en-US" altLang="ko-KR" sz="1400" dirty="0">
                <a:solidFill>
                  <a:srgbClr val="B0BEC5"/>
                </a:solidFill>
              </a:rPr>
              <a:t> </a:t>
            </a:r>
            <a:r>
              <a:rPr lang="en-US" altLang="ko-KR" sz="1400" dirty="0" err="1">
                <a:solidFill>
                  <a:srgbClr val="B0BEC5"/>
                </a:solidFill>
              </a:rPr>
              <a:t>어노테이션</a:t>
            </a:r>
            <a:r>
              <a:rPr lang="en-US" altLang="ko-KR" sz="1400" dirty="0">
                <a:solidFill>
                  <a:srgbClr val="B0BEC5"/>
                </a:solidFill>
              </a:rPr>
              <a:t> &amp; </a:t>
            </a:r>
            <a:r>
              <a:rPr lang="en-US" altLang="ko-KR" sz="1400" dirty="0" err="1">
                <a:solidFill>
                  <a:srgbClr val="B0BEC5"/>
                </a:solidFill>
              </a:rPr>
              <a:t>클래스</a:t>
            </a:r>
            <a:r>
              <a:rPr lang="en-US" altLang="ko-KR" sz="1400" dirty="0">
                <a:solidFill>
                  <a:srgbClr val="B0BEC5"/>
                </a:solidFill>
              </a:rPr>
              <a:t> </a:t>
            </a:r>
            <a:r>
              <a:rPr lang="en-US" altLang="ko-KR" sz="1200" dirty="0">
                <a:solidFill>
                  <a:srgbClr val="B0BEC5"/>
                </a:solidFill>
              </a:rPr>
              <a:t>(@ResponseBody, @PathVariable, </a:t>
            </a:r>
            <a:r>
              <a:rPr lang="en-US" altLang="ko-KR" sz="1200" dirty="0" err="1">
                <a:solidFill>
                  <a:srgbClr val="B0BEC5"/>
                </a:solidFill>
              </a:rPr>
              <a:t>ResponseEntity</a:t>
            </a:r>
            <a:r>
              <a:rPr lang="en-US" altLang="ko-KR" sz="1200" dirty="0">
                <a:solidFill>
                  <a:srgbClr val="B0BEC5"/>
                </a:solidFill>
              </a:rPr>
              <a:t>, @RequestBody</a:t>
            </a:r>
            <a:r>
              <a:rPr lang="en-US" altLang="ko-KR" sz="1400" dirty="0">
                <a:solidFill>
                  <a:srgbClr val="B0BEC5"/>
                </a:solidFill>
              </a:rPr>
              <a:t>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B0BEC5"/>
                </a:solidFill>
              </a:rPr>
              <a:t>✔  </a:t>
            </a:r>
            <a:r>
              <a:rPr lang="en-US" altLang="ko-KR" sz="1400" dirty="0">
                <a:solidFill>
                  <a:srgbClr val="B0BEC5"/>
                </a:solidFill>
              </a:rPr>
              <a:t>Jackson </a:t>
            </a:r>
            <a:r>
              <a:rPr lang="en-US" altLang="ko-KR" sz="1400" dirty="0" err="1">
                <a:solidFill>
                  <a:srgbClr val="B0BEC5"/>
                </a:solidFill>
              </a:rPr>
              <a:t>Databind</a:t>
            </a:r>
            <a:r>
              <a:rPr lang="en-US" altLang="ko-KR" sz="1400" dirty="0">
                <a:solidFill>
                  <a:srgbClr val="B0BEC5"/>
                </a:solidFill>
              </a:rPr>
              <a:t> &amp; </a:t>
            </a:r>
            <a:r>
              <a:rPr lang="en-US" altLang="ko-KR" sz="1400" dirty="0" err="1">
                <a:solidFill>
                  <a:srgbClr val="B0BEC5"/>
                </a:solidFill>
              </a:rPr>
              <a:t>의존성</a:t>
            </a:r>
            <a:r>
              <a:rPr lang="en-US" altLang="ko-KR" sz="1400" dirty="0">
                <a:solidFill>
                  <a:srgbClr val="B0BEC5"/>
                </a:solidFill>
              </a:rPr>
              <a:t> </a:t>
            </a:r>
            <a:r>
              <a:rPr lang="en-US" altLang="ko-KR" sz="1400" dirty="0" err="1">
                <a:solidFill>
                  <a:srgbClr val="B0BEC5"/>
                </a:solidFill>
              </a:rPr>
              <a:t>설정</a:t>
            </a:r>
            <a:r>
              <a:rPr lang="en-US" altLang="ko-KR" sz="1400" dirty="0">
                <a:solidFill>
                  <a:srgbClr val="B0BEC5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B0BEC5"/>
                </a:solidFill>
              </a:rPr>
              <a:t>✔  </a:t>
            </a:r>
            <a:r>
              <a:rPr lang="en-US" altLang="ko-KR" sz="1400" dirty="0">
                <a:solidFill>
                  <a:srgbClr val="B0BEC5"/>
                </a:solidFill>
              </a:rPr>
              <a:t>REST API </a:t>
            </a:r>
            <a:r>
              <a:rPr lang="en-US" altLang="ko-KR" sz="1400" dirty="0" err="1">
                <a:solidFill>
                  <a:srgbClr val="B0BEC5"/>
                </a:solidFill>
              </a:rPr>
              <a:t>구현</a:t>
            </a:r>
            <a:r>
              <a:rPr lang="en-US" altLang="ko-KR" sz="1400" dirty="0">
                <a:solidFill>
                  <a:srgbClr val="B0BEC5"/>
                </a:solidFill>
              </a:rPr>
              <a:t> (</a:t>
            </a:r>
            <a:r>
              <a:rPr lang="en-US" altLang="ko-KR" sz="1400" dirty="0" err="1">
                <a:solidFill>
                  <a:srgbClr val="B0BEC5"/>
                </a:solidFill>
              </a:rPr>
              <a:t>설계</a:t>
            </a:r>
            <a:r>
              <a:rPr lang="en-US" altLang="ko-KR" sz="1400" dirty="0">
                <a:solidFill>
                  <a:srgbClr val="B0BEC5"/>
                </a:solidFill>
              </a:rPr>
              <a:t> · </a:t>
            </a:r>
            <a:r>
              <a:rPr lang="en-US" altLang="ko-KR" sz="1400" dirty="0" err="1">
                <a:solidFill>
                  <a:srgbClr val="B0BEC5"/>
                </a:solidFill>
              </a:rPr>
              <a:t>코드</a:t>
            </a:r>
            <a:r>
              <a:rPr lang="en-US" altLang="ko-KR" sz="1400" dirty="0">
                <a:solidFill>
                  <a:srgbClr val="B0BEC5"/>
                </a:solidFill>
              </a:rPr>
              <a:t> · Postman </a:t>
            </a:r>
            <a:r>
              <a:rPr lang="en-US" altLang="ko-KR" sz="1400" dirty="0" err="1">
                <a:solidFill>
                  <a:srgbClr val="B0BEC5"/>
                </a:solidFill>
              </a:rPr>
              <a:t>테스트</a:t>
            </a:r>
            <a:r>
              <a:rPr lang="en-US" altLang="ko-KR" sz="1400" dirty="0">
                <a:solidFill>
                  <a:srgbClr val="B0BEC5"/>
                </a:solidFill>
              </a:rPr>
              <a:t>)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D4AD3C2-095D-4168-8C69-9D59E0752A83}"/>
              </a:ext>
            </a:extLst>
          </p:cNvPr>
          <p:cNvSpPr/>
          <p:nvPr/>
        </p:nvSpPr>
        <p:spPr>
          <a:xfrm>
            <a:off x="1021819" y="4403268"/>
            <a:ext cx="502920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4DC7435-6067-4151-86C4-1741038B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79" y="4476420"/>
            <a:ext cx="274320" cy="27432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F4F6FE60-1A58-4D19-8D65-F22F9E31E10E}"/>
              </a:ext>
            </a:extLst>
          </p:cNvPr>
          <p:cNvSpPr/>
          <p:nvPr/>
        </p:nvSpPr>
        <p:spPr>
          <a:xfrm>
            <a:off x="1497307" y="44032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https://github.com/stelladream/helloSpringRest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 Spring MVC Controller vs REST Controller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0233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전통적인 MVC Controller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3566160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DispatcherServlet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566160" cy="5029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2585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3566160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ModelAndView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9626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3566160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638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ViewResolver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66674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67912"/>
            <a:ext cx="3566160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679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View (HTML)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507361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5100"/>
                </a:solidFill>
              </a:rPr>
              <a:t>→ View를 반환 (HTML 렌더링)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594360"/>
            <a:ext cx="4023360" cy="36576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594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Controller (@RestController)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1051560"/>
            <a:ext cx="356616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051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</a:rPr>
              <a:t>DispatcherServlet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1691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33F"/>
                </a:solidFill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1892808"/>
            <a:ext cx="3566160" cy="640080"/>
          </a:xfrm>
          <a:prstGeom prst="rect">
            <a:avLst/>
          </a:prstGeom>
          <a:solidFill>
            <a:srgbClr val="E8F5E9"/>
          </a:solidFill>
          <a:ln w="25400">
            <a:solidFill>
              <a:srgbClr val="6DB3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8928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342"/>
                </a:solidFill>
              </a:rPr>
              <a:t>@RestController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25328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33F"/>
                </a:solidFill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2734056"/>
            <a:ext cx="356616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7340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</a:rPr>
              <a:t>MessageConverter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</a:rPr>
              <a:t>(Jackson: Java↔JSON)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33741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33F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3575304"/>
            <a:ext cx="356616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57530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</a:rPr>
              <a:t>HTTP Response Body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4507361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DB33F"/>
                </a:solidFill>
              </a:rPr>
              <a:t>→ JSON/XML 데이터 직접 반환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section label"/>
          <p:cNvSpPr/>
          <p:nvPr/>
        </p:nvSpPr>
        <p:spPr>
          <a:xfrm>
            <a:off x="91440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600" dirty="0">
                <a:solidFill>
                  <a:srgbClr val="6DB33F"/>
                </a:solidFill>
              </a:rPr>
              <a:t>Section 2</a:t>
            </a:r>
          </a:p>
        </p:txBody>
      </p:sp>
      <p:sp>
        <p:nvSpPr>
          <p:cNvPr id="5" name="Text title"/>
          <p:cNvSpPr/>
          <p:nvPr/>
        </p:nvSpPr>
        <p:spPr>
          <a:xfrm>
            <a:off x="914400" y="1143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3800" b="1" dirty="0"/>
              <a:t>핵심 어노테이션 &amp; 클래스</a:t>
            </a:r>
          </a:p>
        </p:txBody>
      </p:sp>
      <p:sp>
        <p:nvSpPr>
          <p:cNvPr id="6" name="Shape divider"/>
          <p:cNvSpPr/>
          <p:nvPr/>
        </p:nvSpPr>
        <p:spPr>
          <a:xfrm>
            <a:off x="914400" y="2165280"/>
            <a:ext cx="7315200" cy="27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subsections"/>
          <p:cNvSpPr/>
          <p:nvPr/>
        </p:nvSpPr>
        <p:spPr>
          <a:xfrm>
            <a:off x="914400" y="2286000"/>
            <a:ext cx="73152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ko-KR" sz="1600" b="1" dirty="0">
                <a:solidFill>
                  <a:srgbClr val="6DB33F"/>
                </a:solidFill>
              </a:rPr>
              <a:t>2.1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ko-KR" sz="1600" dirty="0">
                <a:solidFill>
                  <a:schemeClr val="bg1">
                    <a:lumMod val="50000"/>
                  </a:schemeClr>
                </a:solidFill>
              </a:rPr>
              <a:t>@ResponseBody &amp; @RestController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ko-KR" sz="1600" b="1" dirty="0">
                <a:solidFill>
                  <a:srgbClr val="6DB33F"/>
                </a:solidFill>
              </a:rPr>
              <a:t>2.2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ko-KR" sz="1600" dirty="0">
                <a:solidFill>
                  <a:schemeClr val="bg1">
                    <a:lumMod val="50000"/>
                  </a:schemeClr>
                </a:solidFill>
              </a:rPr>
              <a:t>@PathVariable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ko-KR" sz="1600" b="1" dirty="0">
                <a:solidFill>
                  <a:srgbClr val="6DB33F"/>
                </a:solidFill>
              </a:rPr>
              <a:t>2.3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ko-KR" sz="1600" dirty="0">
                <a:solidFill>
                  <a:schemeClr val="bg1">
                    <a:lumMod val="50000"/>
                  </a:schemeClr>
                </a:solidFill>
              </a:rPr>
              <a:t>ResponseEntity&lt;T&gt;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ko-KR" sz="1600" b="1" dirty="0">
                <a:solidFill>
                  <a:srgbClr val="6DB33F"/>
                </a:solidFill>
              </a:rPr>
              <a:t>2.4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ko-KR" sz="1600" dirty="0">
                <a:solidFill>
                  <a:schemeClr val="bg1">
                    <a:lumMod val="50000"/>
                  </a:schemeClr>
                </a:solidFill>
              </a:rPr>
              <a:t>@RequestBody</a:t>
            </a:r>
          </a:p>
        </p:txBody>
      </p:sp>
    </p:spTree>
    <p:extLst>
      <p:ext uri="{BB962C8B-B14F-4D97-AF65-F5344CB8AC3E}">
        <p14:creationId xmlns:p14="http://schemas.microsoft.com/office/powerpoint/2010/main" val="183323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2.1  @ResponseBody  &amp;  @RestController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126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@ResponseBody</a:t>
            </a:r>
            <a:r>
              <a:rPr lang="en-US" sz="1150" dirty="0">
                <a:solidFill>
                  <a:srgbClr val="0A2342"/>
                </a:solidFill>
              </a:rPr>
              <a:t>: 메서드 반환값을 HTTP 응답 Body에 직접 씀  |  </a:t>
            </a: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r>
              <a:rPr lang="en-US" sz="1150" dirty="0">
                <a:solidFill>
                  <a:srgbClr val="0A2342"/>
                </a:solidFill>
              </a:rPr>
              <a:t> = </a:t>
            </a:r>
            <a:r>
              <a:rPr lang="en-US" sz="115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r>
              <a:rPr lang="en-US" sz="1150" dirty="0">
                <a:solidFill>
                  <a:srgbClr val="0A2342"/>
                </a:solidFill>
              </a:rPr>
              <a:t> + </a:t>
            </a:r>
            <a:r>
              <a:rPr lang="en-US" sz="1150" b="1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@ResponseBody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@Controller + @ResponseBody  (번거로운 방식)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60520" cy="28346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581912"/>
            <a:ext cx="3941064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9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UserController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UserService userService;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@GetMapping("/users")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@ResponseBody</a:t>
            </a: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// ← 매번 필요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List&lt;User&gt; listAllUsers()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userService.getAllUsers();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02412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33F"/>
                </a:solidFill>
              </a:rPr>
              <a:t>@RestController  (권장 방식)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28346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25880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73168" y="1581912"/>
            <a:ext cx="3941064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   </a:t>
            </a: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이걸로 충분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UserController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UserService userService;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@GetMapping("/users")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List&lt;User&gt; listAllUsers()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userService.getAllUsers();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743200"/>
            <a:ext cx="1828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2245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B33F"/>
                </a:solidFill>
              </a:rPr>
              <a:t>✅ 권장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내부 동작: </a:t>
            </a:r>
            <a:r>
              <a:rPr lang="en-US" sz="1100" dirty="0">
                <a:solidFill>
                  <a:srgbClr val="546E7A"/>
                </a:solidFill>
              </a:rPr>
              <a:t>Jackson Databind 라이브러리가 Java 객체 → JSON 자동 변환 (직렬화, Serialization)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                    </a:t>
            </a:r>
            <a:r>
              <a:rPr lang="en-US" sz="1100" dirty="0" err="1">
                <a:solidFill>
                  <a:srgbClr val="546E7A"/>
                </a:solidFill>
              </a:rPr>
              <a:t>응답</a:t>
            </a:r>
            <a:r>
              <a:rPr lang="en-US" sz="1100" dirty="0">
                <a:solidFill>
                  <a:srgbClr val="546E7A"/>
                </a:solidFill>
              </a:rPr>
              <a:t> </a:t>
            </a:r>
            <a:r>
              <a:rPr lang="en-US" sz="1100" dirty="0" err="1">
                <a:solidFill>
                  <a:srgbClr val="546E7A"/>
                </a:solidFill>
              </a:rPr>
              <a:t>헤더에</a:t>
            </a:r>
            <a:r>
              <a:rPr lang="en-US" sz="1100" dirty="0">
                <a:solidFill>
                  <a:srgbClr val="546E7A"/>
                </a:solidFill>
              </a:rPr>
              <a:t> </a:t>
            </a: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r>
              <a:rPr lang="en-US" sz="1100" dirty="0">
                <a:solidFill>
                  <a:srgbClr val="546E7A"/>
                </a:solidFill>
              </a:rPr>
              <a:t> 자동 설정됨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@ResponseBody  &amp;  @RestController</a:t>
            </a:r>
            <a:endParaRPr lang="en-US" sz="16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5EE947E-4ACF-4BA6-B423-E7EF550B0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5" y="639758"/>
            <a:ext cx="6236144" cy="440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0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2.2 @</a:t>
            </a:r>
            <a:r>
              <a:rPr lang="en-US" sz="1600" b="1" dirty="0" err="1">
                <a:solidFill>
                  <a:srgbClr val="FFFFFF"/>
                </a:solidFill>
              </a:rPr>
              <a:t>PathVariable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r>
              <a:rPr lang="en-US" sz="1200" dirty="0">
                <a:solidFill>
                  <a:srgbClr val="546E7A"/>
                </a:solidFill>
              </a:rPr>
              <a:t>: URL 경로에 포함된 값을 메서드 파라미터로 추출합니다.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r>
              <a:rPr lang="en-US" sz="14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r>
              <a:rPr lang="en-US" sz="14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</a:t>
            </a: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← 이 </a:t>
            </a: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가 </a:t>
            </a: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{id}</a:t>
            </a:r>
            <a:r>
              <a:rPr lang="en-US" sz="14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 전달됨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96103"/>
            <a:ext cx="5120640" cy="308941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96103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96103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839523"/>
            <a:ext cx="512064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UserController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@GetMapping("/users/{id}")</a:t>
            </a:r>
            <a:endParaRPr lang="en-US" sz="9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ResponseEntity&lt;User&gt; getUserById(</a:t>
            </a:r>
            <a:r>
              <a:rPr lang="en-US" sz="95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@PathVariable("id") </a:t>
            </a: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id)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user = userService.getUserById(id);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(user == null)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new ResponseEntity&lt;&gt;(HttpStatus.NOT_FOUND);   // 404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ResponseEntity&lt;&gt;(user, HttpStatus.OK);        // 200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다중 경로 변수도 가능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@GetMapping("/users/{userId}/orders/{orderId}")</a:t>
            </a:r>
            <a:endParaRPr lang="en-US" sz="9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ResponseEntity&lt;Order&gt; getOrder(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5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 userId,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5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 orderId) { ...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315468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874520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911096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@PathVariable("id")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214884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URL의 {id} 값을 Long id 파라미터에 바인딩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587752"/>
            <a:ext cx="315468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587752"/>
            <a:ext cx="64008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624328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변수명 일치 시 생략 가능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86207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@PathVariable Long id  (URL 변수명과 파라미터명이 같을 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300984"/>
            <a:ext cx="315468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3300984"/>
            <a:ext cx="6400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37560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다중 경로 변수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57530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/users/{userId}/orders/{orderId} 처럼 여러 개 사용 가능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" y="4603530"/>
            <a:ext cx="84124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02920" y="462181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💡  </a:t>
            </a:r>
            <a:r>
              <a:rPr lang="en-US" sz="1400" dirty="0">
                <a:solidFill>
                  <a:srgbClr val="7030A0"/>
                </a:solidFill>
              </a:rPr>
              <a:t>@RequestParam </a:t>
            </a:r>
            <a:r>
              <a:rPr lang="en-US" sz="1400" dirty="0"/>
              <a:t>vs </a:t>
            </a:r>
            <a:r>
              <a:rPr lang="en-US" sz="1400" dirty="0">
                <a:solidFill>
                  <a:srgbClr val="00B0F0"/>
                </a:solidFill>
              </a:rPr>
              <a:t>@PathVariable</a:t>
            </a:r>
            <a:r>
              <a:rPr lang="en-US" sz="1400" dirty="0"/>
              <a:t>:     </a:t>
            </a:r>
            <a:r>
              <a:rPr lang="en-US" altLang="ko-KR" sz="1400" dirty="0">
                <a:solidFill>
                  <a:srgbClr val="7030A0"/>
                </a:solidFill>
              </a:rPr>
              <a:t>/</a:t>
            </a:r>
            <a:r>
              <a:rPr lang="en-US" altLang="ko-KR" sz="1400" dirty="0" err="1">
                <a:solidFill>
                  <a:srgbClr val="7030A0"/>
                </a:solidFill>
              </a:rPr>
              <a:t>users?id</a:t>
            </a:r>
            <a:r>
              <a:rPr lang="en-US" altLang="ko-KR" sz="1400" dirty="0">
                <a:solidFill>
                  <a:srgbClr val="7030A0"/>
                </a:solidFill>
              </a:rPr>
              <a:t>=1  →  </a:t>
            </a:r>
            <a:r>
              <a:rPr lang="en-US" altLang="ko-KR" sz="1400" dirty="0" err="1">
                <a:solidFill>
                  <a:srgbClr val="7030A0"/>
                </a:solidFill>
              </a:rPr>
              <a:t>RequestParam</a:t>
            </a:r>
            <a:r>
              <a:rPr lang="en-US" altLang="ko-KR" sz="1400" dirty="0">
                <a:solidFill>
                  <a:srgbClr val="7030A0"/>
                </a:solidFill>
              </a:rPr>
              <a:t> </a:t>
            </a:r>
            <a:r>
              <a:rPr lang="en-US" altLang="ko-KR" sz="1400" dirty="0"/>
              <a:t>|</a:t>
            </a:r>
            <a:r>
              <a:rPr lang="en-US" altLang="ko-KR" sz="1400" dirty="0">
                <a:solidFill>
                  <a:srgbClr val="7030A0"/>
                </a:solidFill>
              </a:rPr>
              <a:t> </a:t>
            </a:r>
            <a:r>
              <a:rPr lang="en-US" sz="1400" dirty="0">
                <a:solidFill>
                  <a:srgbClr val="0070C0"/>
                </a:solidFill>
              </a:rPr>
              <a:t>/users/1  →  </a:t>
            </a:r>
            <a:r>
              <a:rPr lang="en-US" sz="1400" dirty="0" err="1">
                <a:solidFill>
                  <a:srgbClr val="0070C0"/>
                </a:solidFill>
              </a:rPr>
              <a:t>PathVariable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2.3 </a:t>
            </a:r>
            <a:r>
              <a:rPr lang="en-US" sz="1600" b="1" dirty="0" err="1">
                <a:solidFill>
                  <a:srgbClr val="FFFFFF"/>
                </a:solidFill>
              </a:rPr>
              <a:t>ResponseEntity</a:t>
            </a:r>
            <a:r>
              <a:rPr lang="en-US" sz="1600" b="1" dirty="0">
                <a:solidFill>
                  <a:srgbClr val="FFFFFF"/>
                </a:solidFill>
              </a:rPr>
              <a:t>&lt;T&gt;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ResponseEntity&lt;T&gt;</a:t>
            </a:r>
            <a:r>
              <a:rPr lang="en-US" sz="1200" dirty="0">
                <a:solidFill>
                  <a:srgbClr val="546E7A"/>
                </a:solidFill>
              </a:rPr>
              <a:t>: HTTP 응답 전체(상태코드 + 헤더 + 바디)를 직접 제어할 때 사용합니다.</a:t>
            </a:r>
            <a:endParaRPr lang="en-US" sz="1200" dirty="0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56" y="1732979"/>
            <a:ext cx="3785625" cy="191331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46881" y="1309131"/>
            <a:ext cx="2289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HTTP Response Message</a:t>
            </a:r>
            <a:endParaRPr lang="ko-KR" altLang="en-US" sz="1400" dirty="0"/>
          </a:p>
        </p:txBody>
      </p:sp>
      <p:sp>
        <p:nvSpPr>
          <p:cNvPr id="47" name="Shape 3"/>
          <p:cNvSpPr/>
          <p:nvPr/>
        </p:nvSpPr>
        <p:spPr>
          <a:xfrm>
            <a:off x="5240855" y="1388536"/>
            <a:ext cx="310896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"/>
          <p:cNvSpPr/>
          <p:nvPr/>
        </p:nvSpPr>
        <p:spPr>
          <a:xfrm>
            <a:off x="5240855" y="13885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ResponseEntity&lt;T&gt;  구성</a:t>
            </a:r>
            <a:endParaRPr lang="en-US" sz="1200" dirty="0"/>
          </a:p>
        </p:txBody>
      </p:sp>
      <p:sp>
        <p:nvSpPr>
          <p:cNvPr id="49" name="Shape 5"/>
          <p:cNvSpPr/>
          <p:nvPr/>
        </p:nvSpPr>
        <p:spPr>
          <a:xfrm>
            <a:off x="5240855" y="1766908"/>
            <a:ext cx="3108960" cy="633766"/>
          </a:xfrm>
          <a:prstGeom prst="rect">
            <a:avLst/>
          </a:prstGeom>
          <a:solidFill>
            <a:srgbClr val="F4F8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0" name="Shape 6"/>
          <p:cNvSpPr/>
          <p:nvPr/>
        </p:nvSpPr>
        <p:spPr>
          <a:xfrm>
            <a:off x="5240855" y="1766908"/>
            <a:ext cx="82296" cy="63376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7"/>
          <p:cNvSpPr/>
          <p:nvPr/>
        </p:nvSpPr>
        <p:spPr>
          <a:xfrm>
            <a:off x="5378015" y="1821772"/>
            <a:ext cx="2834640" cy="230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endParaRPr lang="en-US" sz="1200" dirty="0"/>
          </a:p>
        </p:txBody>
      </p:sp>
      <p:sp>
        <p:nvSpPr>
          <p:cNvPr id="52" name="Text 8"/>
          <p:cNvSpPr/>
          <p:nvPr/>
        </p:nvSpPr>
        <p:spPr>
          <a:xfrm>
            <a:off x="5378015" y="2036656"/>
            <a:ext cx="2834640" cy="333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상태 코드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200 OK, 201 Created, 404 Not Found …</a:t>
            </a:r>
            <a:endParaRPr lang="en-US" sz="1000" dirty="0"/>
          </a:p>
        </p:txBody>
      </p:sp>
      <p:sp>
        <p:nvSpPr>
          <p:cNvPr id="53" name="Shape 9"/>
          <p:cNvSpPr/>
          <p:nvPr/>
        </p:nvSpPr>
        <p:spPr>
          <a:xfrm>
            <a:off x="5240855" y="2449556"/>
            <a:ext cx="3108960" cy="596882"/>
          </a:xfrm>
          <a:prstGeom prst="rect">
            <a:avLst/>
          </a:prstGeom>
          <a:solidFill>
            <a:srgbClr val="F4F8FB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54" name="Shape 10"/>
          <p:cNvSpPr/>
          <p:nvPr/>
        </p:nvSpPr>
        <p:spPr>
          <a:xfrm>
            <a:off x="5240855" y="2449556"/>
            <a:ext cx="82296" cy="58773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5" name="Text 11"/>
          <p:cNvSpPr/>
          <p:nvPr/>
        </p:nvSpPr>
        <p:spPr>
          <a:xfrm>
            <a:off x="5378015" y="2454601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200" dirty="0"/>
          </a:p>
        </p:txBody>
      </p:sp>
      <p:sp>
        <p:nvSpPr>
          <p:cNvPr id="56" name="Text 12"/>
          <p:cNvSpPr/>
          <p:nvPr/>
        </p:nvSpPr>
        <p:spPr>
          <a:xfrm>
            <a:off x="5378015" y="2651963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응답 헤더 (선택)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Content-Type, Location …</a:t>
            </a:r>
            <a:endParaRPr lang="en-US" sz="1000" dirty="0"/>
          </a:p>
        </p:txBody>
      </p:sp>
      <p:sp>
        <p:nvSpPr>
          <p:cNvPr id="57" name="Shape 13"/>
          <p:cNvSpPr/>
          <p:nvPr/>
        </p:nvSpPr>
        <p:spPr>
          <a:xfrm>
            <a:off x="5240855" y="3106986"/>
            <a:ext cx="3108960" cy="586156"/>
          </a:xfrm>
          <a:prstGeom prst="rect">
            <a:avLst/>
          </a:prstGeom>
          <a:solidFill>
            <a:srgbClr val="F4F8FB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58" name="Shape 14"/>
          <p:cNvSpPr/>
          <p:nvPr/>
        </p:nvSpPr>
        <p:spPr>
          <a:xfrm>
            <a:off x="5240855" y="3106986"/>
            <a:ext cx="82296" cy="586156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9" name="Text 15"/>
          <p:cNvSpPr/>
          <p:nvPr/>
        </p:nvSpPr>
        <p:spPr>
          <a:xfrm>
            <a:off x="5378015" y="3122777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(T)</a:t>
            </a:r>
            <a:endParaRPr lang="en-US" sz="1200" dirty="0"/>
          </a:p>
        </p:txBody>
      </p:sp>
      <p:sp>
        <p:nvSpPr>
          <p:cNvPr id="60" name="Text 16"/>
          <p:cNvSpPr/>
          <p:nvPr/>
        </p:nvSpPr>
        <p:spPr>
          <a:xfrm>
            <a:off x="5378015" y="3296803"/>
            <a:ext cx="2834640" cy="396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응답 데이터 (선택)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Java 객체 → Jackson이 JSON으로 변환</a:t>
            </a:r>
            <a:endParaRPr lang="en-US" sz="1000" dirty="0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E3322B47-C224-46D0-BCC4-18CDEE471D36}"/>
              </a:ext>
            </a:extLst>
          </p:cNvPr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2" name="Shape 38">
            <a:extLst>
              <a:ext uri="{FF2B5EF4-FFF2-40B4-BE49-F238E27FC236}">
                <a16:creationId xmlns:a16="http://schemas.microsoft.com/office/drawing/2014/main" id="{08AFF8EA-0C3D-40C2-B96B-EAFC94617152}"/>
              </a:ext>
            </a:extLst>
          </p:cNvPr>
          <p:cNvSpPr/>
          <p:nvPr/>
        </p:nvSpPr>
        <p:spPr>
          <a:xfrm>
            <a:off x="320040" y="4526280"/>
            <a:ext cx="502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4D312352-A1B3-43B8-9498-28386D7E1CF5}"/>
              </a:ext>
            </a:extLst>
          </p:cNvPr>
          <p:cNvSpPr/>
          <p:nvPr/>
        </p:nvSpPr>
        <p:spPr>
          <a:xfrm>
            <a:off x="320040" y="45262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B68A9BA4-0106-4C92-8952-F92F7C913BEE}"/>
              </a:ext>
            </a:extLst>
          </p:cNvPr>
          <p:cNvSpPr/>
          <p:nvPr/>
        </p:nvSpPr>
        <p:spPr>
          <a:xfrm>
            <a:off x="822960" y="46085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 == null) return new ResponseEntity&lt;&gt;(HttpStatus.NOT_FOUND);   // 404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ResponseEntity&lt;&gt;(user, HttpStatus.OK);  // 200 + JSON 바디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ResponseEntity</a:t>
            </a:r>
            <a:r>
              <a:rPr lang="en-US" sz="1600" b="1" dirty="0">
                <a:solidFill>
                  <a:srgbClr val="FFFFFF"/>
                </a:solidFill>
              </a:rPr>
              <a:t>&lt;T&gt;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526280"/>
            <a:ext cx="502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5262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46085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 == null) return new ResponseEntity&lt;&gt;(HttpStatus.NOT_FOUND);   // 404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ResponseEntity&lt;&gt;(user, HttpStatus.OK);  // 200 + JSON 바디</a:t>
            </a:r>
            <a:endParaRPr lang="en-US" sz="9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EC04B3A-FAEB-4286-8E1B-88533DB9B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82" y="1217878"/>
            <a:ext cx="7895758" cy="278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7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ResponseEntity</a:t>
            </a:r>
            <a:r>
              <a:rPr lang="en-US" sz="1600" b="1" dirty="0">
                <a:solidFill>
                  <a:srgbClr val="FFFFFF"/>
                </a:solidFill>
              </a:rPr>
              <a:t>&lt;T&gt;</a:t>
            </a:r>
            <a:endParaRPr 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BBB15A4-C609-49B1-923A-8F0B6F3A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81734"/>
            <a:ext cx="7532826" cy="20469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08A017-32C5-4521-B92F-19E99897F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28698"/>
            <a:ext cx="7750020" cy="21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4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2.4  @RequestBody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r>
              <a:rPr lang="en-US" sz="1200" dirty="0">
                <a:solidFill>
                  <a:srgbClr val="546E7A"/>
                </a:solidFill>
              </a:rPr>
              <a:t>: HTTP 요청의 Body(JSON)를 Java 객체로 자동 변환(역직렬화)합니다.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2286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60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Body (JSON)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46E7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49040" y="960120"/>
            <a:ext cx="2286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960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Jackson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46E7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0" y="960120"/>
            <a:ext cx="2286000" cy="7772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960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 Object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(User)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@RequestBody 어노테이션 → Jackson이 자동 처리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2128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클라이언트가 보내는 HTTP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4114800" cy="23317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14600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14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" y="2770632"/>
            <a:ext cx="389534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 HTTP/1.1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localhost:8080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"Alice Kim",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"alice@test.com",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25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2128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33F"/>
                </a:solidFill>
              </a:rPr>
              <a:t>Spring Controller 코드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514600"/>
            <a:ext cx="4114800" cy="23317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514600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14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8888" y="2770632"/>
            <a:ext cx="389534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@PostMapping("/users")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ResponseEntity&lt;Void&gt; </a:t>
            </a:r>
            <a:r>
              <a:rPr lang="en-US" sz="9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</a:t>
            </a: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 </a:t>
            </a: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user,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UriComponentsBuilder ucb)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userService.createUser(user);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Location 헤더: 생성된 리소스 URI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HttpHeaders headers = new HttpHeaders();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headers.setLocation(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ucb.path("/api/users/{id}")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.buildAndExpand(user.getId()).toUri());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ResponseEntity&lt;&gt;(headers,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HttpStatus.CREATED); // 201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 Jackson Databind &amp; 의존성 설정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Spring REST API에서 Java 객체 ↔ JSON 변환을 담당하는 핵심 라이브러리입니다.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Jackson Databind 역할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868680"/>
          </a:xfrm>
          <a:prstGeom prst="rect">
            <a:avLst/>
          </a:prstGeom>
          <a:solidFill>
            <a:srgbClr val="F4F8FB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9888"/>
            <a:ext cx="82296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</a:rPr>
              <a:t>직렬화 (Serialization)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Object  →  JSON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73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사용: @ResponseBody / @RestController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8503920" cy="868680"/>
          </a:xfrm>
          <a:prstGeom prst="rect">
            <a:avLst/>
          </a:prstGeom>
          <a:solidFill>
            <a:srgbClr val="F4F8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50008"/>
            <a:ext cx="82296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역직렬화 (Deserialization)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→  Java Object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7340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사용: @RequestBody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2860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pom.xml 의존성 </a:t>
            </a:r>
            <a:r>
              <a:rPr lang="en-US" sz="1200" b="1" dirty="0" err="1">
                <a:solidFill>
                  <a:srgbClr val="0A2342"/>
                </a:solidFill>
              </a:rPr>
              <a:t>설정</a:t>
            </a:r>
            <a:r>
              <a:rPr lang="en-US" sz="1200" b="1" dirty="0">
                <a:solidFill>
                  <a:srgbClr val="0A2342"/>
                </a:solidFill>
              </a:rPr>
              <a:t>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98325"/>
            <a:ext cx="8503920" cy="1301597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98326"/>
            <a:ext cx="64008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9832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872646"/>
            <a:ext cx="8229600" cy="96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Jackson Databind: @RequestBody / @ResponseBody 의 JSON 처리 담당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&lt;groupId&gt;com.fasterxml.jackson.core&lt;/groupId&gt;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&lt;artifactId&gt;jackson-databind&lt;/artifactId&gt;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&lt;version&gt;2.16.2&lt;/version&gt;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section label"/>
          <p:cNvSpPr/>
          <p:nvPr/>
        </p:nvSpPr>
        <p:spPr>
          <a:xfrm>
            <a:off x="91440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600" dirty="0" err="1">
                <a:solidFill>
                  <a:srgbClr val="6DB33F"/>
                </a:solidFill>
              </a:rPr>
              <a:t>Section</a:t>
            </a:r>
            <a:r>
              <a:rPr lang="ko-KR" sz="1600" dirty="0">
                <a:solidFill>
                  <a:srgbClr val="6DB33F"/>
                </a:solidFill>
              </a:rPr>
              <a:t> </a:t>
            </a:r>
            <a:r>
              <a:rPr lang="en-US" altLang="ko-KR" sz="1600" dirty="0">
                <a:solidFill>
                  <a:srgbClr val="6DB33F"/>
                </a:solidFill>
              </a:rPr>
              <a:t>4</a:t>
            </a:r>
            <a:endParaRPr lang="ko-KR" sz="1600" dirty="0">
              <a:solidFill>
                <a:srgbClr val="6DB33F"/>
              </a:solidFill>
            </a:endParaRPr>
          </a:p>
        </p:txBody>
      </p:sp>
      <p:sp>
        <p:nvSpPr>
          <p:cNvPr id="5" name="Text title"/>
          <p:cNvSpPr/>
          <p:nvPr/>
        </p:nvSpPr>
        <p:spPr>
          <a:xfrm>
            <a:off x="914400" y="1143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800" b="1" dirty="0"/>
              <a:t>CRUD REST API </a:t>
            </a:r>
            <a:r>
              <a:rPr lang="ko-KR" altLang="en-US" sz="3800" b="1" dirty="0"/>
              <a:t>구현</a:t>
            </a:r>
            <a:endParaRPr lang="ko-KR" sz="3800" b="1" dirty="0"/>
          </a:p>
        </p:txBody>
      </p:sp>
      <p:sp>
        <p:nvSpPr>
          <p:cNvPr id="6" name="Shape divider"/>
          <p:cNvSpPr/>
          <p:nvPr/>
        </p:nvSpPr>
        <p:spPr>
          <a:xfrm>
            <a:off x="914400" y="2165280"/>
            <a:ext cx="7315200" cy="27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subsections"/>
          <p:cNvSpPr/>
          <p:nvPr/>
        </p:nvSpPr>
        <p:spPr>
          <a:xfrm>
            <a:off x="914400" y="2286000"/>
            <a:ext cx="73152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altLang="ko-KR" sz="1600" b="1" dirty="0">
                <a:solidFill>
                  <a:srgbClr val="6DB33F"/>
                </a:solidFill>
              </a:rPr>
              <a:t>4</a:t>
            </a:r>
            <a:r>
              <a:rPr lang="ko-KR" sz="1600" b="1" dirty="0">
                <a:solidFill>
                  <a:srgbClr val="6DB33F"/>
                </a:solidFill>
              </a:rPr>
              <a:t>.1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CRUD REST API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설계</a:t>
            </a:r>
            <a:endParaRPr 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Aft>
                <a:spcPts val="700"/>
              </a:spcAft>
              <a:buNone/>
            </a:pPr>
            <a:r>
              <a:rPr lang="en-US" altLang="ko-KR" sz="1600" b="1" dirty="0">
                <a:solidFill>
                  <a:srgbClr val="6DB33F"/>
                </a:solidFill>
              </a:rPr>
              <a:t>4</a:t>
            </a:r>
            <a:r>
              <a:rPr lang="ko-KR" sz="1600" b="1" dirty="0">
                <a:solidFill>
                  <a:srgbClr val="6DB33F"/>
                </a:solidFill>
              </a:rPr>
              <a:t>.2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CRUD REST API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구현</a:t>
            </a:r>
            <a:endParaRPr 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Aft>
                <a:spcPts val="700"/>
              </a:spcAft>
              <a:buNone/>
            </a:pPr>
            <a:r>
              <a:rPr lang="en-US" altLang="ko-KR" sz="1600" b="1" dirty="0">
                <a:solidFill>
                  <a:srgbClr val="6DB33F"/>
                </a:solidFill>
              </a:rPr>
              <a:t>4</a:t>
            </a:r>
            <a:r>
              <a:rPr lang="ko-KR" sz="1600" b="1" dirty="0">
                <a:solidFill>
                  <a:srgbClr val="6DB33F"/>
                </a:solidFill>
              </a:rPr>
              <a:t>.3</a:t>
            </a:r>
            <a:r>
              <a:rPr lang="ko-KR" sz="1600" dirty="0">
                <a:solidFill>
                  <a:srgbClr val="B0BEC5"/>
                </a:solidFill>
              </a:rPr>
              <a:t>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REST Client(Postman)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테스트</a:t>
            </a:r>
            <a:endParaRPr 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364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4.1  CRUD REST API 설계 (User 관리 예시)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5가지 HTTP 메서드 + URI 조합으로 완전한 CRUD API를 구성합니다.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메서드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동작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 어노테이션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005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응답 코드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572768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목록 조회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44968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084832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24028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402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단건 조회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2176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@GetMapping("/users/{id}")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44968" y="21762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404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52344"/>
            <a:ext cx="850392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907792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07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2843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28437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사용자 생성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65192" y="28437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@PostMapping("/users")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44968" y="28437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419856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575304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575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91640" y="3511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66160" y="35112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수정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192" y="35112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@PutMapping("/users/{id}")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44968" y="35112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087368"/>
            <a:ext cx="8503920" cy="640080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242816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242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91640" y="41788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66160" y="4178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삭제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65192" y="4178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@DeleteMapping("/users/{id}")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44968" y="41788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097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33F"/>
                </a:solidFill>
              </a:rPr>
              <a:t>💡  @PathVariable은 GET·PUT·DELETE에 사용  /  @RequestBody는 POST·PUT에 사용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4.2  완전한 CRUD 코드 예제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GET (조회) &amp; DELETE (삭제)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297680" cy="41605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86968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86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4078224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</a:t>
            </a:r>
            <a:endParaRPr lang="en-US" sz="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00" b="1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UserController</a:t>
            </a: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UserService userService;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전체 목록 조회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@GetMapping("/users")</a:t>
            </a:r>
            <a:endParaRPr lang="en-US" sz="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ResponseEntity&lt;List&lt;User&gt;&gt; getAll()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List&lt;User&gt; list = userService.findAll();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(list.isEmpty())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new ResponseEntity&lt;&gt;(HttpStatus.NO_CONTENT);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ResponseEntity&lt;&gt;(list, HttpStatus.OK);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단건 조회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@GetMapping("/users/{id}")</a:t>
            </a:r>
            <a:endParaRPr lang="en-US" sz="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ResponseEntity&lt;User&gt; getOne(@PathVariable Long id)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u = userService.findById(id);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 == null)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new ResponseEntity&lt;&gt;(HttpStatus.NOT_FOUND);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ResponseEntity&lt;&gt;(u, HttpStatus.OK);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삭제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@DeleteMapping("/users/{id}"</a:t>
            </a: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ResponseEntity&lt;Void&gt; delete(@PathVariable Long id)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userService.delete(id);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ResponseEntity&lt;&gt;(HttpStatus.NO_CONTENT);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00600" y="594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33F"/>
                </a:solidFill>
              </a:rPr>
              <a:t>POST (생성) &amp; PUT (수정)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86968"/>
            <a:ext cx="4023360" cy="41605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886968"/>
            <a:ext cx="5029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86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10328" y="1143000"/>
            <a:ext cx="3803904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생성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@PostMapping("/users")</a:t>
            </a:r>
            <a:endParaRPr lang="en-US" sz="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ResponseEntity&lt;Void&gt; create(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User user,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UriComponentsBuilder ucb)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userService.create(user);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HttpHeaders h = new HttpHeaders();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h.setLocation(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ucb.path("/api/users/{id}")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.buildAndExpand(user.getId()).toUri());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ResponseEntity&lt;&gt;(h, HttpStatus.CREATED);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수정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@PutMapping("/users/{id}")</a:t>
            </a:r>
            <a:endParaRPr lang="en-US" sz="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ResponseEntity&lt;User&gt; update(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User user)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current = userService.findById(id);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 == null)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ResponseEntity&lt;&gt;(HttpStatus.NOT_FOUND);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current.setName(user.getName());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current.setEmail(user.getEmail());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userService.update(current);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ResponseEntity&lt;&gt;(current, HttpStatus.OK);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4.3 REST Client (Postman) 테스트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Postman은 REST API를 테스트하는 도구입니다. 브라우저 없이 다양한 HTTP 요청을 보내고 응답을 확인할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F4F8FB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07008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20700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전체 사용자 목록 조회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http://localhost:8080/api/users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Request Body: (Body 없음)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Response: [{"id":1,"name":"Alice"},{"id":2,"name":"Bob"}]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487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200 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F4F8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207008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207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20700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새 사용자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http://localhost:8080/api/users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Request Body: {"name":"Charlie","email":"charlie@test.com"}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64608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Response: (Body 없음, Location 헤더에 생성 URI 포함)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2487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201 Created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F4F8FB"/>
          </a:solidFill>
          <a:ln w="1905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3127248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1272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ID=1 사용자 수정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http://localhost:8080/api/users/1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Request Body: {"name":"Alice Kim","email":"new@test.com"}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Response: {"id":1,"name":"Alice Kim","email":"new@test.com"}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" y="440740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200 OK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F4F8FB"/>
          </a:solidFill>
          <a:ln w="19050">
            <a:solidFill>
              <a:srgbClr val="C6282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127248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31272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ID=1 사용자 삭제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http://localhost:8080/api/users/1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460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Request Body: (Body 없음)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4608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Response: (Body 없음)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440740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204 No Content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2 핵심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@ResponseBody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80360" y="10881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메서드 반환값을 HTTP 응답 Body에 직접 기록 (JSON 변환)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6367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@Controller + @ResponseBody 의 편의 어노테이션. REST API 컨트롤러에 사용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218541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URL 경로의 {변수}를 메서드 파라미터로 바인딩  /users/{id}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69748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97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273405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요청 Body의 JSON을 Java 객체로 자동 역직렬화 (Jackson 사용)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46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ResponseEntity&lt;T&gt;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328269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상태코드 + 헤더 + 바디를 포함한 전체 HTTP 응답을 직접 제어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79476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94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Jackson Databind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0360" y="38313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Java 객체 ↔ JSON 변환 담당. pom.xml에 의존성 추가 필수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343400"/>
            <a:ext cx="1920240" cy="43891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343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매핑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43799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GET·POST·PUT·DELETE + URI 조합으로 완전한 REST CRUD 구현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1863</Words>
  <Application>Microsoft Office PowerPoint</Application>
  <PresentationFormat>화면 슬라이드 쇼(16:9)</PresentationFormat>
  <Paragraphs>332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REST API 구현 - Part 2</dc:title>
  <dc:subject>PptxGenJS Presentation</dc:subject>
  <dc:creator>PptxGenJS</dc:creator>
  <cp:lastModifiedBy>user</cp:lastModifiedBy>
  <cp:revision>14</cp:revision>
  <dcterms:created xsi:type="dcterms:W3CDTF">2026-04-19T03:16:39Z</dcterms:created>
  <dcterms:modified xsi:type="dcterms:W3CDTF">2026-04-28T04:35:29Z</dcterms:modified>
</cp:coreProperties>
</file>