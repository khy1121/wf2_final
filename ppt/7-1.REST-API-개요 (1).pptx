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3" r:id="rId4"/>
    <p:sldId id="258" r:id="rId5"/>
    <p:sldId id="266" r:id="rId6"/>
    <p:sldId id="260" r:id="rId7"/>
    <p:sldId id="261" r:id="rId8"/>
    <p:sldId id="262" r:id="rId9"/>
    <p:sldId id="267" r:id="rId10"/>
    <p:sldId id="268" r:id="rId11"/>
    <p:sldId id="269" r:id="rId12"/>
    <p:sldId id="270" r:id="rId13"/>
    <p:sldId id="271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22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24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89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94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47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05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94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00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개론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Introduction to RESTful Web Service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7315200" cy="274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REST </a:t>
            </a:r>
            <a:r>
              <a:rPr lang="en-US" sz="14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아키텍처의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</a:t>
            </a:r>
            <a:r>
              <a:rPr lang="ko-KR" altLang="en-US" sz="1400" dirty="0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요소</a:t>
            </a:r>
            <a:r>
              <a:rPr lang="en-US" altLang="ko-KR" sz="1400" dirty="0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URI, Message 구조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</a:t>
            </a:r>
            <a:r>
              <a:rPr lang="ko-KR" altLang="en-US" sz="1400" dirty="0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제약 조건</a:t>
            </a:r>
            <a:r>
              <a:rPr lang="en-US" altLang="ko-KR" sz="1400" dirty="0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Stateless, Caching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 REST란 무엇인가?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84632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정의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presentational </a:t>
            </a: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 </a:t>
            </a: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ransfer)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서비스를 설계하는 아키텍처 스타일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프로토콜을 기반으로 리소스(Resource)</a:t>
            </a:r>
            <a:r>
              <a:rPr lang="en-US" sz="130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</a:t>
            </a:r>
            <a:r>
              <a:rPr lang="en-US" sz="1300" dirty="0" err="1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</a:t>
            </a:r>
            <a:r>
              <a:rPr lang="en-US" sz="1300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</a:t>
            </a:r>
            <a:r>
              <a:rPr lang="en-US" sz="13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식별하고 HTTP </a:t>
            </a:r>
            <a:r>
              <a:rPr lang="en-US" sz="130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</a:t>
            </a:r>
            <a:r>
              <a:rPr lang="ko-KR" altLang="en-US" sz="130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</a:t>
            </a:r>
            <a:r>
              <a:rPr lang="en-US" sz="1300" dirty="0" err="1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드로</a:t>
            </a:r>
            <a:r>
              <a:rPr lang="en-US" sz="130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조작한다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</a:rPr>
              <a:t>3가지 핵심 구성요소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20040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Resource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조작 대상 (예: /users, /orders)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20040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Method 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수행 동작 (GET, POST, PUT, DELETE)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320040" cy="3200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Message 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요청/응답 데이터 (JSON, XML)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685800"/>
            <a:ext cx="3474720" cy="4114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822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REST 통신 흐름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1280160"/>
            <a:ext cx="118872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1280160"/>
            <a:ext cx="1188720" cy="6400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280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1600200"/>
            <a:ext cx="73152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19486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sz="1000" dirty="0" smtClean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00" dirty="0" err="1" smtClean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000" dirty="0" smtClean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/users/1  </a:t>
            </a:r>
            <a:r>
              <a:rPr lang="en-US" sz="10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249742"/>
            <a:ext cx="73152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249743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200 OK  {"id":1,"name":"Alice"}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79828" y="48691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2 / 10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5532120" y="2700639"/>
            <a:ext cx="3200400" cy="649537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5532120" y="2700639"/>
            <a:ext cx="384048" cy="649537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5532120" y="2700639"/>
            <a:ext cx="384048" cy="649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36" name="Text 25"/>
          <p:cNvSpPr/>
          <p:nvPr/>
        </p:nvSpPr>
        <p:spPr>
          <a:xfrm>
            <a:off x="5989320" y="2723973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 smtClean="0">
                <a:solidFill>
                  <a:srgbClr val="1565C0"/>
                </a:solidFill>
              </a:rPr>
              <a:t>Method  </a:t>
            </a:r>
            <a:r>
              <a:rPr lang="en-US" altLang="ko-KR" sz="1000" i="1" dirty="0" err="1">
                <a:solidFill>
                  <a:srgbClr val="546E7A"/>
                </a:solidFill>
              </a:rPr>
              <a:t>무엇을</a:t>
            </a:r>
            <a:r>
              <a:rPr lang="en-US" altLang="ko-KR" sz="1000" i="1" dirty="0">
                <a:solidFill>
                  <a:srgbClr val="546E7A"/>
                </a:solidFill>
              </a:rPr>
              <a:t> 할 </a:t>
            </a:r>
            <a:r>
              <a:rPr lang="en-US" altLang="ko-KR" sz="1000" i="1" dirty="0" err="1">
                <a:solidFill>
                  <a:srgbClr val="546E7A"/>
                </a:solidFill>
              </a:rPr>
              <a:t>것인가</a:t>
            </a:r>
            <a:r>
              <a:rPr lang="en-US" altLang="ko-KR" sz="1000" i="1" dirty="0" smtClean="0">
                <a:solidFill>
                  <a:srgbClr val="546E7A"/>
                </a:solidFill>
              </a:rPr>
              <a:t>?</a:t>
            </a:r>
            <a:endParaRPr lang="en-US" altLang="ko-KR" sz="1000" dirty="0"/>
          </a:p>
        </p:txBody>
      </p:sp>
      <p:sp>
        <p:nvSpPr>
          <p:cNvPr id="38" name="Shape 27"/>
          <p:cNvSpPr/>
          <p:nvPr/>
        </p:nvSpPr>
        <p:spPr>
          <a:xfrm>
            <a:off x="5989320" y="3020050"/>
            <a:ext cx="621792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5989320" y="302005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40" name="Shape 29"/>
          <p:cNvSpPr/>
          <p:nvPr/>
        </p:nvSpPr>
        <p:spPr>
          <a:xfrm>
            <a:off x="6675120" y="3020050"/>
            <a:ext cx="621792" cy="256032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6675120" y="302005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42" name="Shape 31"/>
          <p:cNvSpPr/>
          <p:nvPr/>
        </p:nvSpPr>
        <p:spPr>
          <a:xfrm>
            <a:off x="7360920" y="3020050"/>
            <a:ext cx="621792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7360920" y="302005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PUT</a:t>
            </a:r>
            <a:endParaRPr lang="en-US" sz="850" dirty="0"/>
          </a:p>
        </p:txBody>
      </p:sp>
      <p:sp>
        <p:nvSpPr>
          <p:cNvPr id="44" name="Shape 33"/>
          <p:cNvSpPr/>
          <p:nvPr/>
        </p:nvSpPr>
        <p:spPr>
          <a:xfrm>
            <a:off x="8046720" y="3020050"/>
            <a:ext cx="621792" cy="256032"/>
          </a:xfrm>
          <a:prstGeom prst="roundRect">
            <a:avLst>
              <a:gd name="adj" fmla="val 1428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8046720" y="302005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DELETE</a:t>
            </a:r>
            <a:endParaRPr lang="en-US" sz="850" dirty="0"/>
          </a:p>
        </p:txBody>
      </p:sp>
      <p:sp>
        <p:nvSpPr>
          <p:cNvPr id="46" name="Shape 35"/>
          <p:cNvSpPr/>
          <p:nvPr/>
        </p:nvSpPr>
        <p:spPr>
          <a:xfrm>
            <a:off x="5532120" y="3454865"/>
            <a:ext cx="3200400" cy="585213"/>
          </a:xfrm>
          <a:prstGeom prst="rect">
            <a:avLst/>
          </a:prstGeom>
          <a:solidFill>
            <a:srgbClr val="E0F7FA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5532120" y="3454865"/>
            <a:ext cx="384048" cy="585213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5532120" y="3580987"/>
            <a:ext cx="384048" cy="360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49" name="Text 38"/>
          <p:cNvSpPr/>
          <p:nvPr/>
        </p:nvSpPr>
        <p:spPr>
          <a:xfrm>
            <a:off x="5989320" y="3509729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 smtClean="0">
                <a:solidFill>
                  <a:srgbClr val="00838F"/>
                </a:solidFill>
              </a:rPr>
              <a:t>Resource </a:t>
            </a:r>
            <a:r>
              <a:rPr lang="en-US" altLang="ko-KR" sz="1000" i="1" dirty="0" err="1">
                <a:solidFill>
                  <a:srgbClr val="546E7A"/>
                </a:solidFill>
              </a:rPr>
              <a:t>무엇을</a:t>
            </a:r>
            <a:r>
              <a:rPr lang="en-US" altLang="ko-KR" sz="1000" i="1" dirty="0">
                <a:solidFill>
                  <a:srgbClr val="546E7A"/>
                </a:solidFill>
              </a:rPr>
              <a:t> </a:t>
            </a:r>
            <a:r>
              <a:rPr lang="en-US" altLang="ko-KR" sz="1000" i="1" dirty="0" err="1">
                <a:solidFill>
                  <a:srgbClr val="546E7A"/>
                </a:solidFill>
              </a:rPr>
              <a:t>대상으로</a:t>
            </a:r>
            <a:r>
              <a:rPr lang="en-US" altLang="ko-KR" sz="1000" i="1" dirty="0" smtClean="0">
                <a:solidFill>
                  <a:srgbClr val="546E7A"/>
                </a:solidFill>
              </a:rPr>
              <a:t>?</a:t>
            </a:r>
            <a:endParaRPr lang="en-US" altLang="ko-KR" sz="1000" dirty="0"/>
          </a:p>
        </p:txBody>
      </p:sp>
      <p:sp>
        <p:nvSpPr>
          <p:cNvPr id="51" name="Text 40"/>
          <p:cNvSpPr/>
          <p:nvPr/>
        </p:nvSpPr>
        <p:spPr>
          <a:xfrm>
            <a:off x="5989320" y="37241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50" b="1" dirty="0" err="1" smtClean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050" b="1" dirty="0" smtClean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/users/1</a:t>
            </a:r>
            <a:endParaRPr lang="en-US" sz="1050" dirty="0"/>
          </a:p>
        </p:txBody>
      </p:sp>
      <p:sp>
        <p:nvSpPr>
          <p:cNvPr id="52" name="Shape 41"/>
          <p:cNvSpPr/>
          <p:nvPr/>
        </p:nvSpPr>
        <p:spPr>
          <a:xfrm>
            <a:off x="5532120" y="4115754"/>
            <a:ext cx="3200400" cy="621786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5532120" y="4120170"/>
            <a:ext cx="384048" cy="61154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5532120" y="4120170"/>
            <a:ext cx="384048" cy="611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55" name="Text 44"/>
          <p:cNvSpPr/>
          <p:nvPr/>
        </p:nvSpPr>
        <p:spPr>
          <a:xfrm>
            <a:off x="5989320" y="417503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 smtClean="0">
                <a:solidFill>
                  <a:srgbClr val="2E7D32"/>
                </a:solidFill>
              </a:rPr>
              <a:t>Message  </a:t>
            </a:r>
            <a:r>
              <a:rPr lang="en-US" altLang="ko-KR" sz="1000" i="1" dirty="0" err="1">
                <a:solidFill>
                  <a:srgbClr val="546E7A"/>
                </a:solidFill>
              </a:rPr>
              <a:t>어떤</a:t>
            </a:r>
            <a:r>
              <a:rPr lang="en-US" altLang="ko-KR" sz="1000" i="1" dirty="0">
                <a:solidFill>
                  <a:srgbClr val="546E7A"/>
                </a:solidFill>
              </a:rPr>
              <a:t> </a:t>
            </a:r>
            <a:r>
              <a:rPr lang="en-US" altLang="ko-KR" sz="1000" i="1" dirty="0" err="1">
                <a:solidFill>
                  <a:srgbClr val="546E7A"/>
                </a:solidFill>
              </a:rPr>
              <a:t>데이터를</a:t>
            </a:r>
            <a:r>
              <a:rPr lang="en-US" altLang="ko-KR" sz="1000" i="1" dirty="0" smtClean="0">
                <a:solidFill>
                  <a:srgbClr val="546E7A"/>
                </a:solidFill>
              </a:rPr>
              <a:t>?</a:t>
            </a:r>
            <a:endParaRPr lang="en-US" altLang="ko-KR" sz="1000" dirty="0"/>
          </a:p>
        </p:txBody>
      </p:sp>
      <p:sp>
        <p:nvSpPr>
          <p:cNvPr id="57" name="Text 46"/>
          <p:cNvSpPr/>
          <p:nvPr/>
        </p:nvSpPr>
        <p:spPr>
          <a:xfrm>
            <a:off x="6012180" y="44573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050" b="1" dirty="0" smtClean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“id:1”, </a:t>
            </a:r>
            <a:r>
              <a:rPr lang="en-US" sz="1050" b="1" dirty="0" err="1" smtClean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name:"</a:t>
            </a:r>
            <a:r>
              <a:rPr lang="en-US" sz="1050" b="1" dirty="0" err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</a:t>
            </a:r>
            <a:r>
              <a:rPr lang="en-US" sz="10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 REST API 기본 구성요소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REST </a:t>
            </a:r>
            <a:r>
              <a:rPr lang="en-US" sz="1200" dirty="0" err="1">
                <a:solidFill>
                  <a:srgbClr val="546E7A"/>
                </a:solidFill>
              </a:rPr>
              <a:t>API는</a:t>
            </a:r>
            <a:r>
              <a:rPr lang="en-US" sz="1200" dirty="0">
                <a:solidFill>
                  <a:srgbClr val="546E7A"/>
                </a:solidFill>
              </a:rPr>
              <a:t> </a:t>
            </a:r>
            <a:r>
              <a:rPr lang="en-US" sz="1200" dirty="0" smtClean="0">
                <a:solidFill>
                  <a:srgbClr val="546E7A"/>
                </a:solidFill>
              </a:rPr>
              <a:t>3가지 </a:t>
            </a:r>
            <a:r>
              <a:rPr lang="en-US" sz="1200" dirty="0">
                <a:solidFill>
                  <a:srgbClr val="546E7A"/>
                </a:solidFill>
              </a:rPr>
              <a:t>핵심 구성요소로 이루어집니다. 각 요소가 어떻게 동작하는지 이해하면 RESTful 서비스를 올바르게 설계할 수 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</a:rPr>
              <a:t>REST API 요청 = </a:t>
            </a:r>
            <a:r>
              <a:rPr lang="en-US" sz="1250" b="1" dirty="0">
                <a:solidFill>
                  <a:srgbClr val="1565C0"/>
                </a:solidFill>
              </a:rPr>
              <a:t>HTTP Method  </a:t>
            </a:r>
            <a:r>
              <a:rPr lang="en-US" sz="1250" dirty="0">
                <a:solidFill>
                  <a:srgbClr val="546E7A"/>
                </a:solidFill>
              </a:rPr>
              <a:t>(동작)  +  </a:t>
            </a:r>
            <a:r>
              <a:rPr lang="en-US" sz="1250" b="1" dirty="0">
                <a:solidFill>
                  <a:srgbClr val="00838F"/>
                </a:solidFill>
              </a:rPr>
              <a:t>URI  </a:t>
            </a:r>
            <a:r>
              <a:rPr lang="en-US" sz="1250" dirty="0">
                <a:solidFill>
                  <a:srgbClr val="546E7A"/>
                </a:solidFill>
              </a:rPr>
              <a:t>(리소스 식별)  +  </a:t>
            </a:r>
            <a:r>
              <a:rPr lang="en-US" sz="1250" b="1" dirty="0">
                <a:solidFill>
                  <a:srgbClr val="2E7D32"/>
                </a:solidFill>
              </a:rPr>
              <a:t>Message  </a:t>
            </a:r>
            <a:r>
              <a:rPr lang="en-US" sz="1250" dirty="0">
                <a:solidFill>
                  <a:srgbClr val="546E7A"/>
                </a:solidFill>
              </a:rPr>
              <a:t>(데이터)  →  JSON 형식으로 교환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2011680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5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01952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⚙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" y="224028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</a:rPr>
              <a:t>HTTP Methods와 CRUD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2697480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GET · POST · PUT · DELETE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각 메서드가 리소스에 수행하는 동작(CRUD)을 정의합니다.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941064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95935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</a:rPr>
              <a:t>→ </a:t>
            </a:r>
            <a:r>
              <a:rPr lang="en-US" sz="800" b="1" dirty="0">
                <a:solidFill>
                  <a:srgbClr val="1565C0"/>
                </a:solidFill>
              </a:rPr>
              <a:t>동사 없이 URI + 메서드로만 표현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16916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E0F7FA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16916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2011680"/>
            <a:ext cx="2011680" cy="1828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755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05072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578608" y="224028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838F"/>
                </a:solidFill>
              </a:rPr>
              <a:t>HTTP Request / Response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78608" y="2697480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요청: Method · URI · Header · Body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응답: Status Code · Header · Body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0" y="3941064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96896" y="395935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38F"/>
                </a:solidFill>
              </a:rPr>
              <a:t>→ 상태코드로 처리 결과를 전달 (2xx·4xx·5xx)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16916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6916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011680"/>
            <a:ext cx="2011680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755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08192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🔗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81728" y="224028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</a:rPr>
              <a:t>URI 설계 원칙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81728" y="2697480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&lt;protocol&gt;://&lt;service&gt;/&lt;ResourceType&gt;/&lt;ID&gt;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복수 명사, 소문자, 동사 금지, 계층 구조 사용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941064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395935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</a:rPr>
              <a:t>→ 리소스를 명확하고 일관되게 식별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75120" y="16916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16916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2011680"/>
            <a:ext cx="201168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1755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11312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{ }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84848" y="224028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JSON 데이터 형식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84848" y="2697480"/>
            <a:ext cx="17922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key : value 쌍의 경량 텍스트 형식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@RequestBody / @ResponseBody로 Java↔JSON 자동 변환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66560" y="3941064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3959352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→ REST API의 표준 데이터 교환 형식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56146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2.1  </a:t>
            </a:r>
            <a:r>
              <a:rPr lang="en-US" sz="1600" b="1" dirty="0">
                <a:solidFill>
                  <a:srgbClr val="FFFFFF"/>
                </a:solidFill>
              </a:rPr>
              <a:t>HTTP Methods와 CRUD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API는 HTTP 메서드를 사용해 리소스를 조작합니다. 각 메서드는 정해진 역할(CRUD)이 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메서드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CRUD 동작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097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URI 예시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설명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097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응답 코드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8412480" cy="749808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73352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733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156362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156362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56362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목록 또는 특정 리소스 조회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156362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8412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50592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505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234086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34086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34086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리소스 생성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34086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8412480" cy="749808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27832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27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0" y="311810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311810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11810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리소스 전체 수정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311810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8412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05072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05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28800" y="389534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3895344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89534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리소스 삭제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389534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204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4531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💡  URI에는 동사를 사용하지 말 것!  /getUser/1  ❌    →    /users/1  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0" y="490559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2.2  </a:t>
            </a:r>
            <a:r>
              <a:rPr lang="en-US" sz="1600" b="1" dirty="0">
                <a:solidFill>
                  <a:srgbClr val="FFFFFF"/>
                </a:solidFill>
              </a:rPr>
              <a:t>HTTP Request / Response Message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8534" y="1378854"/>
            <a:ext cx="1691640" cy="1522318"/>
          </a:xfrm>
          <a:prstGeom prst="rect">
            <a:avLst/>
          </a:prstGeom>
          <a:solidFill>
            <a:srgbClr val="EBF3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534" y="1378854"/>
            <a:ext cx="16916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34" y="137885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242008"/>
            <a:ext cx="1691640" cy="1670830"/>
          </a:xfrm>
          <a:prstGeom prst="rect">
            <a:avLst/>
          </a:prstGeom>
          <a:solidFill>
            <a:srgbClr val="E0F5F5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242008"/>
            <a:ext cx="169164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2420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59922" y="654270"/>
            <a:ext cx="4503420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9922" y="654270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 Message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9922" y="974310"/>
            <a:ext cx="4503420" cy="1371600"/>
          </a:xfrm>
          <a:prstGeom prst="rect">
            <a:avLst/>
          </a:prstGeom>
          <a:solidFill>
            <a:srgbClr val="D6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1362" y="103831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Method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96114" y="1038318"/>
            <a:ext cx="3255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  POST  /  PUT  /  DELETE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51362" y="128520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URI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96114" y="1285206"/>
            <a:ext cx="3255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51362" y="153209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HTTP Version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96114" y="1532094"/>
            <a:ext cx="3255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51362" y="177898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Request Header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96114" y="1778982"/>
            <a:ext cx="3255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Content-Type, Accept, Authorization 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51362" y="202587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Request Body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96114" y="2025870"/>
            <a:ext cx="3255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POST·PUT 시 전송 데이터  { … 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6089" y="174697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5100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76458" y="179191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5100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059922" y="2409918"/>
            <a:ext cx="4503420" cy="138988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9922" y="240991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 Message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59922" y="2729958"/>
            <a:ext cx="4503420" cy="1069848"/>
          </a:xfrm>
          <a:prstGeom prst="rect">
            <a:avLst/>
          </a:prstGeom>
          <a:solidFill>
            <a:srgbClr val="C8EAE8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51362" y="279396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38F"/>
                </a:solidFill>
              </a:rPr>
              <a:t>Status Code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87554" y="2793966"/>
            <a:ext cx="31638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 /  201 Created  /  404 Not Found 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51362" y="3040854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38F"/>
                </a:solidFill>
              </a:rPr>
              <a:t>HTTP Version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87554" y="3040854"/>
            <a:ext cx="31638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51362" y="3287742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38F"/>
                </a:solidFill>
              </a:rPr>
              <a:t>Response Header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87554" y="3287742"/>
            <a:ext cx="31638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Content-Type, Content-Length …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51362" y="353463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38F"/>
                </a:solidFill>
              </a:rPr>
              <a:t>Response Body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87554" y="3534630"/>
            <a:ext cx="31638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/ XML  { "id":1, "name":"Alice" }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765028" y="257797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←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641066" y="256536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←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320040" y="3954780"/>
            <a:ext cx="8503920" cy="2560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9547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HTTP Status Code  —  서버가 응답할 때 상태를 숫자 코드로 전달합니다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210812"/>
            <a:ext cx="2125980" cy="653796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274820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2748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2xx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78408" y="4274820"/>
            <a:ext cx="13761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Success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3438" y="4576572"/>
            <a:ext cx="1961388" cy="31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200 OK · 201 Created · 204 No Content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46020" y="4210812"/>
            <a:ext cx="2125980" cy="653796"/>
          </a:xfrm>
          <a:prstGeom prst="rect">
            <a:avLst/>
          </a:prstGeom>
          <a:solidFill>
            <a:srgbClr val="E0F4F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37460" y="4274820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37460" y="42748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3xx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104388" y="4274820"/>
            <a:ext cx="13761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Redirection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99418" y="4576572"/>
            <a:ext cx="1961388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301 Moved Permanently 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72000" y="4210812"/>
            <a:ext cx="2125980" cy="653796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4274820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42748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4xx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30368" y="4274820"/>
            <a:ext cx="13761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Client Error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25398" y="4526594"/>
            <a:ext cx="1961388" cy="31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400 Bad Request · 401 Unauthorized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404 Not Found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697980" y="4210812"/>
            <a:ext cx="2125980" cy="653796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89420" y="4274820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89420" y="42748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5xx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56348" y="4274820"/>
            <a:ext cx="13761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Server Error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51378" y="4545042"/>
            <a:ext cx="1961388" cy="350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500 Internal Server Error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503 Service Unavailable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108678" y="489598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4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006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2.3 URI </a:t>
            </a:r>
            <a:r>
              <a:rPr lang="en-US" sz="1600" b="1" dirty="0">
                <a:solidFill>
                  <a:srgbClr val="FFFFFF"/>
                </a:solidFill>
              </a:rPr>
              <a:t>설계 원칙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URI (Uniform Resource Identifier): REST에서 모든 리소스는 고유한 URI로 식별됩니다.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E8EAF6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형식: </a:t>
            </a:r>
            <a:r>
              <a:rPr lang="en-US" sz="12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&lt;protocol&gt;://&lt;</a:t>
            </a:r>
            <a:r>
              <a:rPr lang="en-US" sz="12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service-name</a:t>
            </a:r>
            <a:r>
              <a:rPr lang="en-US" sz="12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&gt;/&lt;</a:t>
            </a:r>
            <a:r>
              <a:rPr lang="en-US" sz="1200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ResourceType</a:t>
            </a:r>
            <a:r>
              <a:rPr lang="en-US" sz="12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&gt;/&lt;</a:t>
            </a:r>
            <a:r>
              <a:rPr lang="en-US" sz="12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ResourceID</a:t>
            </a:r>
            <a:r>
              <a:rPr lang="en-US" sz="12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00" b="1" dirty="0">
                <a:solidFill>
                  <a:srgbClr val="0A2342"/>
                </a:solidFill>
              </a:rPr>
              <a:t>    </a:t>
            </a:r>
            <a:endParaRPr lang="en-US" sz="1200" b="1" dirty="0" smtClean="0">
              <a:solidFill>
                <a:srgbClr val="0A2342"/>
              </a:solidFill>
            </a:endParaRPr>
          </a:p>
          <a:p>
            <a:pPr marL="0" indent="0">
              <a:buNone/>
            </a:pPr>
            <a:r>
              <a:rPr lang="en-US" sz="1200" b="1" dirty="0" err="1" smtClean="0">
                <a:solidFill>
                  <a:srgbClr val="0A2342"/>
                </a:solidFill>
              </a:rPr>
              <a:t>예시</a:t>
            </a:r>
            <a:r>
              <a:rPr lang="en-US" sz="1200" b="1" dirty="0">
                <a:solidFill>
                  <a:srgbClr val="0A2342"/>
                </a:solidFill>
              </a:rPr>
              <a:t>: </a:t>
            </a:r>
            <a:r>
              <a:rPr lang="en-US" sz="12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</a:t>
            </a:r>
            <a:r>
              <a:rPr lang="en-US" sz="12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</a:t>
            </a:r>
            <a:r>
              <a:rPr lang="en-US" sz="12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api/users</a:t>
            </a:r>
            <a:r>
              <a:rPr lang="en-US" sz="12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12648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복수 명사 사용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755648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755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719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755648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755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13432"/>
            <a:ext cx="841248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04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35915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동사 사용 금지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242316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423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3865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242316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423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3865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/api/getUser/1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980944"/>
            <a:ext cx="8412480" cy="612648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72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02666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소문자 사용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0" y="309067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30540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309067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30540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648456"/>
            <a:ext cx="841248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39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④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8680" y="369417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공백 → 하이픈(-)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0" y="375818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581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37216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/api/order-items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375818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7581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✘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/api/order%20items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315968"/>
            <a:ext cx="8412480" cy="612648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⑤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8680" y="436168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하위 리소스 표현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0" y="4425696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44256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91840" y="4389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/api/users/1/orders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0" y="4425696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44256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✘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35040" y="4389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/api/getUserOrders?id=1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2.4 JSON </a:t>
            </a:r>
            <a:r>
              <a:rPr lang="en-US" sz="1600" b="1" dirty="0">
                <a:solidFill>
                  <a:srgbClr val="FFFFFF"/>
                </a:solidFill>
              </a:rPr>
              <a:t>데이터 형식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REST API에서 가장 많이 사용되는 데이터 교환 형식입니다. 경량이고 읽기 쉬운 텍스트 기반 형식입니다.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8476"/>
            <a:ext cx="4389120" cy="2734844"/>
          </a:xfrm>
          <a:prstGeom prst="rect">
            <a:avLst/>
          </a:prstGeom>
          <a:solidFill>
            <a:srgbClr val="E8EAF6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97280"/>
            <a:ext cx="41696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"lastName": "Rossi",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"active": true,</a:t>
            </a:r>
            <a:endParaRPr lang="en-US" sz="1000" dirty="0"/>
          </a:p>
          <a:p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"languages": </a:t>
            </a:r>
            <a:r>
              <a:rPr lang="en-US" sz="10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"Java", "Python", "JavaScript</a:t>
            </a:r>
            <a:r>
              <a:rPr lang="en-US" sz="1000" dirty="0" smtClean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r>
              <a:rPr lang="en-US" altLang="ko-KR" sz="1000" dirty="0" smtClean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altLang="ko-KR" sz="1000" dirty="0"/>
          </a:p>
          <a:p>
            <a:pPr marL="0" indent="0">
              <a:buNone/>
            </a:pPr>
            <a:r>
              <a:rPr lang="en-US" sz="1000" dirty="0" smtClean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"address": </a:t>
            </a:r>
            <a:r>
              <a:rPr lang="en-US" sz="10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"street": "100 Main St",</a:t>
            </a:r>
            <a:endParaRPr lang="en-US" sz="1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"Seoul",</a:t>
            </a:r>
            <a:endParaRPr lang="en-US" sz="1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"country": "Korea"</a:t>
            </a:r>
            <a:endParaRPr lang="en-US" sz="1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83480" y="1004267"/>
            <a:ext cx="3749040" cy="393192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3480" y="1004267"/>
            <a:ext cx="64008" cy="3931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1031699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</a:rPr>
              <a:t>{ } 중괄호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102352" y="1205435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객체(Object) 정의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83480" y="1461467"/>
            <a:ext cx="3749040" cy="393192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461467"/>
            <a:ext cx="64008" cy="39319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488899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키 : 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02352" y="1662635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name-value 쌍. 키는 반드시 큰따옴표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1918667"/>
            <a:ext cx="3749040" cy="393192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1918667"/>
            <a:ext cx="64008" cy="3931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946099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숫자·불린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02352" y="2119835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따옴표 없이 그대로  14, true, false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83480" y="2375867"/>
            <a:ext cx="3749040" cy="393192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375867"/>
            <a:ext cx="64008" cy="3931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403299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[ ] 배열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02352" y="2577035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여러 값의 순서 있는 목록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2833067"/>
            <a:ext cx="3749040" cy="393192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833067"/>
            <a:ext cx="64008" cy="39319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1" y="2860499"/>
            <a:ext cx="174618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070C0"/>
                </a:solidFill>
              </a:rPr>
              <a:t>중첩</a:t>
            </a:r>
            <a:r>
              <a:rPr lang="en-US" sz="1000" b="1" dirty="0">
                <a:solidFill>
                  <a:srgbClr val="0070C0"/>
                </a:solidFill>
              </a:rPr>
              <a:t> </a:t>
            </a:r>
            <a:r>
              <a:rPr lang="en-US" sz="1000" b="1" dirty="0" err="1" smtClean="0">
                <a:solidFill>
                  <a:srgbClr val="0070C0"/>
                </a:solidFill>
              </a:rPr>
              <a:t>객체</a:t>
            </a:r>
            <a:r>
              <a:rPr lang="en-US" sz="1000" b="1" dirty="0" smtClean="0">
                <a:solidFill>
                  <a:srgbClr val="0070C0"/>
                </a:solidFill>
              </a:rPr>
              <a:t>(Nested Object)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02352" y="3034235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값으로 또 다른 객체를 포함 가능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3290267"/>
            <a:ext cx="3749040" cy="393192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3290267"/>
            <a:ext cx="64008" cy="3931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317699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null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02352" y="3491435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빈 값을 표현: "field": null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6 / 10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65760" y="3858768"/>
            <a:ext cx="8412480" cy="1170432"/>
          </a:xfrm>
          <a:prstGeom prst="rect">
            <a:avLst/>
          </a:prstGeom>
          <a:solidFill>
            <a:srgbClr val="E8F5E9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5760" y="3858768"/>
            <a:ext cx="8412480" cy="25603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38587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Spring REST API에서 JSON 처리 흐름  (Jackson Databind 라이브러리가 자동 변환)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65084" y="4210338"/>
            <a:ext cx="123444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5084" y="421033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</a:rPr>
              <a:t>HTTP Request </a:t>
            </a:r>
            <a:r>
              <a:rPr lang="en-US" sz="1000" b="1" dirty="0" err="1" smtClean="0">
                <a:solidFill>
                  <a:srgbClr val="FFFFFF"/>
                </a:solidFill>
              </a:rPr>
              <a:t>Msg</a:t>
            </a:r>
            <a:r>
              <a:rPr lang="en-US" sz="1000" b="1" dirty="0">
                <a:solidFill>
                  <a:srgbClr val="FFFFFF"/>
                </a:solidFill>
              </a:rPr>
              <a:t>
</a:t>
            </a:r>
            <a:r>
              <a:rPr lang="en-US" sz="85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</a:t>
            </a:r>
            <a:r>
              <a:rPr lang="ko-KR" altLang="en-US" sz="85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요청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699524" y="437493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973844" y="4364838"/>
            <a:ext cx="1097280" cy="43418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73844" y="4364838"/>
            <a:ext cx="1097280" cy="426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071124" y="437493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345444" y="4210338"/>
            <a:ext cx="1188720" cy="65836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345444" y="421033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 Object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user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11434" y="4791219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565C0"/>
                </a:solidFill>
              </a:rPr>
              <a:t>역직렬화 (Deserialization)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709160" y="4210338"/>
            <a:ext cx="1188720" cy="65836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09160" y="421033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 Object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List&lt;User&gt;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897880" y="437493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DB33F"/>
                </a:solidFill>
              </a:rPr>
              <a:t>→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172200" y="4333308"/>
            <a:ext cx="1097280" cy="46224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72200" y="4333308"/>
            <a:ext cx="1097280" cy="462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@ResponseBody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256868" y="437493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DB33F"/>
                </a:solidFill>
              </a:rPr>
              <a:t>→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543800" y="4210338"/>
            <a:ext cx="118872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543800" y="421033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</a:rPr>
              <a:t>HTTP Response </a:t>
            </a:r>
            <a:r>
              <a:rPr lang="en-US" sz="900" b="1" dirty="0" err="1" smtClean="0">
                <a:solidFill>
                  <a:srgbClr val="FFFFFF"/>
                </a:solidFill>
              </a:rPr>
              <a:t>Msg</a:t>
            </a:r>
            <a:r>
              <a:rPr lang="en-US" sz="1000" b="1" dirty="0">
                <a:solidFill>
                  <a:srgbClr val="FFFFFF"/>
                </a:solidFill>
              </a:rPr>
              <a:t>
</a:t>
            </a:r>
            <a:r>
              <a:rPr lang="en-US" sz="850" dirty="0">
                <a:solidFill>
                  <a:srgbClr val="FFFFFF"/>
                </a:solidFill>
              </a:rPr>
              <a:t>JSON 응답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4722876" y="479933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DB33F"/>
                </a:solidFill>
              </a:rPr>
              <a:t>직렬화 (Serialization)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626234" y="4204979"/>
            <a:ext cx="0" cy="804672"/>
          </a:xfrm>
          <a:prstGeom prst="line">
            <a:avLst/>
          </a:prstGeom>
          <a:noFill/>
          <a:ln w="38100">
            <a:solidFill>
              <a:srgbClr val="B0BEC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84744" y="4188975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요청 처리  (POST / PUT)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736591" y="415783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B33F"/>
                </a:solidFill>
              </a:rPr>
              <a:t>응답 처리  (GET / POST …)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smtClean="0">
                <a:solidFill>
                  <a:srgbClr val="FFFFFF"/>
                </a:solidFill>
              </a:rPr>
              <a:t>3. </a:t>
            </a:r>
            <a:r>
              <a:rPr lang="en-US" altLang="ko-KR" sz="1600" b="1" dirty="0">
                <a:solidFill>
                  <a:srgbClr val="FFFFFF"/>
                </a:solidFill>
              </a:rPr>
              <a:t>REST </a:t>
            </a:r>
            <a:r>
              <a:rPr lang="ko-KR" altLang="en-US" sz="1600" b="1" dirty="0">
                <a:solidFill>
                  <a:srgbClr val="FFFFFF"/>
                </a:solidFill>
              </a:rPr>
              <a:t>아키텍처 제약 </a:t>
            </a:r>
            <a:r>
              <a:rPr lang="ko-KR" altLang="en-US" sz="1600" b="1" dirty="0" smtClean="0">
                <a:solidFill>
                  <a:srgbClr val="FFFFFF"/>
                </a:solidFill>
              </a:rPr>
              <a:t>조건</a:t>
            </a:r>
            <a:r>
              <a:rPr lang="en-US" altLang="ko-KR" sz="1600" b="1" dirty="0" smtClean="0">
                <a:solidFill>
                  <a:srgbClr val="FFFFFF"/>
                </a:solidFill>
              </a:rPr>
              <a:t>:</a:t>
            </a:r>
            <a:r>
              <a:rPr lang="en-US" sz="1600" b="1" dirty="0" smtClean="0">
                <a:solidFill>
                  <a:srgbClr val="FFFFFF"/>
                </a:solidFill>
              </a:rPr>
              <a:t> Statelessness </a:t>
            </a:r>
            <a:r>
              <a:rPr lang="en-US" sz="1600" b="1" dirty="0">
                <a:solidFill>
                  <a:srgbClr val="FFFFFF"/>
                </a:solidFill>
              </a:rPr>
              <a:t>(무상태성)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REST의 핵심 원칙: 서버는 클라이언트의 이전 요청 상태를 저장하지 않습니다. 모든 요청은 독립적이어야 합니다.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7 / 10</a:t>
            </a:r>
            <a:endParaRPr lang="en-US" sz="900" dirty="0"/>
          </a:p>
        </p:txBody>
      </p:sp>
      <p:sp>
        <p:nvSpPr>
          <p:cNvPr id="30" name="Shape 3"/>
          <p:cNvSpPr/>
          <p:nvPr/>
        </p:nvSpPr>
        <p:spPr>
          <a:xfrm>
            <a:off x="182880" y="932688"/>
            <a:ext cx="4206240" cy="3977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Shape 4"/>
          <p:cNvSpPr/>
          <p:nvPr/>
        </p:nvSpPr>
        <p:spPr>
          <a:xfrm>
            <a:off x="182880" y="932688"/>
            <a:ext cx="420624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5"/>
          <p:cNvSpPr/>
          <p:nvPr/>
        </p:nvSpPr>
        <p:spPr>
          <a:xfrm>
            <a:off x="182880" y="9326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Stateless  (무상태)</a:t>
            </a:r>
            <a:endParaRPr lang="en-US" sz="1300" dirty="0"/>
          </a:p>
        </p:txBody>
      </p:sp>
      <p:sp>
        <p:nvSpPr>
          <p:cNvPr id="33" name="Shape 6"/>
          <p:cNvSpPr/>
          <p:nvPr/>
        </p:nvSpPr>
        <p:spPr>
          <a:xfrm>
            <a:off x="4754880" y="932688"/>
            <a:ext cx="4206240" cy="39776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Shape 7"/>
          <p:cNvSpPr/>
          <p:nvPr/>
        </p:nvSpPr>
        <p:spPr>
          <a:xfrm>
            <a:off x="4754880" y="932688"/>
            <a:ext cx="420624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8"/>
          <p:cNvSpPr/>
          <p:nvPr/>
        </p:nvSpPr>
        <p:spPr>
          <a:xfrm>
            <a:off x="4754880" y="9326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Stateful  (상태 저장)</a:t>
            </a:r>
            <a:endParaRPr lang="en-US" sz="1300" dirty="0"/>
          </a:p>
        </p:txBody>
      </p:sp>
      <p:sp>
        <p:nvSpPr>
          <p:cNvPr id="36" name="Shape 9"/>
          <p:cNvSpPr/>
          <p:nvPr/>
        </p:nvSpPr>
        <p:spPr>
          <a:xfrm>
            <a:off x="347472" y="1481328"/>
            <a:ext cx="932688" cy="658368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Shape 10"/>
          <p:cNvSpPr/>
          <p:nvPr/>
        </p:nvSpPr>
        <p:spPr>
          <a:xfrm>
            <a:off x="438912" y="1545336"/>
            <a:ext cx="749808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8" name="Shape 11"/>
          <p:cNvSpPr/>
          <p:nvPr/>
        </p:nvSpPr>
        <p:spPr>
          <a:xfrm>
            <a:off x="530352" y="1993391"/>
            <a:ext cx="566928" cy="110989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12"/>
          <p:cNvSpPr/>
          <p:nvPr/>
        </p:nvSpPr>
        <p:spPr>
          <a:xfrm>
            <a:off x="347472" y="1965013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1</a:t>
            </a:r>
            <a:endParaRPr lang="en-US" sz="950" dirty="0"/>
          </a:p>
        </p:txBody>
      </p:sp>
      <p:sp>
        <p:nvSpPr>
          <p:cNvPr id="40" name="Shape 13"/>
          <p:cNvSpPr/>
          <p:nvPr/>
        </p:nvSpPr>
        <p:spPr>
          <a:xfrm>
            <a:off x="347472" y="3657600"/>
            <a:ext cx="932688" cy="658368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Shape 14"/>
          <p:cNvSpPr/>
          <p:nvPr/>
        </p:nvSpPr>
        <p:spPr>
          <a:xfrm>
            <a:off x="438912" y="3721608"/>
            <a:ext cx="749808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2" name="Shape 15"/>
          <p:cNvSpPr/>
          <p:nvPr/>
        </p:nvSpPr>
        <p:spPr>
          <a:xfrm>
            <a:off x="530352" y="4169663"/>
            <a:ext cx="566928" cy="110989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16"/>
          <p:cNvSpPr/>
          <p:nvPr/>
        </p:nvSpPr>
        <p:spPr>
          <a:xfrm>
            <a:off x="347472" y="4134349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2</a:t>
            </a:r>
            <a:endParaRPr lang="en-US" sz="950" dirty="0"/>
          </a:p>
        </p:txBody>
      </p:sp>
      <p:sp>
        <p:nvSpPr>
          <p:cNvPr id="44" name="Shape 17"/>
          <p:cNvSpPr/>
          <p:nvPr/>
        </p:nvSpPr>
        <p:spPr>
          <a:xfrm>
            <a:off x="1773936" y="2542032"/>
            <a:ext cx="1024128" cy="82296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45" name="Shape 18"/>
          <p:cNvSpPr/>
          <p:nvPr/>
        </p:nvSpPr>
        <p:spPr>
          <a:xfrm>
            <a:off x="1865376" y="2633472"/>
            <a:ext cx="841248" cy="6400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46" name="Text 19"/>
          <p:cNvSpPr/>
          <p:nvPr/>
        </p:nvSpPr>
        <p:spPr>
          <a:xfrm>
            <a:off x="1773936" y="2669969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Balancer</a:t>
            </a:r>
            <a:endParaRPr lang="en-US" sz="950" dirty="0"/>
          </a:p>
        </p:txBody>
      </p:sp>
      <p:sp>
        <p:nvSpPr>
          <p:cNvPr id="47" name="Shape 20"/>
          <p:cNvSpPr/>
          <p:nvPr/>
        </p:nvSpPr>
        <p:spPr>
          <a:xfrm>
            <a:off x="3017520" y="1389888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0A2342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8" name="Shape 21"/>
          <p:cNvSpPr/>
          <p:nvPr/>
        </p:nvSpPr>
        <p:spPr>
          <a:xfrm>
            <a:off x="3108960" y="1481328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9" name="Shape 22"/>
          <p:cNvSpPr/>
          <p:nvPr/>
        </p:nvSpPr>
        <p:spPr>
          <a:xfrm>
            <a:off x="3154680" y="1517904"/>
            <a:ext cx="91440" cy="7315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0" name="Shape 23"/>
          <p:cNvSpPr/>
          <p:nvPr/>
        </p:nvSpPr>
        <p:spPr>
          <a:xfrm>
            <a:off x="3108960" y="1682496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1" name="Shape 24"/>
          <p:cNvSpPr/>
          <p:nvPr/>
        </p:nvSpPr>
        <p:spPr>
          <a:xfrm>
            <a:off x="3154680" y="1719072"/>
            <a:ext cx="91440" cy="7315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2" name="Shape 25"/>
          <p:cNvSpPr/>
          <p:nvPr/>
        </p:nvSpPr>
        <p:spPr>
          <a:xfrm>
            <a:off x="3108960" y="1883664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3" name="Shape 26"/>
          <p:cNvSpPr/>
          <p:nvPr/>
        </p:nvSpPr>
        <p:spPr>
          <a:xfrm>
            <a:off x="3154680" y="1920240"/>
            <a:ext cx="91440" cy="7315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54" name="Text 27"/>
          <p:cNvSpPr/>
          <p:nvPr/>
        </p:nvSpPr>
        <p:spPr>
          <a:xfrm>
            <a:off x="3017520" y="2048256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Server 1</a:t>
            </a:r>
            <a:endParaRPr lang="en-US" sz="950" dirty="0"/>
          </a:p>
        </p:txBody>
      </p:sp>
      <p:sp>
        <p:nvSpPr>
          <p:cNvPr id="55" name="Shape 28"/>
          <p:cNvSpPr/>
          <p:nvPr/>
        </p:nvSpPr>
        <p:spPr>
          <a:xfrm>
            <a:off x="3017520" y="3547872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0A2342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56" name="Shape 29"/>
          <p:cNvSpPr/>
          <p:nvPr/>
        </p:nvSpPr>
        <p:spPr>
          <a:xfrm>
            <a:off x="3108960" y="3639312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7" name="Shape 30"/>
          <p:cNvSpPr/>
          <p:nvPr/>
        </p:nvSpPr>
        <p:spPr>
          <a:xfrm>
            <a:off x="3154680" y="3675888"/>
            <a:ext cx="91440" cy="7315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8" name="Shape 31"/>
          <p:cNvSpPr/>
          <p:nvPr/>
        </p:nvSpPr>
        <p:spPr>
          <a:xfrm>
            <a:off x="3108960" y="3840480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9" name="Shape 32"/>
          <p:cNvSpPr/>
          <p:nvPr/>
        </p:nvSpPr>
        <p:spPr>
          <a:xfrm>
            <a:off x="3154680" y="3877056"/>
            <a:ext cx="91440" cy="7315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0" name="Shape 33"/>
          <p:cNvSpPr/>
          <p:nvPr/>
        </p:nvSpPr>
        <p:spPr>
          <a:xfrm>
            <a:off x="3108960" y="4041648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1" name="Shape 34"/>
          <p:cNvSpPr/>
          <p:nvPr/>
        </p:nvSpPr>
        <p:spPr>
          <a:xfrm>
            <a:off x="3154680" y="4078224"/>
            <a:ext cx="91440" cy="7315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2" name="Text 35"/>
          <p:cNvSpPr/>
          <p:nvPr/>
        </p:nvSpPr>
        <p:spPr>
          <a:xfrm>
            <a:off x="3017520" y="4206240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Server 2</a:t>
            </a:r>
            <a:endParaRPr lang="en-US" sz="950" dirty="0"/>
          </a:p>
        </p:txBody>
      </p:sp>
      <p:sp>
        <p:nvSpPr>
          <p:cNvPr id="63" name="Shape 36"/>
          <p:cNvSpPr/>
          <p:nvPr/>
        </p:nvSpPr>
        <p:spPr>
          <a:xfrm>
            <a:off x="1280160" y="1810512"/>
            <a:ext cx="493776" cy="114300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arrow"/>
            <a:tailEnd type="arrow"/>
          </a:ln>
        </p:spPr>
      </p:sp>
      <p:sp>
        <p:nvSpPr>
          <p:cNvPr id="64" name="Shape 37"/>
          <p:cNvSpPr/>
          <p:nvPr/>
        </p:nvSpPr>
        <p:spPr>
          <a:xfrm flipV="1">
            <a:off x="1280160" y="2953512"/>
            <a:ext cx="493776" cy="1033272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  <a:headEnd type="arrow"/>
            <a:tailEnd type="arrow"/>
          </a:ln>
        </p:spPr>
      </p:sp>
      <p:sp>
        <p:nvSpPr>
          <p:cNvPr id="65" name="Shape 38"/>
          <p:cNvSpPr/>
          <p:nvPr/>
        </p:nvSpPr>
        <p:spPr>
          <a:xfrm flipV="1">
            <a:off x="2798064" y="1824228"/>
            <a:ext cx="219456" cy="1129284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arrow"/>
          </a:ln>
        </p:spPr>
      </p:sp>
      <p:sp>
        <p:nvSpPr>
          <p:cNvPr id="66" name="Shape 39"/>
          <p:cNvSpPr/>
          <p:nvPr/>
        </p:nvSpPr>
        <p:spPr>
          <a:xfrm>
            <a:off x="2798064" y="2953512"/>
            <a:ext cx="219456" cy="102870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  <a:headEnd type="none"/>
            <a:tailEnd type="arrow"/>
          </a:ln>
        </p:spPr>
      </p:sp>
      <p:sp>
        <p:nvSpPr>
          <p:cNvPr id="67" name="Shape 40"/>
          <p:cNvSpPr/>
          <p:nvPr/>
        </p:nvSpPr>
        <p:spPr>
          <a:xfrm>
            <a:off x="2798064" y="2953512"/>
            <a:ext cx="219456" cy="982980"/>
          </a:xfrm>
          <a:prstGeom prst="line">
            <a:avLst/>
          </a:prstGeom>
          <a:noFill/>
          <a:ln w="19050">
            <a:solidFill>
              <a:srgbClr val="A5D6A7"/>
            </a:solidFill>
            <a:prstDash val="solid"/>
            <a:headEnd type="none"/>
            <a:tailEnd type="arrow"/>
          </a:ln>
        </p:spPr>
      </p:sp>
      <p:sp>
        <p:nvSpPr>
          <p:cNvPr id="68" name="Shape 41"/>
          <p:cNvSpPr/>
          <p:nvPr/>
        </p:nvSpPr>
        <p:spPr>
          <a:xfrm flipV="1">
            <a:off x="2798064" y="1869948"/>
            <a:ext cx="219456" cy="1083564"/>
          </a:xfrm>
          <a:prstGeom prst="line">
            <a:avLst/>
          </a:prstGeom>
          <a:noFill/>
          <a:ln w="19050">
            <a:solidFill>
              <a:srgbClr val="FFCCBC"/>
            </a:solidFill>
            <a:prstDash val="solid"/>
            <a:headEnd type="none"/>
            <a:tailEnd type="arrow"/>
          </a:ln>
        </p:spPr>
      </p:sp>
      <p:sp>
        <p:nvSpPr>
          <p:cNvPr id="69" name="Text 42"/>
          <p:cNvSpPr/>
          <p:nvPr/>
        </p:nvSpPr>
        <p:spPr>
          <a:xfrm>
            <a:off x="365760" y="4599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어떤 서버든 요청 처리 가능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</a:rPr>
              <a:t>→ 서버 추가만 하면 확장 완료!</a:t>
            </a:r>
            <a:endParaRPr lang="en-US" sz="1000" dirty="0"/>
          </a:p>
        </p:txBody>
      </p:sp>
      <p:sp>
        <p:nvSpPr>
          <p:cNvPr id="78" name="Shape 51"/>
          <p:cNvSpPr/>
          <p:nvPr/>
        </p:nvSpPr>
        <p:spPr>
          <a:xfrm>
            <a:off x="6270264" y="2542032"/>
            <a:ext cx="1024128" cy="82296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79" name="Shape 52"/>
          <p:cNvSpPr/>
          <p:nvPr/>
        </p:nvSpPr>
        <p:spPr>
          <a:xfrm>
            <a:off x="6361704" y="2633472"/>
            <a:ext cx="841248" cy="64008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0D47A1"/>
            </a:solidFill>
            <a:prstDash val="solid"/>
          </a:ln>
        </p:spPr>
      </p:sp>
      <p:sp>
        <p:nvSpPr>
          <p:cNvPr id="80" name="Text 53"/>
          <p:cNvSpPr/>
          <p:nvPr/>
        </p:nvSpPr>
        <p:spPr>
          <a:xfrm>
            <a:off x="6273576" y="2659643"/>
            <a:ext cx="10241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Balancer</a:t>
            </a:r>
            <a:endParaRPr lang="en-US" sz="950" dirty="0"/>
          </a:p>
        </p:txBody>
      </p:sp>
      <p:sp>
        <p:nvSpPr>
          <p:cNvPr id="81" name="Text 54"/>
          <p:cNvSpPr/>
          <p:nvPr/>
        </p:nvSpPr>
        <p:spPr>
          <a:xfrm>
            <a:off x="6133104" y="33649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65100"/>
                </a:solidFill>
              </a:rPr>
              <a:t>Sticky Session</a:t>
            </a:r>
            <a:endParaRPr lang="en-US" sz="850" dirty="0"/>
          </a:p>
        </p:txBody>
      </p:sp>
      <p:sp>
        <p:nvSpPr>
          <p:cNvPr id="82" name="Shape 55"/>
          <p:cNvSpPr/>
          <p:nvPr/>
        </p:nvSpPr>
        <p:spPr>
          <a:xfrm>
            <a:off x="7589520" y="1389888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0A2342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83" name="Shape 56"/>
          <p:cNvSpPr/>
          <p:nvPr/>
        </p:nvSpPr>
        <p:spPr>
          <a:xfrm>
            <a:off x="7680960" y="1481328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4" name="Shape 57"/>
          <p:cNvSpPr/>
          <p:nvPr/>
        </p:nvSpPr>
        <p:spPr>
          <a:xfrm>
            <a:off x="7726680" y="1517904"/>
            <a:ext cx="91440" cy="7315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5" name="Shape 58"/>
          <p:cNvSpPr/>
          <p:nvPr/>
        </p:nvSpPr>
        <p:spPr>
          <a:xfrm>
            <a:off x="7680960" y="1682496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6" name="Shape 59"/>
          <p:cNvSpPr/>
          <p:nvPr/>
        </p:nvSpPr>
        <p:spPr>
          <a:xfrm>
            <a:off x="7726680" y="1719072"/>
            <a:ext cx="91440" cy="7315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7" name="Shape 60"/>
          <p:cNvSpPr/>
          <p:nvPr/>
        </p:nvSpPr>
        <p:spPr>
          <a:xfrm>
            <a:off x="7680960" y="1883664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8" name="Shape 61"/>
          <p:cNvSpPr/>
          <p:nvPr/>
        </p:nvSpPr>
        <p:spPr>
          <a:xfrm>
            <a:off x="7726680" y="1920240"/>
            <a:ext cx="91440" cy="7315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9" name="Text 62"/>
          <p:cNvSpPr/>
          <p:nvPr/>
        </p:nvSpPr>
        <p:spPr>
          <a:xfrm>
            <a:off x="7589520" y="2048256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Server 1</a:t>
            </a:r>
            <a:endParaRPr lang="en-US" sz="950" dirty="0"/>
          </a:p>
        </p:txBody>
      </p:sp>
      <p:sp>
        <p:nvSpPr>
          <p:cNvPr id="90" name="Text 63"/>
          <p:cNvSpPr/>
          <p:nvPr/>
        </p:nvSpPr>
        <p:spPr>
          <a:xfrm>
            <a:off x="7498080" y="2258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📦 User1 세션 저장</a:t>
            </a:r>
            <a:endParaRPr lang="en-US" sz="850" dirty="0"/>
          </a:p>
        </p:txBody>
      </p:sp>
      <p:sp>
        <p:nvSpPr>
          <p:cNvPr id="91" name="Shape 64"/>
          <p:cNvSpPr/>
          <p:nvPr/>
        </p:nvSpPr>
        <p:spPr>
          <a:xfrm>
            <a:off x="7616952" y="3399282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0A2342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92" name="Shape 65"/>
          <p:cNvSpPr/>
          <p:nvPr/>
        </p:nvSpPr>
        <p:spPr>
          <a:xfrm>
            <a:off x="7708392" y="3490722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3" name="Shape 66"/>
          <p:cNvSpPr/>
          <p:nvPr/>
        </p:nvSpPr>
        <p:spPr>
          <a:xfrm>
            <a:off x="7754112" y="3527298"/>
            <a:ext cx="91440" cy="7315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4" name="Shape 67"/>
          <p:cNvSpPr/>
          <p:nvPr/>
        </p:nvSpPr>
        <p:spPr>
          <a:xfrm>
            <a:off x="7708392" y="3691890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5" name="Shape 68"/>
          <p:cNvSpPr/>
          <p:nvPr/>
        </p:nvSpPr>
        <p:spPr>
          <a:xfrm>
            <a:off x="7754112" y="3728466"/>
            <a:ext cx="91440" cy="7315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6" name="Shape 69"/>
          <p:cNvSpPr/>
          <p:nvPr/>
        </p:nvSpPr>
        <p:spPr>
          <a:xfrm>
            <a:off x="7708392" y="3893058"/>
            <a:ext cx="1005840" cy="128016"/>
          </a:xfrm>
          <a:prstGeom prst="rect">
            <a:avLst/>
          </a:prstGeom>
          <a:solidFill>
            <a:srgbClr val="1C2B36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7" name="Shape 70"/>
          <p:cNvSpPr/>
          <p:nvPr/>
        </p:nvSpPr>
        <p:spPr>
          <a:xfrm>
            <a:off x="7754112" y="3929634"/>
            <a:ext cx="91440" cy="73152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8" name="Text 71"/>
          <p:cNvSpPr/>
          <p:nvPr/>
        </p:nvSpPr>
        <p:spPr>
          <a:xfrm>
            <a:off x="7616952" y="4057650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Server 2</a:t>
            </a:r>
            <a:endParaRPr lang="en-US" sz="950" dirty="0"/>
          </a:p>
        </p:txBody>
      </p:sp>
      <p:sp>
        <p:nvSpPr>
          <p:cNvPr id="99" name="Text 72"/>
          <p:cNvSpPr/>
          <p:nvPr/>
        </p:nvSpPr>
        <p:spPr>
          <a:xfrm>
            <a:off x="7525512" y="426796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65100"/>
                </a:solidFill>
              </a:rPr>
              <a:t>📦 User2 세션 저장</a:t>
            </a:r>
            <a:endParaRPr lang="en-US" sz="850" dirty="0"/>
          </a:p>
        </p:txBody>
      </p:sp>
      <p:sp>
        <p:nvSpPr>
          <p:cNvPr id="100" name="Shape 73"/>
          <p:cNvSpPr/>
          <p:nvPr/>
        </p:nvSpPr>
        <p:spPr>
          <a:xfrm>
            <a:off x="5852160" y="1810512"/>
            <a:ext cx="454680" cy="86868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arrow"/>
            <a:tailEnd type="arrow"/>
          </a:ln>
        </p:spPr>
      </p:sp>
      <p:sp>
        <p:nvSpPr>
          <p:cNvPr id="101" name="Shape 74"/>
          <p:cNvSpPr/>
          <p:nvPr/>
        </p:nvSpPr>
        <p:spPr>
          <a:xfrm flipV="1">
            <a:off x="5852160" y="3172968"/>
            <a:ext cx="461304" cy="813816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  <a:headEnd type="arrow"/>
            <a:tailEnd type="arrow"/>
          </a:ln>
        </p:spPr>
      </p:sp>
      <p:sp>
        <p:nvSpPr>
          <p:cNvPr id="102" name="Shape 75"/>
          <p:cNvSpPr/>
          <p:nvPr/>
        </p:nvSpPr>
        <p:spPr>
          <a:xfrm flipV="1">
            <a:off x="7202952" y="1824228"/>
            <a:ext cx="386568" cy="809244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  <a:headEnd type="none"/>
            <a:tailEnd type="arrow"/>
          </a:ln>
        </p:spPr>
      </p:sp>
      <p:sp>
        <p:nvSpPr>
          <p:cNvPr id="103" name="Shape 76"/>
          <p:cNvSpPr/>
          <p:nvPr/>
        </p:nvSpPr>
        <p:spPr>
          <a:xfrm>
            <a:off x="7257816" y="3236976"/>
            <a:ext cx="256032" cy="582930"/>
          </a:xfrm>
          <a:prstGeom prst="line">
            <a:avLst/>
          </a:prstGeom>
          <a:noFill/>
          <a:ln w="31750">
            <a:solidFill>
              <a:srgbClr val="E65100"/>
            </a:solidFill>
            <a:prstDash val="solid"/>
            <a:headEnd type="none"/>
            <a:tailEnd type="arrow"/>
          </a:ln>
        </p:spPr>
      </p:sp>
      <p:sp>
        <p:nvSpPr>
          <p:cNvPr id="104" name="Shape 77"/>
          <p:cNvSpPr/>
          <p:nvPr/>
        </p:nvSpPr>
        <p:spPr>
          <a:xfrm>
            <a:off x="7239528" y="333984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5" name="Text 78"/>
          <p:cNvSpPr/>
          <p:nvPr/>
        </p:nvSpPr>
        <p:spPr>
          <a:xfrm>
            <a:off x="7239528" y="333984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</a:rPr>
              <a:t>✘</a:t>
            </a:r>
            <a:endParaRPr lang="en-US" sz="1200" dirty="0"/>
          </a:p>
        </p:txBody>
      </p:sp>
      <p:sp>
        <p:nvSpPr>
          <p:cNvPr id="106" name="Shape 79"/>
          <p:cNvSpPr/>
          <p:nvPr/>
        </p:nvSpPr>
        <p:spPr>
          <a:xfrm>
            <a:off x="7315200" y="226085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7" name="Text 80"/>
          <p:cNvSpPr/>
          <p:nvPr/>
        </p:nvSpPr>
        <p:spPr>
          <a:xfrm>
            <a:off x="7315200" y="226085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</a:rPr>
              <a:t>✘</a:t>
            </a:r>
            <a:endParaRPr lang="en-US" sz="1200" dirty="0"/>
          </a:p>
        </p:txBody>
      </p:sp>
      <p:sp>
        <p:nvSpPr>
          <p:cNvPr id="108" name="Text 81"/>
          <p:cNvSpPr/>
          <p:nvPr/>
        </p:nvSpPr>
        <p:spPr>
          <a:xfrm>
            <a:off x="4892040" y="4599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</a:rPr>
              <a:t>User1은 Server1만, User2는 Server2만 사용 가능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</a:rPr>
              <a:t>→ 서버 추가 시 세션 동기화 문제 발생!</a:t>
            </a:r>
            <a:endParaRPr lang="en-US" sz="1000" dirty="0"/>
          </a:p>
        </p:txBody>
      </p:sp>
      <p:sp>
        <p:nvSpPr>
          <p:cNvPr id="109" name="Shape 82"/>
          <p:cNvSpPr/>
          <p:nvPr/>
        </p:nvSpPr>
        <p:spPr>
          <a:xfrm>
            <a:off x="4553712" y="914400"/>
            <a:ext cx="0" cy="4005072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110" name="Text 8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7 / 11</a:t>
            </a:r>
            <a:endParaRPr lang="en-US" sz="900" dirty="0"/>
          </a:p>
        </p:txBody>
      </p:sp>
      <p:sp>
        <p:nvSpPr>
          <p:cNvPr id="111" name="Shape 9"/>
          <p:cNvSpPr/>
          <p:nvPr/>
        </p:nvSpPr>
        <p:spPr>
          <a:xfrm>
            <a:off x="4882896" y="1487423"/>
            <a:ext cx="932688" cy="658368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2" name="Shape 10"/>
          <p:cNvSpPr/>
          <p:nvPr/>
        </p:nvSpPr>
        <p:spPr>
          <a:xfrm>
            <a:off x="4974336" y="1551431"/>
            <a:ext cx="749808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3" name="Shape 11"/>
          <p:cNvSpPr/>
          <p:nvPr/>
        </p:nvSpPr>
        <p:spPr>
          <a:xfrm>
            <a:off x="5065776" y="1999486"/>
            <a:ext cx="566928" cy="110989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4" name="Text 12"/>
          <p:cNvSpPr/>
          <p:nvPr/>
        </p:nvSpPr>
        <p:spPr>
          <a:xfrm>
            <a:off x="4882896" y="1971108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1</a:t>
            </a:r>
            <a:endParaRPr lang="en-US" sz="950" dirty="0"/>
          </a:p>
        </p:txBody>
      </p:sp>
      <p:sp>
        <p:nvSpPr>
          <p:cNvPr id="115" name="Shape 13"/>
          <p:cNvSpPr/>
          <p:nvPr/>
        </p:nvSpPr>
        <p:spPr>
          <a:xfrm>
            <a:off x="4890778" y="3521491"/>
            <a:ext cx="932688" cy="658368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6" name="Shape 14"/>
          <p:cNvSpPr/>
          <p:nvPr/>
        </p:nvSpPr>
        <p:spPr>
          <a:xfrm>
            <a:off x="4982218" y="3585499"/>
            <a:ext cx="749808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7" name="Shape 15"/>
          <p:cNvSpPr/>
          <p:nvPr/>
        </p:nvSpPr>
        <p:spPr>
          <a:xfrm>
            <a:off x="5073658" y="4033554"/>
            <a:ext cx="566928" cy="110989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8" name="Text 16"/>
          <p:cNvSpPr/>
          <p:nvPr/>
        </p:nvSpPr>
        <p:spPr>
          <a:xfrm>
            <a:off x="4890778" y="3998240"/>
            <a:ext cx="9326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  </a:t>
            </a:r>
            <a:r>
              <a:rPr lang="en-US" sz="1600" b="1" dirty="0" smtClean="0">
                <a:solidFill>
                  <a:srgbClr val="FFFFFF"/>
                </a:solidFill>
              </a:rPr>
              <a:t>3.1 Statelessness </a:t>
            </a:r>
            <a:r>
              <a:rPr lang="en-US" sz="1600" b="1" dirty="0" smtClean="0">
                <a:solidFill>
                  <a:srgbClr val="FFFFFF"/>
                </a:solidFill>
              </a:rPr>
              <a:t>– </a:t>
            </a:r>
            <a:r>
              <a:rPr lang="en-US" sz="1600" b="1" dirty="0" err="1" smtClean="0">
                <a:solidFill>
                  <a:srgbClr val="FFFFFF"/>
                </a:solidFill>
              </a:rPr>
              <a:t>Stateful</a:t>
            </a:r>
            <a:r>
              <a:rPr lang="en-US" sz="1600" b="1" dirty="0" smtClean="0">
                <a:solidFill>
                  <a:srgbClr val="FFFFFF"/>
                </a:solidFill>
              </a:rPr>
              <a:t> vs Stateless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REST의 핵심 원칙: 서버는 클라이언트의 이전 요청 상태를 저장하지 않습니다. 모든 요청은 독립적이어야 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Stateful  (세션 기반) — ❌ REST 원칙 위반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4023360" cy="182880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1. 로그인 요청 → 서버가 세션 저장
2. 이후 요청마다 세션 ID로 인증
3. 서버에 세션 데이터 유지 필요
</a:t>
            </a:r>
            <a:r>
              <a:rPr lang="en-US" sz="1100" dirty="0">
                <a:solidFill>
                  <a:srgbClr val="C62828"/>
                </a:solidFill>
              </a:rPr>
              <a:t>❌ 서버 확장(스케일아웃) 어려움
❌ 서버 장애 시 세션 데이터 손실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233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Stateless  (토큰 기반) — ✅ REST 권장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399032"/>
            <a:ext cx="402336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44752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1. 로그인 → 서버가 JWT 토큰 발급
2. 클라이언트가 토큰을 헤더에 포함
3. 서버는 토큰 검증만 수행
</a:t>
            </a:r>
            <a:r>
              <a:rPr lang="en-US" sz="1100" dirty="0">
                <a:solidFill>
                  <a:srgbClr val="2E7D32"/>
                </a:solidFill>
              </a:rPr>
              <a:t>✔ 서버 확장이 자유로움
✔ 서버에 상태 저장 불필요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337560"/>
            <a:ext cx="850392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37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비교 항목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3337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세션 기반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337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JWT 토큰 기반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685032"/>
            <a:ext cx="8503920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21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서버 부하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46120" y="3721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높음 (세션 저장)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80760" y="3721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38F"/>
                </a:solidFill>
              </a:rPr>
              <a:t>낮음 (저장 없음)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142232"/>
            <a:ext cx="8503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78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확장성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4178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어려움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80760" y="4178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38F"/>
                </a:solidFill>
              </a:rPr>
              <a:t>쉬움 (마이크로서비스 적합)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599432"/>
            <a:ext cx="8503920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636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보안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46120" y="4636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세션 서버 측 보관 → 안전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80760" y="4636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38F"/>
                </a:solidFill>
              </a:rPr>
              <a:t>토큰 탈취 위험 → HTTPS 필수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7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3594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3.2 </a:t>
            </a:r>
            <a:r>
              <a:rPr lang="en-US" sz="1600" b="1" dirty="0">
                <a:solidFill>
                  <a:srgbClr val="FFFFFF"/>
                </a:solidFill>
              </a:rPr>
              <a:t>세션 기반 vs JWT 토큰 기반 인증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594360"/>
            <a:ext cx="4069080" cy="3383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5943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세션 기반 인증  (Stateful)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" y="1207008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17043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D6E9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1704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00784" y="1115568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로그인  (ID / PW 전송)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" y="1536192"/>
            <a:ext cx="0" cy="384048"/>
          </a:xfrm>
          <a:prstGeom prst="line">
            <a:avLst/>
          </a:prstGeom>
          <a:noFill/>
          <a:ln w="12700">
            <a:solidFill>
              <a:srgbClr val="B0BEC5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329184" y="2103120"/>
            <a:ext cx="329184" cy="32918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2066544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8EAE8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0665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38F"/>
                </a:solidFill>
              </a:rPr>
              <a:t>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00784" y="2011680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세션 생성 후 Session ID 저장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→ 쿠키로 ID 전달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" y="2432304"/>
            <a:ext cx="0" cy="384048"/>
          </a:xfrm>
          <a:prstGeom prst="line">
            <a:avLst/>
          </a:prstGeom>
          <a:noFill/>
          <a:ln w="12700">
            <a:solidFill>
              <a:srgbClr val="B0BEC5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329184" y="2999232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" y="2962656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D6E9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9626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Client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00784" y="2907792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이후 요청마다 쿠키(Session ID) 포함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" y="3328416"/>
            <a:ext cx="0" cy="384048"/>
          </a:xfrm>
          <a:prstGeom prst="line">
            <a:avLst/>
          </a:prstGeom>
          <a:noFill/>
          <a:ln w="12700">
            <a:solidFill>
              <a:srgbClr val="B0BEC5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329184" y="3895344"/>
            <a:ext cx="329184" cy="32918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" y="385876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8EAE8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8587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38F"/>
                </a:solidFill>
              </a:rPr>
              <a:t>Server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00784" y="380390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Session ID로 저장소 조회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→ 사용자 확인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1752" y="4645152"/>
            <a:ext cx="4096512" cy="3200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4663440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❌ </a:t>
            </a:r>
            <a:r>
              <a:rPr lang="en-US" sz="1000" b="1" dirty="0" err="1" smtClean="0">
                <a:solidFill>
                  <a:srgbClr val="C62828"/>
                </a:solidFill>
              </a:rPr>
              <a:t>저장소</a:t>
            </a:r>
            <a:r>
              <a:rPr lang="en-US" sz="1000" b="1" dirty="0" smtClean="0">
                <a:solidFill>
                  <a:srgbClr val="C62828"/>
                </a:solidFill>
              </a:rPr>
              <a:t> </a:t>
            </a:r>
            <a:r>
              <a:rPr lang="en-US" sz="1000" b="1" dirty="0">
                <a:solidFill>
                  <a:srgbClr val="C62828"/>
                </a:solidFill>
              </a:rPr>
              <a:t>필요: </a:t>
            </a:r>
            <a:r>
              <a:rPr lang="en-US" sz="1000" dirty="0">
                <a:solidFill>
                  <a:srgbClr val="0A2342"/>
                </a:solidFill>
              </a:rPr>
              <a:t>서버가 늘어나면 세션 동기화 필요  →  확장 어려움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18888" y="594360"/>
            <a:ext cx="4069080" cy="3383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594360"/>
            <a:ext cx="4069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JWT 토큰 기반 인증  (Stateless)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1207008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276088" y="117043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D6E9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76088" y="11704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Client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1115568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로그인  (ID / PW 전송)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56632" y="1536192"/>
            <a:ext cx="0" cy="384048"/>
          </a:xfrm>
          <a:prstGeom prst="line">
            <a:avLst/>
          </a:prstGeom>
          <a:noFill/>
          <a:ln w="12700">
            <a:solidFill>
              <a:srgbClr val="B0BEC5"/>
            </a:solidFill>
            <a:prstDash val="sysDash"/>
          </a:ln>
        </p:spPr>
      </p:sp>
      <p:sp>
        <p:nvSpPr>
          <p:cNvPr id="39" name="Shape 37"/>
          <p:cNvSpPr/>
          <p:nvPr/>
        </p:nvSpPr>
        <p:spPr>
          <a:xfrm>
            <a:off x="4892040" y="2103120"/>
            <a:ext cx="329184" cy="32918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276088" y="2066544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8EAE8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6088" y="20665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38F"/>
                </a:solidFill>
              </a:rPr>
              <a:t>Server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2011680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JWT 생성 (서명 포함)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→ 저장 </a:t>
            </a:r>
            <a:r>
              <a:rPr lang="en-US" sz="1050" dirty="0" err="1">
                <a:solidFill>
                  <a:srgbClr val="0A2342"/>
                </a:solidFill>
              </a:rPr>
              <a:t>없이</a:t>
            </a:r>
            <a:r>
              <a:rPr lang="en-US" sz="1050" dirty="0">
                <a:solidFill>
                  <a:srgbClr val="0A2342"/>
                </a:solidFill>
              </a:rPr>
              <a:t> </a:t>
            </a:r>
            <a:r>
              <a:rPr lang="en-US" sz="1050" dirty="0" smtClean="0">
                <a:solidFill>
                  <a:srgbClr val="0A2342"/>
                </a:solidFill>
              </a:rPr>
              <a:t>&lt;token&gt;</a:t>
            </a:r>
            <a:r>
              <a:rPr lang="ko-KR" altLang="en-US" sz="1050" dirty="0" smtClean="0">
                <a:solidFill>
                  <a:srgbClr val="0A2342"/>
                </a:solidFill>
              </a:rPr>
              <a:t>을 </a:t>
            </a:r>
            <a:r>
              <a:rPr lang="en-US" sz="1050" dirty="0" err="1" smtClean="0">
                <a:solidFill>
                  <a:srgbClr val="0A2342"/>
                </a:solidFill>
              </a:rPr>
              <a:t>Client</a:t>
            </a:r>
            <a:r>
              <a:rPr lang="en-US" sz="1050" dirty="0" err="1">
                <a:solidFill>
                  <a:srgbClr val="0A2342"/>
                </a:solidFill>
              </a:rPr>
              <a:t>에</a:t>
            </a:r>
            <a:r>
              <a:rPr lang="en-US" sz="1050" dirty="0">
                <a:solidFill>
                  <a:srgbClr val="0A2342"/>
                </a:solidFill>
              </a:rPr>
              <a:t> 전달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56632" y="2432304"/>
            <a:ext cx="0" cy="384048"/>
          </a:xfrm>
          <a:prstGeom prst="line">
            <a:avLst/>
          </a:prstGeom>
          <a:noFill/>
          <a:ln w="12700">
            <a:solidFill>
              <a:srgbClr val="B0BEC5"/>
            </a:solidFill>
            <a:prstDash val="sysDash"/>
          </a:ln>
        </p:spPr>
      </p:sp>
      <p:sp>
        <p:nvSpPr>
          <p:cNvPr id="45" name="Shape 43"/>
          <p:cNvSpPr/>
          <p:nvPr/>
        </p:nvSpPr>
        <p:spPr>
          <a:xfrm>
            <a:off x="4892040" y="2999232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276088" y="2962656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D6E9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76088" y="29626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Client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2907792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모든 요청 Header에 포함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</a:rPr>
              <a:t>Authorization: Bearer &lt;Token&gt;</a:t>
            </a:r>
          </a:p>
        </p:txBody>
      </p:sp>
      <p:sp>
        <p:nvSpPr>
          <p:cNvPr id="50" name="Shape 48"/>
          <p:cNvSpPr/>
          <p:nvPr/>
        </p:nvSpPr>
        <p:spPr>
          <a:xfrm>
            <a:off x="5056632" y="3328416"/>
            <a:ext cx="0" cy="384048"/>
          </a:xfrm>
          <a:prstGeom prst="line">
            <a:avLst/>
          </a:prstGeom>
          <a:noFill/>
          <a:ln w="12700">
            <a:solidFill>
              <a:srgbClr val="B0BEC5"/>
            </a:solidFill>
            <a:prstDash val="sysDash"/>
          </a:ln>
        </p:spPr>
      </p:sp>
      <p:sp>
        <p:nvSpPr>
          <p:cNvPr id="51" name="Shape 49"/>
          <p:cNvSpPr/>
          <p:nvPr/>
        </p:nvSpPr>
        <p:spPr>
          <a:xfrm>
            <a:off x="4892040" y="3895344"/>
            <a:ext cx="329184" cy="32918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276088" y="385876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8EAE8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76088" y="38587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38F"/>
                </a:solidFill>
              </a:rPr>
              <a:t>Server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63640" y="3803904"/>
            <a:ext cx="2697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토큰 서명 검증만 수행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</a:rPr>
              <a:t>(저장소 조회 불필요 ✅)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64608" y="4645152"/>
            <a:ext cx="393192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4663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✅ 저장소 불필요: </a:t>
            </a:r>
            <a:r>
              <a:rPr lang="en-US" sz="1000" dirty="0">
                <a:solidFill>
                  <a:srgbClr val="0A2342"/>
                </a:solidFill>
              </a:rPr>
              <a:t>어느 서버든 검증 가능  →  </a:t>
            </a:r>
            <a:r>
              <a:rPr lang="en-US" sz="1000" dirty="0" err="1">
                <a:solidFill>
                  <a:srgbClr val="0A2342"/>
                </a:solidFill>
              </a:rPr>
              <a:t>자유로운</a:t>
            </a:r>
            <a:r>
              <a:rPr lang="en-US" sz="1000" dirty="0">
                <a:solidFill>
                  <a:srgbClr val="0A2342"/>
                </a:solidFill>
              </a:rPr>
              <a:t> </a:t>
            </a:r>
            <a:r>
              <a:rPr lang="en-US" sz="1000" dirty="0" err="1" smtClean="0">
                <a:solidFill>
                  <a:srgbClr val="0A2342"/>
                </a:solidFill>
              </a:rPr>
              <a:t>확장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53712" y="594360"/>
            <a:ext cx="0" cy="4370832"/>
          </a:xfrm>
          <a:prstGeom prst="line">
            <a:avLst/>
          </a:prstGeom>
          <a:noFill/>
          <a:ln w="12700">
            <a:solidFill>
              <a:srgbClr val="B0BEC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8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2276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smtClean="0">
                <a:solidFill>
                  <a:srgbClr val="FFFFFF"/>
                </a:solidFill>
              </a:rPr>
              <a:t>4. </a:t>
            </a:r>
            <a:r>
              <a:rPr lang="en-US" altLang="ko-KR" sz="1600" b="1" dirty="0">
                <a:solidFill>
                  <a:srgbClr val="FFFFFF"/>
                </a:solidFill>
              </a:rPr>
              <a:t>REST </a:t>
            </a:r>
            <a:r>
              <a:rPr lang="ko-KR" altLang="en-US" sz="1600" b="1" dirty="0">
                <a:solidFill>
                  <a:srgbClr val="FFFFFF"/>
                </a:solidFill>
              </a:rPr>
              <a:t>아키텍처 제약 </a:t>
            </a:r>
            <a:r>
              <a:rPr lang="ko-KR" altLang="en-US" sz="1600" b="1" dirty="0" smtClean="0">
                <a:solidFill>
                  <a:srgbClr val="FFFFFF"/>
                </a:solidFill>
              </a:rPr>
              <a:t>조건</a:t>
            </a:r>
            <a:r>
              <a:rPr lang="en-US" altLang="ko-KR" sz="1600" b="1" dirty="0" smtClean="0">
                <a:solidFill>
                  <a:srgbClr val="FFFFFF"/>
                </a:solidFill>
              </a:rPr>
              <a:t>: </a:t>
            </a:r>
            <a:r>
              <a:rPr lang="en-US" sz="1600" b="1" dirty="0" err="1" smtClean="0">
                <a:solidFill>
                  <a:srgbClr val="FFFFFF"/>
                </a:solidFill>
              </a:rPr>
              <a:t>캐싱</a:t>
            </a:r>
            <a:r>
              <a:rPr lang="en-US" sz="1600" b="1" dirty="0" smtClean="0">
                <a:solidFill>
                  <a:srgbClr val="FFFFFF"/>
                </a:solidFill>
              </a:rPr>
              <a:t> </a:t>
            </a:r>
            <a:r>
              <a:rPr lang="en-US" sz="1600" b="1" dirty="0">
                <a:solidFill>
                  <a:srgbClr val="FFFFFF"/>
                </a:solidFill>
              </a:rPr>
              <a:t>(Caching</a:t>
            </a:r>
            <a:r>
              <a:rPr lang="en-US" sz="1600" b="1" dirty="0" smtClean="0">
                <a:solidFill>
                  <a:srgbClr val="FFFFFF"/>
                </a:solidFill>
              </a:rPr>
              <a:t>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</a:rPr>
              <a:t>캐싱이란 서버 응답을 클라이언트/중간 서버에 임시 저장해, 동일한 요청 시 서버에 다시 접근하지 않고 즉시 응답하는 기술입니다.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73736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Client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356970"/>
            <a:ext cx="173736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브라우저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9601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960120"/>
            <a:ext cx="173736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 Cache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77440" y="1356970"/>
            <a:ext cx="173736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로컬 캐시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512DA8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60120"/>
            <a:ext cx="173736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Proxy Cache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1356970"/>
            <a:ext cx="173736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중간 서버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96012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960120"/>
            <a:ext cx="173736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0" y="1356970"/>
            <a:ext cx="1737360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원본 서버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21408" y="1261872"/>
            <a:ext cx="237744" cy="3657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4738" y="114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33088" y="1261872"/>
            <a:ext cx="420624" cy="3657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2992" y="11436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27648" y="1261872"/>
            <a:ext cx="420624" cy="3657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1246" y="11436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16459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← </a:t>
            </a:r>
            <a:r>
              <a:rPr lang="en-US" sz="900" i="1" dirty="0" err="1" smtClean="0">
                <a:solidFill>
                  <a:srgbClr val="546E7A"/>
                </a:solidFill>
              </a:rPr>
              <a:t>응답</a:t>
            </a:r>
            <a:r>
              <a:rPr lang="ko-KR" altLang="en-US" sz="900" i="1" dirty="0" smtClean="0">
                <a:solidFill>
                  <a:srgbClr val="546E7A"/>
                </a:solidFill>
              </a:rPr>
              <a:t>은</a:t>
            </a:r>
            <a:r>
              <a:rPr lang="en-US" sz="900" i="1" dirty="0" smtClean="0">
                <a:solidFill>
                  <a:srgbClr val="546E7A"/>
                </a:solidFill>
              </a:rPr>
              <a:t> </a:t>
            </a:r>
            <a:r>
              <a:rPr lang="en-US" sz="900" i="1" dirty="0">
                <a:solidFill>
                  <a:srgbClr val="546E7A"/>
                </a:solidFill>
              </a:rPr>
              <a:t>역순으로 전달됨  (각 캐시에 저장)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1883664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188366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Cache HIT  —  두 번째 요청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709160" y="2231136"/>
            <a:ext cx="4160520" cy="2697480"/>
          </a:xfrm>
          <a:prstGeom prst="rect">
            <a:avLst/>
          </a:prstGeom>
          <a:solidFill>
            <a:srgbClr val="F0FBF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82312" y="2432304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82312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129784" y="2395728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9784" y="23957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035040" y="2395728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→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6355080" y="2395728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55080" y="23957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Cache ✅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278624" y="241401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요청 전송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782312" y="3090672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82312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129784" y="3054096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29784" y="30540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Cache ✅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035040" y="3054096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←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6355080" y="3054096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55080" y="30540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278624" y="30723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⚡ 즉시 응답! (서버 불필요)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074920" y="3014682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82" name="Text 80"/>
          <p:cNvSpPr/>
          <p:nvPr/>
        </p:nvSpPr>
        <p:spPr>
          <a:xfrm>
            <a:off x="5074920" y="3639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BEC5"/>
                </a:solidFill>
              </a:rPr>
              <a:t>Server 접근 없음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074920" y="3931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46E7A"/>
                </a:solidFill>
              </a:rPr>
              <a:t>서버 부하 0  /  응답 속도 매우 빠름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773168" y="4553712"/>
            <a:ext cx="3977640" cy="310896"/>
          </a:xfrm>
          <a:prstGeom prst="roundRect">
            <a:avLst>
              <a:gd name="adj" fmla="val 17647"/>
            </a:avLst>
          </a:prstGeom>
          <a:solidFill>
            <a:srgbClr val="E5F7E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64608" y="45720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⚡ 즉시 응답  →  빠름!  서버 부하 0  /  네트워크 절약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526280" y="1865376"/>
            <a:ext cx="0" cy="3035808"/>
          </a:xfrm>
          <a:prstGeom prst="line">
            <a:avLst/>
          </a:prstGeom>
          <a:noFill/>
          <a:ln w="12700">
            <a:solidFill>
              <a:srgbClr val="B0BEC5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8046720" y="4873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8 / 11</a:t>
            </a:r>
            <a:endParaRPr lang="en-US" sz="900" dirty="0"/>
          </a:p>
        </p:txBody>
      </p:sp>
      <p:sp>
        <p:nvSpPr>
          <p:cNvPr id="88" name="Shape 22"/>
          <p:cNvSpPr/>
          <p:nvPr/>
        </p:nvSpPr>
        <p:spPr>
          <a:xfrm>
            <a:off x="274320" y="1883664"/>
            <a:ext cx="416052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9" name="Text 23"/>
          <p:cNvSpPr/>
          <p:nvPr/>
        </p:nvSpPr>
        <p:spPr>
          <a:xfrm>
            <a:off x="274320" y="188366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Cache MISS  —  첫 번째 요청</a:t>
            </a:r>
            <a:endParaRPr lang="en-US" sz="1200" dirty="0"/>
          </a:p>
        </p:txBody>
      </p:sp>
      <p:sp>
        <p:nvSpPr>
          <p:cNvPr id="90" name="Shape 24"/>
          <p:cNvSpPr/>
          <p:nvPr/>
        </p:nvSpPr>
        <p:spPr>
          <a:xfrm>
            <a:off x="274320" y="2231136"/>
            <a:ext cx="4160520" cy="2697480"/>
          </a:xfrm>
          <a:prstGeom prst="rect">
            <a:avLst/>
          </a:prstGeom>
          <a:solidFill>
            <a:srgbClr val="FFF8F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1" name="Shape 25"/>
          <p:cNvSpPr/>
          <p:nvPr/>
        </p:nvSpPr>
        <p:spPr>
          <a:xfrm>
            <a:off x="365760" y="2340864"/>
            <a:ext cx="877824" cy="402336"/>
          </a:xfrm>
          <a:prstGeom prst="roundRect">
            <a:avLst>
              <a:gd name="adj" fmla="val 1590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2" name="Text 26"/>
          <p:cNvSpPr/>
          <p:nvPr/>
        </p:nvSpPr>
        <p:spPr>
          <a:xfrm>
            <a:off x="365760" y="2340864"/>
            <a:ext cx="877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</a:t>
            </a:r>
            <a:endParaRPr lang="en-US" sz="1100" dirty="0"/>
          </a:p>
        </p:txBody>
      </p:sp>
      <p:sp>
        <p:nvSpPr>
          <p:cNvPr id="93" name="Shape 27"/>
          <p:cNvSpPr/>
          <p:nvPr/>
        </p:nvSpPr>
        <p:spPr>
          <a:xfrm>
            <a:off x="1664208" y="2340864"/>
            <a:ext cx="877824" cy="402336"/>
          </a:xfrm>
          <a:prstGeom prst="roundRect">
            <a:avLst>
              <a:gd name="adj" fmla="val 1590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4" name="Text 28"/>
          <p:cNvSpPr/>
          <p:nvPr/>
        </p:nvSpPr>
        <p:spPr>
          <a:xfrm>
            <a:off x="1664208" y="2340864"/>
            <a:ext cx="877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Cache</a:t>
            </a:r>
            <a:endParaRPr lang="en-US" sz="1100" dirty="0"/>
          </a:p>
        </p:txBody>
      </p:sp>
      <p:sp>
        <p:nvSpPr>
          <p:cNvPr id="95" name="Shape 29"/>
          <p:cNvSpPr/>
          <p:nvPr/>
        </p:nvSpPr>
        <p:spPr>
          <a:xfrm>
            <a:off x="3054096" y="2340864"/>
            <a:ext cx="877824" cy="402336"/>
          </a:xfrm>
          <a:prstGeom prst="roundRect">
            <a:avLst>
              <a:gd name="adj" fmla="val 15909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6" name="Text 30"/>
          <p:cNvSpPr/>
          <p:nvPr/>
        </p:nvSpPr>
        <p:spPr>
          <a:xfrm>
            <a:off x="3054096" y="2340864"/>
            <a:ext cx="877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</a:t>
            </a:r>
            <a:endParaRPr lang="en-US" sz="1100" dirty="0"/>
          </a:p>
        </p:txBody>
      </p:sp>
      <p:sp>
        <p:nvSpPr>
          <p:cNvPr id="97" name="Shape 31"/>
          <p:cNvSpPr/>
          <p:nvPr/>
        </p:nvSpPr>
        <p:spPr>
          <a:xfrm>
            <a:off x="804672" y="2743200"/>
            <a:ext cx="0" cy="2011680"/>
          </a:xfrm>
          <a:prstGeom prst="line">
            <a:avLst/>
          </a:prstGeom>
          <a:noFill/>
          <a:ln w="15240">
            <a:solidFill>
              <a:srgbClr val="B0BEC5"/>
            </a:solidFill>
            <a:prstDash val="sysDash"/>
          </a:ln>
        </p:spPr>
      </p:sp>
      <p:sp>
        <p:nvSpPr>
          <p:cNvPr id="98" name="Shape 32"/>
          <p:cNvSpPr/>
          <p:nvPr/>
        </p:nvSpPr>
        <p:spPr>
          <a:xfrm>
            <a:off x="2103120" y="2743200"/>
            <a:ext cx="0" cy="2011680"/>
          </a:xfrm>
          <a:prstGeom prst="line">
            <a:avLst/>
          </a:prstGeom>
          <a:noFill/>
          <a:ln w="15240">
            <a:solidFill>
              <a:srgbClr val="B0BEC5"/>
            </a:solidFill>
            <a:prstDash val="sysDash"/>
          </a:ln>
        </p:spPr>
      </p:sp>
      <p:sp>
        <p:nvSpPr>
          <p:cNvPr id="99" name="Shape 33"/>
          <p:cNvSpPr/>
          <p:nvPr/>
        </p:nvSpPr>
        <p:spPr>
          <a:xfrm>
            <a:off x="3493008" y="2743200"/>
            <a:ext cx="0" cy="2011680"/>
          </a:xfrm>
          <a:prstGeom prst="line">
            <a:avLst/>
          </a:prstGeom>
          <a:noFill/>
          <a:ln w="15240">
            <a:solidFill>
              <a:srgbClr val="B0BEC5"/>
            </a:solidFill>
            <a:prstDash val="sysDash"/>
          </a:ln>
        </p:spPr>
      </p:sp>
      <p:sp>
        <p:nvSpPr>
          <p:cNvPr id="100" name="Shape 34"/>
          <p:cNvSpPr/>
          <p:nvPr/>
        </p:nvSpPr>
        <p:spPr>
          <a:xfrm>
            <a:off x="804672" y="2907792"/>
            <a:ext cx="1298448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1" name="Text 35"/>
          <p:cNvSpPr/>
          <p:nvPr/>
        </p:nvSpPr>
        <p:spPr>
          <a:xfrm>
            <a:off x="1901952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65C0"/>
                </a:solidFill>
              </a:rPr>
              <a:t>▶</a:t>
            </a:r>
            <a:endParaRPr lang="en-US" sz="1200" dirty="0"/>
          </a:p>
        </p:txBody>
      </p:sp>
      <p:sp>
        <p:nvSpPr>
          <p:cNvPr id="102" name="Text 36"/>
          <p:cNvSpPr/>
          <p:nvPr/>
        </p:nvSpPr>
        <p:spPr>
          <a:xfrm>
            <a:off x="804672" y="2708514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65C0"/>
                </a:solidFill>
              </a:rPr>
              <a:t>① 요청  GET /users</a:t>
            </a:r>
            <a:endParaRPr lang="en-US" sz="850" dirty="0"/>
          </a:p>
        </p:txBody>
      </p:sp>
      <p:sp>
        <p:nvSpPr>
          <p:cNvPr id="103" name="Shape 37"/>
          <p:cNvSpPr/>
          <p:nvPr/>
        </p:nvSpPr>
        <p:spPr>
          <a:xfrm>
            <a:off x="2103120" y="3291840"/>
            <a:ext cx="1389888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4" name="Text 38"/>
          <p:cNvSpPr/>
          <p:nvPr/>
        </p:nvSpPr>
        <p:spPr>
          <a:xfrm>
            <a:off x="329184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2828"/>
                </a:solidFill>
              </a:rPr>
              <a:t>▶</a:t>
            </a:r>
            <a:endParaRPr lang="en-US" sz="1200" dirty="0"/>
          </a:p>
        </p:txBody>
      </p:sp>
      <p:sp>
        <p:nvSpPr>
          <p:cNvPr id="105" name="Text 39"/>
          <p:cNvSpPr/>
          <p:nvPr/>
        </p:nvSpPr>
        <p:spPr>
          <a:xfrm>
            <a:off x="2103120" y="3035808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62828"/>
                </a:solidFill>
              </a:rPr>
              <a:t>② MISS → 서버로 전달</a:t>
            </a:r>
            <a:endParaRPr lang="en-US" sz="850" dirty="0"/>
          </a:p>
        </p:txBody>
      </p:sp>
      <p:sp>
        <p:nvSpPr>
          <p:cNvPr id="106" name="Shape 40"/>
          <p:cNvSpPr/>
          <p:nvPr/>
        </p:nvSpPr>
        <p:spPr>
          <a:xfrm>
            <a:off x="3611880" y="3136392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7" name="Text 41"/>
          <p:cNvSpPr/>
          <p:nvPr/>
        </p:nvSpPr>
        <p:spPr>
          <a:xfrm>
            <a:off x="3611880" y="31363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❌ 캐시없음</a:t>
            </a:r>
            <a:endParaRPr lang="en-US" sz="800" dirty="0"/>
          </a:p>
        </p:txBody>
      </p:sp>
      <p:sp>
        <p:nvSpPr>
          <p:cNvPr id="108" name="Shape 42"/>
          <p:cNvSpPr/>
          <p:nvPr/>
        </p:nvSpPr>
        <p:spPr>
          <a:xfrm>
            <a:off x="2103120" y="3685032"/>
            <a:ext cx="1389888" cy="3657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9" name="Text 43"/>
          <p:cNvSpPr/>
          <p:nvPr/>
        </p:nvSpPr>
        <p:spPr>
          <a:xfrm>
            <a:off x="2023032" y="35702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838F"/>
                </a:solidFill>
              </a:rPr>
              <a:t>◀</a:t>
            </a:r>
            <a:endParaRPr lang="en-US" sz="1200" dirty="0"/>
          </a:p>
        </p:txBody>
      </p:sp>
      <p:sp>
        <p:nvSpPr>
          <p:cNvPr id="110" name="Text 44"/>
          <p:cNvSpPr/>
          <p:nvPr/>
        </p:nvSpPr>
        <p:spPr>
          <a:xfrm>
            <a:off x="2103120" y="3429000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38F"/>
                </a:solidFill>
              </a:rPr>
              <a:t>③ 응답 200 OK + 데이터</a:t>
            </a:r>
            <a:endParaRPr lang="en-US" sz="850" dirty="0"/>
          </a:p>
        </p:txBody>
      </p:sp>
      <p:sp>
        <p:nvSpPr>
          <p:cNvPr id="111" name="Shape 45"/>
          <p:cNvSpPr/>
          <p:nvPr/>
        </p:nvSpPr>
        <p:spPr>
          <a:xfrm>
            <a:off x="3611880" y="3529584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2" name="Text 46"/>
          <p:cNvSpPr/>
          <p:nvPr/>
        </p:nvSpPr>
        <p:spPr>
          <a:xfrm>
            <a:off x="3611880" y="35295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✅ 캐시저장</a:t>
            </a:r>
            <a:endParaRPr lang="en-US" sz="800" dirty="0"/>
          </a:p>
        </p:txBody>
      </p:sp>
      <p:sp>
        <p:nvSpPr>
          <p:cNvPr id="113" name="Shape 47"/>
          <p:cNvSpPr/>
          <p:nvPr/>
        </p:nvSpPr>
        <p:spPr>
          <a:xfrm>
            <a:off x="804672" y="4078224"/>
            <a:ext cx="1298448" cy="365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4" name="Text 48"/>
          <p:cNvSpPr/>
          <p:nvPr/>
        </p:nvSpPr>
        <p:spPr>
          <a:xfrm>
            <a:off x="749808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32"/>
                </a:solidFill>
              </a:rPr>
              <a:t>◀</a:t>
            </a:r>
            <a:endParaRPr lang="en-US" sz="1200" dirty="0"/>
          </a:p>
        </p:txBody>
      </p:sp>
      <p:sp>
        <p:nvSpPr>
          <p:cNvPr id="115" name="Text 49"/>
          <p:cNvSpPr/>
          <p:nvPr/>
        </p:nvSpPr>
        <p:spPr>
          <a:xfrm>
            <a:off x="804672" y="3822192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④ 응답 전달</a:t>
            </a:r>
            <a:endParaRPr lang="en-US" sz="850" dirty="0"/>
          </a:p>
        </p:txBody>
      </p:sp>
      <p:sp>
        <p:nvSpPr>
          <p:cNvPr id="116" name="Shape 50"/>
          <p:cNvSpPr/>
          <p:nvPr/>
        </p:nvSpPr>
        <p:spPr>
          <a:xfrm>
            <a:off x="3611880" y="3922776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7" name="Text 51"/>
          <p:cNvSpPr/>
          <p:nvPr/>
        </p:nvSpPr>
        <p:spPr>
          <a:xfrm>
            <a:off x="3611880" y="39227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♻ 재사용가능</a:t>
            </a:r>
            <a:endParaRPr lang="en-US" sz="800" dirty="0"/>
          </a:p>
        </p:txBody>
      </p:sp>
      <p:sp>
        <p:nvSpPr>
          <p:cNvPr id="118" name="Shape 52"/>
          <p:cNvSpPr/>
          <p:nvPr/>
        </p:nvSpPr>
        <p:spPr>
          <a:xfrm>
            <a:off x="731520" y="2743200"/>
            <a:ext cx="146304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9" name="Shape 53"/>
          <p:cNvSpPr/>
          <p:nvPr/>
        </p:nvSpPr>
        <p:spPr>
          <a:xfrm>
            <a:off x="2029968" y="3063240"/>
            <a:ext cx="146304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0" name="Shape 54"/>
          <p:cNvSpPr/>
          <p:nvPr/>
        </p:nvSpPr>
        <p:spPr>
          <a:xfrm>
            <a:off x="3419856" y="3273552"/>
            <a:ext cx="146304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1" name="Shape 55"/>
          <p:cNvSpPr/>
          <p:nvPr/>
        </p:nvSpPr>
        <p:spPr>
          <a:xfrm>
            <a:off x="731520" y="4059936"/>
            <a:ext cx="146304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2" name="Shape 56"/>
          <p:cNvSpPr/>
          <p:nvPr/>
        </p:nvSpPr>
        <p:spPr>
          <a:xfrm>
            <a:off x="347472" y="4553712"/>
            <a:ext cx="3977640" cy="310896"/>
          </a:xfrm>
          <a:prstGeom prst="roundRect">
            <a:avLst>
              <a:gd name="adj" fmla="val 17647"/>
            </a:avLst>
          </a:prstGeom>
          <a:solidFill>
            <a:srgbClr val="FFF0E8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3" name="Text 57"/>
          <p:cNvSpPr/>
          <p:nvPr/>
        </p:nvSpPr>
        <p:spPr>
          <a:xfrm>
            <a:off x="438912" y="45720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</a:rPr>
              <a:t>⏱ 서버까지 왕복 → 상대적으로 느림.  단, Cache에 저장 완료!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83407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4.1 Cache-Control </a:t>
            </a:r>
            <a:r>
              <a:rPr lang="en-US" sz="1600" b="1" dirty="0">
                <a:solidFill>
                  <a:srgbClr val="FFFFFF"/>
                </a:solidFill>
              </a:rPr>
              <a:t>헤더 지시어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</a:rPr>
              <a:t>서버는 응답 헤더에 Cache-Control을 포함해 브라우저와 중간 캐시의 동작을 지시합니다.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509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</a:rPr>
              <a:t>HTTP 응답 헤더 예: </a:t>
            </a:r>
            <a:r>
              <a:rPr lang="en-US" sz="115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</a:t>
            </a:r>
            <a:r>
              <a:rPr lang="en-US" sz="115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max-age=3600, private, must-revalidate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45920"/>
            <a:ext cx="2743200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538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472184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max-age=N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</a:rPr>
              <a:t>캐시 유효 시간 설정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0574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N초 동안 캐시 유효.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max-age=86400 → 24시간 캐시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" y="2514600"/>
            <a:ext cx="2596896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53288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📌 정적 리소스 (이미지, CSS, JS)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41732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645920"/>
            <a:ext cx="2743200" cy="118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4538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11880" y="1472184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no-cache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1801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매번 서버에 검증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0574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캐시는 저장하지만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사용 전 서버에 변경 여부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27832" y="2514600"/>
            <a:ext cx="2596896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253288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5100"/>
                </a:solidFill>
              </a:rPr>
              <a:t>📌 자주 바뀌는 HTML, API 응답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141732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645920"/>
            <a:ext cx="2743200" cy="118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4538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6520" y="1472184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no-store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1801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캐시 저장 완전 금지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0760" y="20574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어떤 캐시도 응답을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저장하지 않음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62472" y="2514600"/>
            <a:ext cx="2596896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253288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2828"/>
                </a:solidFill>
              </a:rPr>
              <a:t>📌 로그인 정보, 결제 데이터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294436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2944368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172968"/>
            <a:ext cx="2743200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98094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7240" y="299923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328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개인(브라우저)만 캐시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1480" y="35844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브라우저는 캐시 가능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프록시 등 중간 서버는 저장 불가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3192" y="4041648"/>
            <a:ext cx="2596896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" y="40599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</a:rPr>
              <a:t>📌 로그인 후 사용자 전용 페이지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54680" y="294436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0F7FA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4680" y="2944368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54680" y="3172968"/>
            <a:ext cx="2743200" cy="1188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298094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611880" y="299923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46120" y="3328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38F"/>
                </a:solidFill>
              </a:rPr>
              <a:t>모든 캐시에 저장 허용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46120" y="35844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브라우저 + CDN + 프록시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모두 캐시 가능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27832" y="4041648"/>
            <a:ext cx="2596896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64408" y="40599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38F"/>
                </a:solidFill>
              </a:rPr>
              <a:t>📌 공개 이미지, CSS, 공통 JS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89320" y="2944368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DE7F6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2944368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512DA8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3172968"/>
            <a:ext cx="2743200" cy="118872"/>
          </a:xfrm>
          <a:prstGeom prst="rect">
            <a:avLst/>
          </a:prstGeom>
          <a:solidFill>
            <a:srgbClr val="512DA8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0760" y="298094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46520" y="299923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must-revalidate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080760" y="3328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12DA8"/>
                </a:solidFill>
              </a:rPr>
              <a:t>만료 후 반드시 재검증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080760" y="358444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캐시 만료 시 반드시 서버에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2342"/>
                </a:solidFill>
              </a:rPr>
              <a:t>확인 후 사용 (stale 사용 금지)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62472" y="4041648"/>
            <a:ext cx="2596896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99048" y="40599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12DA8"/>
                </a:solidFill>
              </a:rPr>
              <a:t>📌 정확성이 중요한 데이터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046720" y="4873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9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18336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4.2 </a:t>
            </a:r>
            <a:r>
              <a:rPr lang="en-US" sz="1600" b="1" dirty="0" err="1" smtClean="0">
                <a:solidFill>
                  <a:srgbClr val="FFFFFF"/>
                </a:solidFill>
              </a:rPr>
              <a:t>실무</a:t>
            </a:r>
            <a:r>
              <a:rPr lang="en-US" sz="1600" b="1" dirty="0" smtClean="0">
                <a:solidFill>
                  <a:srgbClr val="FFFFFF"/>
                </a:solidFill>
              </a:rPr>
              <a:t> </a:t>
            </a:r>
            <a:r>
              <a:rPr lang="en-US" sz="1600" b="1" dirty="0">
                <a:solidFill>
                  <a:srgbClr val="FFFFFF"/>
                </a:solidFill>
              </a:rPr>
              <a:t>Cache-Control 전략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콘텐츠 유형에 따라 적절한 Cache-Control 전략을 선택합니다. 잘못된 캐싱은 오래된 데이터 노출이나 보안 문제를 유발합니다.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9264"/>
            <a:ext cx="4160520" cy="996696"/>
          </a:xfrm>
          <a:prstGeom prst="roundRect">
            <a:avLst>
              <a:gd name="adj" fmla="val 6422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9264"/>
            <a:ext cx="54864" cy="9966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42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042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HTML 페이지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042416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042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재검증 필수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344168"/>
            <a:ext cx="3959352" cy="256032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62456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no-cache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1627632"/>
            <a:ext cx="3959352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항상 최신 HTML을 확인해야 하므로 매번 서버 검증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07992" y="969264"/>
            <a:ext cx="4160520" cy="996696"/>
          </a:xfrm>
          <a:prstGeom prst="roundRect">
            <a:avLst>
              <a:gd name="adj" fmla="val 6422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7992" y="969264"/>
            <a:ext cx="54864" cy="9966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42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1042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CSS / JS  (해시 파일명)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05472" y="1042416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042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장기 캐시 (1년)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1344168"/>
            <a:ext cx="3959352" cy="256032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362456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max-age=31536000, immutable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627632"/>
            <a:ext cx="3959352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파일명에 해시 포함 시 변경되면 새 URL → 1년 캐시 안전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057400"/>
            <a:ext cx="4160520" cy="996696"/>
          </a:xfrm>
          <a:prstGeom prst="roundRect">
            <a:avLst>
              <a:gd name="adj" fmla="val 6422"/>
            </a:avLst>
          </a:prstGeom>
          <a:solidFill>
            <a:srgbClr val="E0F7FA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057400"/>
            <a:ext cx="54864" cy="9966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130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9808" y="2130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이미지 / 폰트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71800" y="2130552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213055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중기 캐시 (1일)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2432304"/>
            <a:ext cx="3959352" cy="256032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450592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max-age=86400, public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2715768"/>
            <a:ext cx="3959352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자주 변경되지 않으므로 CDN + 브라우저 모두 1일 캐시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07992" y="2057400"/>
            <a:ext cx="4160520" cy="996696"/>
          </a:xfrm>
          <a:prstGeom prst="roundRect">
            <a:avLst>
              <a:gd name="adj" fmla="val 6422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7992" y="2057400"/>
            <a:ext cx="54864" cy="9966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130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983480" y="2130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API 응답 (공개 데이터)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05472" y="2130552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213055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단기 캐시 (60초)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17720" y="2432304"/>
            <a:ext cx="3959352" cy="256032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72584" y="2450592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max-age=60, must-revalidate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17720" y="2715768"/>
            <a:ext cx="3959352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짧은 시간 캐시 후 반드시 재검증. 60초 내 중복 요청 절감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145536"/>
            <a:ext cx="4160520" cy="996696"/>
          </a:xfrm>
          <a:prstGeom prst="roundRect">
            <a:avLst>
              <a:gd name="adj" fmla="val 6422"/>
            </a:avLst>
          </a:prstGeom>
          <a:solidFill>
            <a:srgbClr val="EDE7F6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145536"/>
            <a:ext cx="54864" cy="996696"/>
          </a:xfrm>
          <a:prstGeom prst="rect">
            <a:avLst/>
          </a:prstGeom>
          <a:solidFill>
            <a:srgbClr val="512DA8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218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49808" y="3218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2DA8"/>
                </a:solidFill>
              </a:rPr>
              <a:t>로그인 사용자 데이터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971800" y="3218688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512DA8"/>
          </a:solidFill>
          <a:ln w="12700">
            <a:solidFill>
              <a:srgbClr val="512D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71800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개인 캐시 (5분)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4048" y="3520440"/>
            <a:ext cx="3959352" cy="256032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538728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private, max-age=300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4048" y="3803904"/>
            <a:ext cx="3959352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브라우저만 캐시. CDN·프록시는 저장 불가. 5분 유효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07992" y="3145536"/>
            <a:ext cx="4160520" cy="996696"/>
          </a:xfrm>
          <a:prstGeom prst="roundRect">
            <a:avLst>
              <a:gd name="adj" fmla="val 6422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07992" y="3145536"/>
            <a:ext cx="54864" cy="9966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3218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983480" y="3218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금융 / 민감 정보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05472" y="3218688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캐시 금지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17720" y="3520440"/>
            <a:ext cx="3959352" cy="256032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72584" y="3538728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no-store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617720" y="3803904"/>
            <a:ext cx="3959352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어떤 캐시에도 절대 저장하지 않음. 항상 서버에서 직접 응답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4389120"/>
            <a:ext cx="8595360" cy="502920"/>
          </a:xfrm>
          <a:prstGeom prst="roundRect">
            <a:avLst>
              <a:gd name="adj" fmla="val 12727"/>
            </a:avLst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4074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💡 핵심 원칙: 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417320" y="4425696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</a:rPr>
              <a:t>① 정적 파일(해시) </a:t>
            </a:r>
            <a:r>
              <a:rPr lang="en-US" sz="1050" dirty="0">
                <a:solidFill>
                  <a:srgbClr val="546E7A"/>
                </a:solidFill>
              </a:rPr>
              <a:t>→ 최대한 길게  |  </a:t>
            </a:r>
            <a:r>
              <a:rPr lang="en-US" sz="1050" b="1" dirty="0">
                <a:solidFill>
                  <a:srgbClr val="E65100"/>
                </a:solidFill>
              </a:rPr>
              <a:t>② 동적 데이터 </a:t>
            </a:r>
            <a:r>
              <a:rPr lang="en-US" sz="1050" dirty="0">
                <a:solidFill>
                  <a:srgbClr val="546E7A"/>
                </a:solidFill>
              </a:rPr>
              <a:t>→ no-cache 또는 짧게  |  </a:t>
            </a:r>
            <a:r>
              <a:rPr lang="en-US" sz="1050" b="1" dirty="0">
                <a:solidFill>
                  <a:srgbClr val="C62828"/>
                </a:solidFill>
              </a:rPr>
              <a:t>③ 개인/민감 정보 </a:t>
            </a:r>
            <a:r>
              <a:rPr lang="en-US" sz="1050" dirty="0">
                <a:solidFill>
                  <a:srgbClr val="546E7A"/>
                </a:solidFill>
              </a:rPr>
              <a:t>→ private 또는 no-store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046720" y="4873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10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43507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5.  </a:t>
            </a:r>
            <a:r>
              <a:rPr lang="en-US" sz="1600" b="1" dirty="0">
                <a:solidFill>
                  <a:srgbClr val="FFFFFF"/>
                </a:solidFill>
              </a:rPr>
              <a:t>REST 설계 베스트 프랙티스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206240" cy="1325880"/>
          </a:xfrm>
          <a:prstGeom prst="rect">
            <a:avLst/>
          </a:prstGeom>
          <a:solidFill>
            <a:srgbClr val="F4F8FB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7955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URI에 동사 사용 금지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HTTP 메서드가 동작을 표현. URI는 명사(리소스)만 사용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685800"/>
            <a:ext cx="4206240" cy="1325880"/>
          </a:xfrm>
          <a:prstGeom prst="rect">
            <a:avLst/>
          </a:prstGeom>
          <a:solidFill>
            <a:srgbClr val="F4F8FB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7955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복수 명사 사용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2161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/user/1 ❌  →  /users/1 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4206240" cy="1325880"/>
          </a:xfrm>
          <a:prstGeom prst="rect">
            <a:avLst/>
          </a:prstGeom>
          <a:solidFill>
            <a:srgbClr val="F4F8FB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2585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민감 정보를 URI에 넣지 말 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7919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비밀번호·토큰은 Request Body 또는 Header로 전달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206240" cy="1325880"/>
          </a:xfrm>
          <a:prstGeom prst="rect">
            <a:avLst/>
          </a:prstGeom>
          <a:solidFill>
            <a:srgbClr val="F4F8FB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2585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적절한 HTTP 상태 코드 사용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67919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200·201·400·404·500 등 상황에 맞는 코드 반환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206240" cy="1325880"/>
          </a:xfrm>
          <a:prstGeom prst="rect">
            <a:avLst/>
          </a:prstGeom>
          <a:solidFill>
            <a:srgbClr val="F4F8FB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37216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입력값 유효성 검사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14223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서버에서 반드시 검증. SQL Injection 등 공격 방어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206240" cy="1325880"/>
          </a:xfrm>
          <a:prstGeom prst="rect">
            <a:avLst/>
          </a:prstGeom>
          <a:solidFill>
            <a:srgbClr val="F4F8FB"/>
          </a:solidFill>
          <a:ln w="1270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7216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JSON을 기본 형식으로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414223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Content-Type: application/json 명시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1 핵심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001112"/>
            <a:ext cx="13716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11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103768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HTTP 기반 아키텍처 스타일. Resource + Method + Message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549752"/>
            <a:ext cx="1371600" cy="438912"/>
          </a:xfrm>
          <a:prstGeom prst="rect">
            <a:avLst/>
          </a:prstGeom>
          <a:solidFill>
            <a:srgbClr val="00B050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49752"/>
            <a:ext cx="1371600" cy="438912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 Methods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58632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GET(조회) · POST(생성) · PUT(수정) · DELETE(삭제)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098392"/>
            <a:ext cx="1371600" cy="438912"/>
          </a:xfrm>
          <a:prstGeom prst="rect">
            <a:avLst/>
          </a:prstGeom>
          <a:solidFill>
            <a:srgbClr val="00B050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98392"/>
            <a:ext cx="1371600" cy="438912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URI 설계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13496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복수 명사, 소문자, 동사 금지, 계층 구조 표현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647032"/>
            <a:ext cx="1371600" cy="438912"/>
          </a:xfrm>
          <a:prstGeom prst="rect">
            <a:avLst/>
          </a:prstGeom>
          <a:solidFill>
            <a:srgbClr val="00B050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47032"/>
            <a:ext cx="1371600" cy="438912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 Message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68360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Request(Method·URI·Header·Body) + Response(Status·Header·Body)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195672"/>
            <a:ext cx="13716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95672"/>
            <a:ext cx="1371600" cy="438912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323224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REST API의 표준 데이터 형식. key:value 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744312"/>
            <a:ext cx="1371600" cy="438912"/>
          </a:xfrm>
          <a:prstGeom prst="rect">
            <a:avLst/>
          </a:prstGeom>
          <a:solidFill>
            <a:srgbClr val="FFC000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443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Statelessness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378088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서버는 상태 저장 안 함 → JWT 토큰 방식 권장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292952"/>
            <a:ext cx="1371600" cy="438912"/>
          </a:xfrm>
          <a:prstGeom prst="rect">
            <a:avLst/>
          </a:prstGeom>
          <a:solidFill>
            <a:srgbClr val="0070C0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929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432952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Cache-Control 헤더로 성능 최적화 (max-age, no-store 등)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74069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838F"/>
                </a:solidFill>
              </a:rPr>
              <a:t>Part 2에서는 Spring Framework로 REST API를 </a:t>
            </a:r>
            <a:r>
              <a:rPr lang="en-US" sz="1200" i="1" dirty="0" err="1">
                <a:solidFill>
                  <a:srgbClr val="00838F"/>
                </a:solidFill>
              </a:rPr>
              <a:t>직접</a:t>
            </a:r>
            <a:r>
              <a:rPr lang="en-US" sz="1200" i="1" dirty="0">
                <a:solidFill>
                  <a:srgbClr val="00838F"/>
                </a:solidFill>
              </a:rPr>
              <a:t> </a:t>
            </a:r>
            <a:r>
              <a:rPr lang="en-US" sz="1200" i="1" dirty="0" err="1" smtClean="0">
                <a:solidFill>
                  <a:srgbClr val="00838F"/>
                </a:solidFill>
              </a:rPr>
              <a:t>구현합니다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1950</Words>
  <Application>Microsoft Office PowerPoint</Application>
  <PresentationFormat>화면 슬라이드 쇼(16:9)</PresentationFormat>
  <Paragraphs>469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개론 - Part 1</dc:title>
  <dc:subject>PptxGenJS Presentation</dc:subject>
  <dc:creator>PptxGenJS</dc:creator>
  <cp:lastModifiedBy>Hansung</cp:lastModifiedBy>
  <cp:revision>12</cp:revision>
  <dcterms:created xsi:type="dcterms:W3CDTF">2026-04-19T03:08:35Z</dcterms:created>
  <dcterms:modified xsi:type="dcterms:W3CDTF">2026-04-19T05:12:34Z</dcterms:modified>
</cp:coreProperties>
</file>