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75" r:id="rId4"/>
    <p:sldId id="259" r:id="rId5"/>
    <p:sldId id="271" r:id="rId6"/>
    <p:sldId id="272" r:id="rId7"/>
    <p:sldId id="273" r:id="rId8"/>
    <p:sldId id="260" r:id="rId9"/>
    <p:sldId id="276" r:id="rId10"/>
    <p:sldId id="261" r:id="rId11"/>
    <p:sldId id="278" r:id="rId12"/>
    <p:sldId id="279" r:id="rId13"/>
    <p:sldId id="262" r:id="rId14"/>
    <p:sldId id="263" r:id="rId15"/>
    <p:sldId id="280" r:id="rId16"/>
    <p:sldId id="281" r:id="rId17"/>
    <p:sldId id="282" r:id="rId18"/>
    <p:sldId id="266" r:id="rId19"/>
    <p:sldId id="267" r:id="rId20"/>
    <p:sldId id="268" r:id="rId21"/>
    <p:sldId id="284" r:id="rId22"/>
    <p:sldId id="270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878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97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98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8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03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45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34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07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247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051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663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109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6583680" y="731520"/>
            <a:ext cx="2194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 (Overview)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2423160"/>
            <a:ext cx="32004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5603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→ Spring Boot 4.x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22960" y="3703320"/>
            <a:ext cx="146304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703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Java 21 LTS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423160" y="3703320"/>
            <a:ext cx="1463040" cy="274320"/>
          </a:xfrm>
          <a:prstGeom prst="rect">
            <a:avLst/>
          </a:prstGeom>
          <a:solidFill>
            <a:srgbClr val="4A8427"/>
          </a:solidFill>
          <a:ln/>
        </p:spPr>
      </p:sp>
      <p:sp>
        <p:nvSpPr>
          <p:cNvPr id="13" name="Text 10"/>
          <p:cNvSpPr/>
          <p:nvPr/>
        </p:nvSpPr>
        <p:spPr>
          <a:xfrm>
            <a:off x="2423160" y="3703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Spring Boot 4.0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023360" y="3703320"/>
            <a:ext cx="14630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4023360" y="3703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Jakarta EE 11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Spring Boot란?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040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Framework를 더 빠르고 쉽게 시작하기 위한 도구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7315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87552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"Takes an opinionated approach to building Spring applications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helps you get up and running as quickly as possible"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26060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2231136"/>
            <a:ext cx="512064" cy="51206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" y="2320747"/>
            <a:ext cx="332842" cy="33284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22128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최소한의 설정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54203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Configuration으로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설정 제거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46120" y="187452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46120" y="1874520"/>
            <a:ext cx="26060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74136" y="2231136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3747" y="2320747"/>
            <a:ext cx="332842" cy="33284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77640" y="22128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의존성 간소화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337560" y="254203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Starters로 버전 충돌 없이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 관리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35040" y="187452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35040" y="1874520"/>
            <a:ext cx="26060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63056" y="2231136"/>
            <a:ext cx="512064" cy="51206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2667" y="2320747"/>
            <a:ext cx="332842" cy="33284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66560" y="22128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 서버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126480" y="254203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Tomcat/Jetty 내장으로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설치 불필요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57200" y="33101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vs Spring Boot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530688"/>
              </p:ext>
            </p:extLst>
          </p:nvPr>
        </p:nvGraphicFramePr>
        <p:xfrm>
          <a:off x="457200" y="3611880"/>
          <a:ext cx="8229600" cy="13258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4.x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 방식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/ Java Config 직접 작성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Configuration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의존성 관리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버전 수동 지정 필요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spring-boot-starter-* 제공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 실행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별도 설치·배포 (WAR)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내장 Tomcat (JAR 실행)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버전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8 이상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17 이상 (권장 Java 21/25)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버전 현황  </a:t>
            </a:r>
            <a:r>
              <a:rPr lang="en-US" sz="2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(2026년 </a:t>
            </a:r>
            <a:r>
              <a:rPr lang="en-US" sz="2600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</a:t>
            </a:r>
            <a:r>
              <a:rPr lang="en-US" sz="2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버전 및 기술 요구사항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768096"/>
            <a:ext cx="832104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531059"/>
            <a:ext cx="809244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96112"/>
            <a:ext cx="1463040" cy="12618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96112"/>
            <a:ext cx="1463040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92354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2.7.x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" y="117043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389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8+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6367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5.3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18836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javax.*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1938528"/>
            <a:ext cx="7315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38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47318" y="2157984"/>
            <a:ext cx="25603" cy="2651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242316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5960" y="2926080"/>
            <a:ext cx="1463040" cy="12618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2926080"/>
            <a:ext cx="1463040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9112" y="29535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3911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2022.11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57400" y="34198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필수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57400" y="36667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6.0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57400" y="39136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jakarta.*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31720" y="3968496"/>
            <a:ext cx="7315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39684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684678" y="2660904"/>
            <a:ext cx="25603" cy="2651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78608" y="242316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03320" y="896112"/>
            <a:ext cx="1463040" cy="12618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896112"/>
            <a:ext cx="1463040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92354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76472" y="117043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2023.11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794760" y="1389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94760" y="16367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94760" y="18836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GraalVM GA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69080" y="1938528"/>
            <a:ext cx="7315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69080" y="1938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422038" y="2157984"/>
            <a:ext cx="25603" cy="2651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15968" y="242316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40680" y="2926080"/>
            <a:ext cx="1463040" cy="1261872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40680" y="2926080"/>
            <a:ext cx="146304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13832" y="29535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51383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2025.05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532120" y="34198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17+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32120" y="36667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6.3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32120" y="39136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59398" y="2660904"/>
            <a:ext cx="25603" cy="2651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53328" y="2423160"/>
            <a:ext cx="237744" cy="237744"/>
          </a:xfrm>
          <a:prstGeom prst="ellipse">
            <a:avLst/>
          </a:prstGeom>
          <a:solidFill>
            <a:srgbClr val="EA580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78040" y="896112"/>
            <a:ext cx="1463040" cy="1261872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178040" y="896112"/>
            <a:ext cx="14630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51192" y="92354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251192" y="117043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269480" y="1389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17+ / 25 지원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269480" y="16367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7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269480" y="18836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완전한 모듈화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415784" y="1920240"/>
            <a:ext cx="98755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15784" y="192024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최신 안정 버전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896758" y="2157984"/>
            <a:ext cx="25603" cy="2651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90688" y="2423160"/>
            <a:ext cx="237744" cy="237744"/>
          </a:xfrm>
          <a:prstGeom prst="ellipse">
            <a:avLst/>
          </a:prstGeom>
          <a:solidFill>
            <a:srgbClr val="16A34A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859268" y="2491740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39912" y="768096"/>
            <a:ext cx="530352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39912" y="76809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11480" y="4443984"/>
            <a:ext cx="8321040" cy="5486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1480" y="4443984"/>
            <a:ext cx="47549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2064" y="4443984"/>
            <a:ext cx="8174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Spring Boot 4.0 (최신) 필수 요구사항:  </a:t>
            </a: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이상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(Java 25 first-class)  |  Maven 3.6.3+ 또는 Gradle 8.x / 9.x  |  </a:t>
            </a: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7.0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12064" y="4718304"/>
            <a:ext cx="8174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Spring Boot 3.x 지원 현황:  </a:t>
            </a: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이하 EOL 완료  |  </a:t>
            </a: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3.5는 2026년 6월 지원 종료 예정 → Boot 4.0 마이그레이션 권장</a:t>
            </a:r>
            <a:endParaRPr lang="en-US" sz="980" dirty="0"/>
          </a:p>
        </p:txBody>
      </p:sp>
    </p:spTree>
    <p:extLst>
      <p:ext uri="{BB962C8B-B14F-4D97-AF65-F5344CB8AC3E}">
        <p14:creationId xmlns:p14="http://schemas.microsoft.com/office/powerpoint/2010/main" val="3259337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1-1. Auto Configuration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040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설정 문제를 해결하는 Spring Boot의 핵심 메커니즘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393192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393192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기존 Spring MVC의 문제점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43584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71016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DispatcherServlet 등록 (web.xml)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27632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ViewResolver, ComponentScan 설정 (servlet-context.xml)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984248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DataSource, EntityManagerFactory, TransactionManager 설정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313432"/>
            <a:ext cx="3931920" cy="32004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340864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새 프로젝트마다 동일한 설정 반복!</a:t>
            </a:r>
            <a:endParaRPr lang="en-US" sz="10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404872"/>
            <a:ext cx="365760" cy="3657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937760" y="987552"/>
            <a:ext cx="3840480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987552"/>
            <a:ext cx="384048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Spring Boot Auto Configuration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37760" y="1243584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47488" y="1271016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spring-webmvc → DispatcherServlet 자동 등록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937760" y="1600200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47488" y="1627632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-connector-j → DataSource 자동 설정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937760" y="1956816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47488" y="1984248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→ EntityManager 자동 구성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937760" y="2313432"/>
            <a:ext cx="3840480" cy="32004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47488" y="2340864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application.properties에 필요한 값만 입력!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760" y="27066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원리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65760" y="2962656"/>
            <a:ext cx="841248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30175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CLASSPATH 스캔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 Bean 등록 (@ConditionalOn*)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application.properties로 오버라이드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65760" y="3575303"/>
            <a:ext cx="8412480" cy="1479121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3632848"/>
            <a:ext cx="8138160" cy="1358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@SpringBootApplication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 @SpringBootConfiguration + </a:t>
            </a:r>
            <a:r>
              <a:rPr lang="en-US" sz="10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@EnableAutoConfiguration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@ComponentScan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(String[] args)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SpringApplication.</a:t>
            </a:r>
            <a:r>
              <a:rPr lang="en-US" sz="10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MyApp.class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args);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Configuration </a:t>
            </a:r>
            <a:r>
              <a:rPr lang="ko-KR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이유</a:t>
            </a:r>
            <a:endParaRPr lang="en-US" sz="2200" dirty="0"/>
          </a:p>
        </p:txBody>
      </p:sp>
      <p:sp>
        <p:nvSpPr>
          <p:cNvPr id="32" name="Text 4"/>
          <p:cNvSpPr/>
          <p:nvPr/>
        </p:nvSpPr>
        <p:spPr>
          <a:xfrm>
            <a:off x="347472" y="85039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Spring MVC — 매번 직접 작성해야 하는 설정들</a:t>
            </a:r>
            <a:endParaRPr lang="en-US" sz="1150" dirty="0"/>
          </a:p>
        </p:txBody>
      </p:sp>
      <p:sp>
        <p:nvSpPr>
          <p:cNvPr id="33" name="Shape 5"/>
          <p:cNvSpPr/>
          <p:nvPr/>
        </p:nvSpPr>
        <p:spPr>
          <a:xfrm>
            <a:off x="347472" y="1170432"/>
            <a:ext cx="2633472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6"/>
          <p:cNvSpPr/>
          <p:nvPr/>
        </p:nvSpPr>
        <p:spPr>
          <a:xfrm>
            <a:off x="402336" y="117957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web.xml</a:t>
            </a:r>
            <a:endParaRPr lang="en-US" sz="850" dirty="0"/>
          </a:p>
        </p:txBody>
      </p:sp>
      <p:sp>
        <p:nvSpPr>
          <p:cNvPr id="35" name="Shape 7"/>
          <p:cNvSpPr/>
          <p:nvPr/>
        </p:nvSpPr>
        <p:spPr>
          <a:xfrm>
            <a:off x="347472" y="1371600"/>
            <a:ext cx="2633472" cy="21762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8"/>
          <p:cNvSpPr/>
          <p:nvPr/>
        </p:nvSpPr>
        <p:spPr>
          <a:xfrm>
            <a:off x="420624" y="1408176"/>
            <a:ext cx="24871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&lt;servlet&gt;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&lt;servlet-name&gt;dispatcher&lt;/servlet-name&gt;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&lt;servlet-class&gt;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org.springframework.web.servlet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.DispatcherServlet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&lt;/servlet-class&gt;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&lt;load-on-startup&gt;1&lt;/load-on-startup&gt;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&lt;/servlet&gt;</a:t>
            </a:r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&lt;servlet-mapping&gt;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&lt;servlet-name&gt;dispatcher&lt;/servlet-name&gt;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&lt;url-pattern&gt;/&lt;/url-pattern&gt;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&lt;/servlet-mapping&gt;</a:t>
            </a:r>
            <a:endParaRPr lang="en-US" sz="750" dirty="0"/>
          </a:p>
        </p:txBody>
      </p:sp>
      <p:sp>
        <p:nvSpPr>
          <p:cNvPr id="37" name="Shape 9"/>
          <p:cNvSpPr/>
          <p:nvPr/>
        </p:nvSpPr>
        <p:spPr>
          <a:xfrm>
            <a:off x="3145536" y="1170432"/>
            <a:ext cx="2633472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10"/>
          <p:cNvSpPr/>
          <p:nvPr/>
        </p:nvSpPr>
        <p:spPr>
          <a:xfrm>
            <a:off x="3200400" y="117957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servlet-context.xml</a:t>
            </a:r>
            <a:endParaRPr lang="en-US" sz="850" dirty="0"/>
          </a:p>
        </p:txBody>
      </p:sp>
      <p:sp>
        <p:nvSpPr>
          <p:cNvPr id="39" name="Shape 11"/>
          <p:cNvSpPr/>
          <p:nvPr/>
        </p:nvSpPr>
        <p:spPr>
          <a:xfrm>
            <a:off x="3145536" y="1371600"/>
            <a:ext cx="2633472" cy="21762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12"/>
          <p:cNvSpPr/>
          <p:nvPr/>
        </p:nvSpPr>
        <p:spPr>
          <a:xfrm>
            <a:off x="3218688" y="1408176"/>
            <a:ext cx="24871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&lt;annotation-driven/&gt;</a:t>
            </a:r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&lt;context:component-scan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base-package="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kr.ac.hansung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"/&gt;</a:t>
            </a:r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&lt;beans:bean class="...InternalResourceViewResolver"&gt;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&lt;beans:property name="prefix"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value="/WEB-INF/views/"/&gt;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&lt;beans:property name="suffix" value=".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jsp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&lt;/beans:bean&gt;</a:t>
            </a:r>
            <a:endParaRPr lang="en-US" sz="750" dirty="0"/>
          </a:p>
        </p:txBody>
      </p:sp>
      <p:sp>
        <p:nvSpPr>
          <p:cNvPr id="41" name="Shape 13"/>
          <p:cNvSpPr/>
          <p:nvPr/>
        </p:nvSpPr>
        <p:spPr>
          <a:xfrm>
            <a:off x="5943600" y="1170432"/>
            <a:ext cx="2633472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14"/>
          <p:cNvSpPr/>
          <p:nvPr/>
        </p:nvSpPr>
        <p:spPr>
          <a:xfrm>
            <a:off x="5998464" y="117957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dao-context.xml  (MySQL)</a:t>
            </a:r>
            <a:endParaRPr lang="en-US" sz="850" dirty="0"/>
          </a:p>
        </p:txBody>
      </p:sp>
      <p:sp>
        <p:nvSpPr>
          <p:cNvPr id="43" name="Shape 15"/>
          <p:cNvSpPr/>
          <p:nvPr/>
        </p:nvSpPr>
        <p:spPr>
          <a:xfrm>
            <a:off x="5943600" y="1371600"/>
            <a:ext cx="2633472" cy="21762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16"/>
          <p:cNvSpPr/>
          <p:nvPr/>
        </p:nvSpPr>
        <p:spPr>
          <a:xfrm>
            <a:off x="6016752" y="1408176"/>
            <a:ext cx="25054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id="</a:t>
            </a:r>
            <a:r>
              <a:rPr lang="en-US" sz="7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dataSource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class="...BasicDataSource"&gt;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&lt;property name="driverClassName"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value="com.mysql.cj.jdbc.Driver"/&gt;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&lt;property name="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  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value="jdbc:mysql://localhost:3306/db"/&gt;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&lt;property name="username" value="root"/&gt;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&lt;property name="password" value="secret"/&gt;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&lt;/bean&gt;</a:t>
            </a:r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id="</a:t>
            </a:r>
            <a:r>
              <a:rPr lang="en-US" sz="7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entityManagerFactory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.../&gt;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id="</a:t>
            </a:r>
            <a:r>
              <a:rPr lang="en-US" sz="7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transactionManager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.../&gt;</a:t>
            </a:r>
            <a:endParaRPr lang="en-US" sz="750" dirty="0"/>
          </a:p>
        </p:txBody>
      </p:sp>
      <p:sp>
        <p:nvSpPr>
          <p:cNvPr id="45" name="Shape 17"/>
          <p:cNvSpPr/>
          <p:nvPr/>
        </p:nvSpPr>
        <p:spPr>
          <a:xfrm>
            <a:off x="347472" y="3695436"/>
            <a:ext cx="411480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18"/>
          <p:cNvSpPr/>
          <p:nvPr/>
        </p:nvSpPr>
        <p:spPr>
          <a:xfrm>
            <a:off x="420624" y="37045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 요약</a:t>
            </a:r>
            <a:endParaRPr lang="en-US" sz="1000" dirty="0"/>
          </a:p>
        </p:txBody>
      </p:sp>
      <p:sp>
        <p:nvSpPr>
          <p:cNvPr id="47" name="Shape 19"/>
          <p:cNvSpPr/>
          <p:nvPr/>
        </p:nvSpPr>
        <p:spPr>
          <a:xfrm>
            <a:off x="347472" y="3896604"/>
            <a:ext cx="4114800" cy="27432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20"/>
          <p:cNvSpPr/>
          <p:nvPr/>
        </p:nvSpPr>
        <p:spPr>
          <a:xfrm>
            <a:off x="420624" y="3914892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같은 설정을 새 프로젝트마다 복사·붙여넣기</a:t>
            </a:r>
            <a:endParaRPr lang="en-US" sz="950" dirty="0"/>
          </a:p>
        </p:txBody>
      </p:sp>
      <p:sp>
        <p:nvSpPr>
          <p:cNvPr id="49" name="Shape 21"/>
          <p:cNvSpPr/>
          <p:nvPr/>
        </p:nvSpPr>
        <p:spPr>
          <a:xfrm>
            <a:off x="347472" y="4216644"/>
            <a:ext cx="4114800" cy="27432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22"/>
          <p:cNvSpPr/>
          <p:nvPr/>
        </p:nvSpPr>
        <p:spPr>
          <a:xfrm>
            <a:off x="420624" y="4234932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라이브러리 버전 업 시 설정 파일 전체 수정</a:t>
            </a:r>
            <a:endParaRPr lang="en-US" sz="950" dirty="0"/>
          </a:p>
        </p:txBody>
      </p:sp>
      <p:sp>
        <p:nvSpPr>
          <p:cNvPr id="51" name="Shape 23"/>
          <p:cNvSpPr/>
          <p:nvPr/>
        </p:nvSpPr>
        <p:spPr>
          <a:xfrm>
            <a:off x="347472" y="4536684"/>
            <a:ext cx="4114800" cy="27432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24"/>
          <p:cNvSpPr/>
          <p:nvPr/>
        </p:nvSpPr>
        <p:spPr>
          <a:xfrm>
            <a:off x="420624" y="4554972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팀원마다 설정 방식이 달라 유지보수 어려움</a:t>
            </a:r>
            <a:endParaRPr lang="en-US" sz="950" dirty="0"/>
          </a:p>
        </p:txBody>
      </p:sp>
      <p:sp>
        <p:nvSpPr>
          <p:cNvPr id="53" name="Shape 25"/>
          <p:cNvSpPr/>
          <p:nvPr/>
        </p:nvSpPr>
        <p:spPr>
          <a:xfrm>
            <a:off x="4700016" y="3695436"/>
            <a:ext cx="41148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26"/>
          <p:cNvSpPr/>
          <p:nvPr/>
        </p:nvSpPr>
        <p:spPr>
          <a:xfrm>
            <a:off x="4773168" y="37045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해결책</a:t>
            </a:r>
            <a:endParaRPr lang="en-US" sz="1000" dirty="0"/>
          </a:p>
        </p:txBody>
      </p:sp>
      <p:sp>
        <p:nvSpPr>
          <p:cNvPr id="55" name="Shape 27"/>
          <p:cNvSpPr/>
          <p:nvPr/>
        </p:nvSpPr>
        <p:spPr>
          <a:xfrm>
            <a:off x="4700016" y="3896604"/>
            <a:ext cx="411480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28"/>
          <p:cNvSpPr/>
          <p:nvPr/>
        </p:nvSpPr>
        <p:spPr>
          <a:xfrm>
            <a:off x="4773168" y="3914892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CLASSPATH에 jar 추가하면 자동으로 Bean 등록</a:t>
            </a:r>
            <a:endParaRPr lang="en-US" sz="950" dirty="0"/>
          </a:p>
        </p:txBody>
      </p:sp>
      <p:sp>
        <p:nvSpPr>
          <p:cNvPr id="57" name="Shape 29"/>
          <p:cNvSpPr/>
          <p:nvPr/>
        </p:nvSpPr>
        <p:spPr>
          <a:xfrm>
            <a:off x="4700016" y="4216644"/>
            <a:ext cx="411480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30"/>
          <p:cNvSpPr/>
          <p:nvPr/>
        </p:nvSpPr>
        <p:spPr>
          <a:xfrm>
            <a:off x="4773168" y="4234932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application.properties 한 파일로 설정 관리</a:t>
            </a:r>
            <a:endParaRPr lang="en-US" sz="950" dirty="0"/>
          </a:p>
        </p:txBody>
      </p:sp>
      <p:sp>
        <p:nvSpPr>
          <p:cNvPr id="59" name="Shape 31"/>
          <p:cNvSpPr/>
          <p:nvPr/>
        </p:nvSpPr>
        <p:spPr>
          <a:xfrm>
            <a:off x="4700016" y="4536684"/>
            <a:ext cx="411480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32"/>
          <p:cNvSpPr/>
          <p:nvPr/>
        </p:nvSpPr>
        <p:spPr>
          <a:xfrm>
            <a:off x="4773168" y="4554972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표준화된 설정 → 팀 전체 동일한 구조 유지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16790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0936"/>
            <a:ext cx="91440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Configuration </a:t>
            </a:r>
            <a:r>
              <a:rPr lang="ko-KR" alt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원리</a:t>
            </a:r>
            <a:endParaRPr lang="en-US" sz="2100" dirty="0"/>
          </a:p>
        </p:txBody>
      </p:sp>
      <p:sp>
        <p:nvSpPr>
          <p:cNvPr id="53" name="Text 3"/>
          <p:cNvSpPr/>
          <p:nvPr/>
        </p:nvSpPr>
        <p:spPr>
          <a:xfrm>
            <a:off x="7269480" y="137160"/>
            <a:ext cx="17673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요약: JAR만 </a:t>
            </a:r>
            <a:r>
              <a:rPr lang="en-US" sz="85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넣으면</a:t>
            </a: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Boot가 알아서 설정해준다</a:t>
            </a:r>
            <a:endParaRPr lang="en-US" sz="850" dirty="0"/>
          </a:p>
        </p:txBody>
      </p:sp>
      <p:sp>
        <p:nvSpPr>
          <p:cNvPr id="54" name="Shape 6"/>
          <p:cNvSpPr/>
          <p:nvPr/>
        </p:nvSpPr>
        <p:spPr>
          <a:xfrm>
            <a:off x="347472" y="1151526"/>
            <a:ext cx="192024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369A1"/>
            </a:solidFill>
            <a:prstDash val="solid"/>
          </a:ln>
          <a:effectLst>
            <a:outerShdw blurRad="177800" dist="50800" dir="8100000" algn="bl" rotWithShape="0">
              <a:srgbClr val="0EA5E9">
                <a:alpha val="35000"/>
              </a:srgbClr>
            </a:outerShdw>
          </a:effectLst>
        </p:spPr>
      </p:sp>
      <p:sp>
        <p:nvSpPr>
          <p:cNvPr id="55" name="Shape 7"/>
          <p:cNvSpPr/>
          <p:nvPr/>
        </p:nvSpPr>
        <p:spPr>
          <a:xfrm>
            <a:off x="347472" y="1151526"/>
            <a:ext cx="1920240" cy="4754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6" name="Shape 8"/>
          <p:cNvSpPr/>
          <p:nvPr/>
        </p:nvSpPr>
        <p:spPr>
          <a:xfrm>
            <a:off x="457200" y="124296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9"/>
          <p:cNvSpPr/>
          <p:nvPr/>
        </p:nvSpPr>
        <p:spPr>
          <a:xfrm>
            <a:off x="457200" y="12429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8" name="Text 10"/>
          <p:cNvSpPr/>
          <p:nvPr/>
        </p:nvSpPr>
        <p:spPr>
          <a:xfrm>
            <a:off x="822960" y="127039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JAR 추가</a:t>
            </a:r>
            <a:endParaRPr lang="en-US" sz="1300" dirty="0"/>
          </a:p>
        </p:txBody>
      </p:sp>
      <p:sp>
        <p:nvSpPr>
          <p:cNvPr id="59" name="Text 11"/>
          <p:cNvSpPr/>
          <p:nvPr/>
        </p:nvSpPr>
        <p:spPr>
          <a:xfrm>
            <a:off x="475488" y="1718454"/>
            <a:ext cx="168249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pom.xml에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스타터 의존성 추가</a:t>
            </a:r>
            <a:endParaRPr lang="en-US" sz="1150" dirty="0"/>
          </a:p>
        </p:txBody>
      </p:sp>
      <p:sp>
        <p:nvSpPr>
          <p:cNvPr id="60" name="Shape 12"/>
          <p:cNvSpPr/>
          <p:nvPr/>
        </p:nvSpPr>
        <p:spPr>
          <a:xfrm>
            <a:off x="530352" y="2632854"/>
            <a:ext cx="1554480" cy="274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1" name="Shape 13"/>
          <p:cNvSpPr/>
          <p:nvPr/>
        </p:nvSpPr>
        <p:spPr>
          <a:xfrm>
            <a:off x="457200" y="2724294"/>
            <a:ext cx="1700784" cy="138988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Text 14"/>
          <p:cNvSpPr/>
          <p:nvPr/>
        </p:nvSpPr>
        <p:spPr>
          <a:xfrm>
            <a:off x="512064" y="2779158"/>
            <a:ext cx="15910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starter-data-jpa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mysql-connector-j</a:t>
            </a:r>
            <a:endParaRPr lang="en-US" sz="1000" dirty="0"/>
          </a:p>
        </p:txBody>
      </p:sp>
      <p:sp>
        <p:nvSpPr>
          <p:cNvPr id="63" name="Shape 15"/>
          <p:cNvSpPr/>
          <p:nvPr/>
        </p:nvSpPr>
        <p:spPr>
          <a:xfrm>
            <a:off x="2432304" y="1151526"/>
            <a:ext cx="192024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6D28D9"/>
            </a:solidFill>
            <a:prstDash val="solid"/>
          </a:ln>
          <a:effectLst>
            <a:outerShdw blurRad="177800" dist="50800" dir="8100000" algn="bl" rotWithShape="0">
              <a:srgbClr val="A78BFA">
                <a:alpha val="35000"/>
              </a:srgbClr>
            </a:outerShdw>
          </a:effectLst>
        </p:spPr>
      </p:sp>
      <p:sp>
        <p:nvSpPr>
          <p:cNvPr id="64" name="Shape 16"/>
          <p:cNvSpPr/>
          <p:nvPr/>
        </p:nvSpPr>
        <p:spPr>
          <a:xfrm>
            <a:off x="2432304" y="1151526"/>
            <a:ext cx="1920240" cy="4754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5" name="Shape 17"/>
          <p:cNvSpPr/>
          <p:nvPr/>
        </p:nvSpPr>
        <p:spPr>
          <a:xfrm>
            <a:off x="2542032" y="124296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18"/>
          <p:cNvSpPr/>
          <p:nvPr/>
        </p:nvSpPr>
        <p:spPr>
          <a:xfrm>
            <a:off x="2542032" y="12429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7" name="Text 19"/>
          <p:cNvSpPr/>
          <p:nvPr/>
        </p:nvSpPr>
        <p:spPr>
          <a:xfrm>
            <a:off x="2907792" y="127039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CLASSPATH 스캔</a:t>
            </a:r>
            <a:endParaRPr lang="en-US" sz="1300" dirty="0"/>
          </a:p>
        </p:txBody>
      </p:sp>
      <p:sp>
        <p:nvSpPr>
          <p:cNvPr id="68" name="Text 20"/>
          <p:cNvSpPr/>
          <p:nvPr/>
        </p:nvSpPr>
        <p:spPr>
          <a:xfrm>
            <a:off x="2560320" y="1718454"/>
            <a:ext cx="168249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CLASSPATH에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JAR이 있는지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sz="1150" dirty="0"/>
          </a:p>
        </p:txBody>
      </p:sp>
      <p:sp>
        <p:nvSpPr>
          <p:cNvPr id="69" name="Shape 21"/>
          <p:cNvSpPr/>
          <p:nvPr/>
        </p:nvSpPr>
        <p:spPr>
          <a:xfrm>
            <a:off x="2615184" y="2632854"/>
            <a:ext cx="1554480" cy="274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0" name="Shape 22"/>
          <p:cNvSpPr/>
          <p:nvPr/>
        </p:nvSpPr>
        <p:spPr>
          <a:xfrm>
            <a:off x="2542032" y="2724294"/>
            <a:ext cx="1700784" cy="138988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1" name="Text 23"/>
          <p:cNvSpPr/>
          <p:nvPr/>
        </p:nvSpPr>
        <p:spPr>
          <a:xfrm>
            <a:off x="2596896" y="2779158"/>
            <a:ext cx="15910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DataSource.class</a:t>
            </a:r>
            <a:r>
              <a:rPr lang="en-US" sz="9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발견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 err="1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HikariCP.class</a:t>
            </a:r>
            <a:r>
              <a:rPr lang="en-US" sz="9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발견</a:t>
            </a:r>
            <a:endParaRPr lang="en-US" sz="900" dirty="0">
              <a:solidFill>
                <a:srgbClr val="C4B5FD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ctr"/>
            <a:r>
              <a:rPr lang="en-US" altLang="ko-KR" sz="900" dirty="0" err="1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Driver.class</a:t>
            </a:r>
            <a:r>
              <a:rPr lang="en-US" altLang="ko-KR" sz="9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altLang="ko-KR" sz="900" dirty="0" err="1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발견</a:t>
            </a:r>
            <a:endParaRPr lang="en-US" altLang="ko-KR" sz="900" dirty="0">
              <a:solidFill>
                <a:srgbClr val="C4B5FD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endParaRPr lang="en-US" sz="1000" dirty="0">
              <a:solidFill>
                <a:srgbClr val="C4B5FD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2" name="Shape 24"/>
          <p:cNvSpPr/>
          <p:nvPr/>
        </p:nvSpPr>
        <p:spPr>
          <a:xfrm>
            <a:off x="4517136" y="1151526"/>
            <a:ext cx="192024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47857"/>
            </a:solidFill>
            <a:prstDash val="solid"/>
          </a:ln>
          <a:effectLst>
            <a:outerShdw blurRad="177800" dist="50800" dir="8100000" algn="bl" rotWithShape="0">
              <a:srgbClr val="34D399">
                <a:alpha val="35000"/>
              </a:srgbClr>
            </a:outerShdw>
          </a:effectLst>
        </p:spPr>
      </p:sp>
      <p:sp>
        <p:nvSpPr>
          <p:cNvPr id="73" name="Shape 25"/>
          <p:cNvSpPr/>
          <p:nvPr/>
        </p:nvSpPr>
        <p:spPr>
          <a:xfrm>
            <a:off x="4517136" y="1151526"/>
            <a:ext cx="1920240" cy="47548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4" name="Shape 26"/>
          <p:cNvSpPr/>
          <p:nvPr/>
        </p:nvSpPr>
        <p:spPr>
          <a:xfrm>
            <a:off x="4626864" y="124296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27"/>
          <p:cNvSpPr/>
          <p:nvPr/>
        </p:nvSpPr>
        <p:spPr>
          <a:xfrm>
            <a:off x="4626864" y="12429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6" name="Text 28"/>
          <p:cNvSpPr/>
          <p:nvPr/>
        </p:nvSpPr>
        <p:spPr>
          <a:xfrm>
            <a:off x="4992624" y="127039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평가</a:t>
            </a:r>
            <a:endParaRPr lang="en-US" sz="1300" dirty="0"/>
          </a:p>
        </p:txBody>
      </p:sp>
      <p:sp>
        <p:nvSpPr>
          <p:cNvPr id="77" name="Text 29"/>
          <p:cNvSpPr/>
          <p:nvPr/>
        </p:nvSpPr>
        <p:spPr>
          <a:xfrm>
            <a:off x="4645152" y="1718454"/>
            <a:ext cx="168249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@Conditional* 로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체크</a:t>
            </a:r>
            <a:endParaRPr lang="en-US" sz="1150" dirty="0"/>
          </a:p>
        </p:txBody>
      </p:sp>
      <p:sp>
        <p:nvSpPr>
          <p:cNvPr id="78" name="Shape 30"/>
          <p:cNvSpPr/>
          <p:nvPr/>
        </p:nvSpPr>
        <p:spPr>
          <a:xfrm>
            <a:off x="4700016" y="2632854"/>
            <a:ext cx="1554480" cy="274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9" name="Shape 31"/>
          <p:cNvSpPr/>
          <p:nvPr/>
        </p:nvSpPr>
        <p:spPr>
          <a:xfrm>
            <a:off x="4626864" y="2724294"/>
            <a:ext cx="1700784" cy="138988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0" name="Text 32"/>
          <p:cNvSpPr/>
          <p:nvPr/>
        </p:nvSpPr>
        <p:spPr>
          <a:xfrm>
            <a:off x="4681728" y="2779158"/>
            <a:ext cx="15910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OnClass     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OnMissingBean 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OnProperty  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등록 승인!</a:t>
            </a:r>
            <a:endParaRPr lang="en-US" sz="1000" dirty="0"/>
          </a:p>
        </p:txBody>
      </p:sp>
      <p:sp>
        <p:nvSpPr>
          <p:cNvPr id="81" name="Shape 33"/>
          <p:cNvSpPr/>
          <p:nvPr/>
        </p:nvSpPr>
        <p:spPr>
          <a:xfrm>
            <a:off x="6601968" y="1151526"/>
            <a:ext cx="192024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B45309"/>
            </a:solidFill>
            <a:prstDash val="solid"/>
          </a:ln>
          <a:effectLst>
            <a:outerShdw blurRad="177800" dist="50800" dir="8100000" algn="bl" rotWithShape="0">
              <a:srgbClr val="FCD34D">
                <a:alpha val="35000"/>
              </a:srgbClr>
            </a:outerShdw>
          </a:effectLst>
        </p:spPr>
      </p:sp>
      <p:sp>
        <p:nvSpPr>
          <p:cNvPr id="82" name="Shape 34"/>
          <p:cNvSpPr/>
          <p:nvPr/>
        </p:nvSpPr>
        <p:spPr>
          <a:xfrm>
            <a:off x="6601968" y="1151526"/>
            <a:ext cx="192024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3" name="Shape 35"/>
          <p:cNvSpPr/>
          <p:nvPr/>
        </p:nvSpPr>
        <p:spPr>
          <a:xfrm>
            <a:off x="6711696" y="124296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36"/>
          <p:cNvSpPr/>
          <p:nvPr/>
        </p:nvSpPr>
        <p:spPr>
          <a:xfrm>
            <a:off x="6711696" y="12429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85" name="Text 37"/>
          <p:cNvSpPr/>
          <p:nvPr/>
        </p:nvSpPr>
        <p:spPr>
          <a:xfrm>
            <a:off x="7077456" y="127039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자동 등록</a:t>
            </a:r>
            <a:endParaRPr lang="en-US" sz="1300" dirty="0"/>
          </a:p>
        </p:txBody>
      </p:sp>
      <p:sp>
        <p:nvSpPr>
          <p:cNvPr id="86" name="Text 38"/>
          <p:cNvSpPr/>
          <p:nvPr/>
        </p:nvSpPr>
        <p:spPr>
          <a:xfrm>
            <a:off x="6729984" y="1718454"/>
            <a:ext cx="168249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EntityManager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완료</a:t>
            </a:r>
            <a:endParaRPr lang="en-US" sz="1150" dirty="0"/>
          </a:p>
        </p:txBody>
      </p:sp>
      <p:sp>
        <p:nvSpPr>
          <p:cNvPr id="87" name="Shape 39"/>
          <p:cNvSpPr/>
          <p:nvPr/>
        </p:nvSpPr>
        <p:spPr>
          <a:xfrm>
            <a:off x="6784848" y="2632854"/>
            <a:ext cx="1554480" cy="274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8" name="Shape 40"/>
          <p:cNvSpPr/>
          <p:nvPr/>
        </p:nvSpPr>
        <p:spPr>
          <a:xfrm>
            <a:off x="6711696" y="2724294"/>
            <a:ext cx="1700784" cy="138988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9" name="Text 41"/>
          <p:cNvSpPr/>
          <p:nvPr/>
        </p:nvSpPr>
        <p:spPr>
          <a:xfrm>
            <a:off x="6766560" y="2779158"/>
            <a:ext cx="15910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개발자 코드: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0줄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전부 처리 ✨</a:t>
            </a:r>
            <a:endParaRPr lang="en-US" sz="1000" dirty="0"/>
          </a:p>
        </p:txBody>
      </p:sp>
      <p:sp>
        <p:nvSpPr>
          <p:cNvPr id="90" name="Text 42"/>
          <p:cNvSpPr/>
          <p:nvPr/>
        </p:nvSpPr>
        <p:spPr>
          <a:xfrm>
            <a:off x="2185416" y="2587134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1" name="Text 43"/>
          <p:cNvSpPr/>
          <p:nvPr/>
        </p:nvSpPr>
        <p:spPr>
          <a:xfrm>
            <a:off x="4270248" y="2587134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2" name="Text 44"/>
          <p:cNvSpPr/>
          <p:nvPr/>
        </p:nvSpPr>
        <p:spPr>
          <a:xfrm>
            <a:off x="6355080" y="2587134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3" name="Shape 45"/>
          <p:cNvSpPr/>
          <p:nvPr/>
        </p:nvSpPr>
        <p:spPr>
          <a:xfrm>
            <a:off x="347472" y="4476156"/>
            <a:ext cx="8449056" cy="292608"/>
          </a:xfrm>
          <a:prstGeom prst="rect">
            <a:avLst/>
          </a:prstGeom>
          <a:solidFill>
            <a:srgbClr val="164E6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4" name="Text 46"/>
          <p:cNvSpPr/>
          <p:nvPr/>
        </p:nvSpPr>
        <p:spPr>
          <a:xfrm>
            <a:off x="475488" y="447615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핵심 원칙:  </a:t>
            </a:r>
            <a:r>
              <a:rPr lang="en-US" altLang="ko-KR" sz="105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개발자가</a:t>
            </a:r>
            <a:r>
              <a:rPr lang="en-US" altLang="ko-KR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Bean을</a:t>
            </a:r>
            <a:r>
              <a:rPr lang="en-US" altLang="ko-KR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등록하지</a:t>
            </a:r>
            <a:r>
              <a:rPr lang="en-US" altLang="ko-KR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않았을</a:t>
            </a:r>
            <a:r>
              <a:rPr lang="en-US" altLang="ko-KR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때만</a:t>
            </a:r>
            <a:r>
              <a:rPr lang="en-US" altLang="ko-KR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(= @</a:t>
            </a:r>
            <a:r>
              <a:rPr lang="en-US" altLang="ko-KR" sz="105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ConditionalOnMissingBean</a:t>
            </a:r>
            <a:r>
              <a:rPr lang="en-US" altLang="ko-KR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altLang="ko-KR" sz="105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altLang="ko-KR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</a:t>
            </a:r>
            <a:r>
              <a:rPr lang="en-US" altLang="ko-KR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altLang="ko-KR" sz="105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항상</a:t>
            </a:r>
            <a:r>
              <a:rPr lang="en-US" altLang="ko-KR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</a:t>
            </a:r>
            <a:r>
              <a:rPr lang="en-US" altLang="ko-KR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설정이</a:t>
            </a:r>
            <a:r>
              <a:rPr lang="en-US" altLang="ko-KR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</a:t>
            </a:r>
            <a:endParaRPr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1177848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0936"/>
            <a:ext cx="91440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@Conditional </a:t>
            </a:r>
            <a:r>
              <a:rPr lang="en-US" altLang="ko-KR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</a:t>
            </a:r>
            <a:r>
              <a:rPr lang="en-US" altLang="ko-K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endParaRPr lang="en-US" altLang="ko-KR" sz="2000" dirty="0"/>
          </a:p>
        </p:txBody>
      </p:sp>
      <p:sp>
        <p:nvSpPr>
          <p:cNvPr id="47" name="Shape 3"/>
          <p:cNvSpPr/>
          <p:nvPr/>
        </p:nvSpPr>
        <p:spPr>
          <a:xfrm>
            <a:off x="292608" y="768096"/>
            <a:ext cx="347472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Shape 4"/>
          <p:cNvSpPr/>
          <p:nvPr/>
        </p:nvSpPr>
        <p:spPr>
          <a:xfrm>
            <a:off x="292608" y="768096"/>
            <a:ext cx="347472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5"/>
          <p:cNvSpPr/>
          <p:nvPr/>
        </p:nvSpPr>
        <p:spPr>
          <a:xfrm>
            <a:off x="384048" y="77266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DataSourceAutoConfiguration.java</a:t>
            </a:r>
            <a:endParaRPr lang="en-US" sz="850" dirty="0"/>
          </a:p>
        </p:txBody>
      </p:sp>
      <p:sp>
        <p:nvSpPr>
          <p:cNvPr id="51" name="Text 7"/>
          <p:cNvSpPr/>
          <p:nvPr/>
        </p:nvSpPr>
        <p:spPr>
          <a:xfrm>
            <a:off x="462876" y="1078992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@AutoConfiguration</a:t>
            </a:r>
            <a:endParaRPr lang="en-US" sz="950" dirty="0"/>
          </a:p>
        </p:txBody>
      </p:sp>
      <p:sp>
        <p:nvSpPr>
          <p:cNvPr id="95" name="Shape 9"/>
          <p:cNvSpPr/>
          <p:nvPr/>
        </p:nvSpPr>
        <p:spPr>
          <a:xfrm>
            <a:off x="426300" y="1426464"/>
            <a:ext cx="3249588" cy="274320"/>
          </a:xfrm>
          <a:prstGeom prst="rect">
            <a:avLst/>
          </a:prstGeom>
          <a:solidFill>
            <a:srgbClr val="0C2A3A"/>
          </a:solidFill>
          <a:ln w="12700">
            <a:solidFill>
              <a:srgbClr val="0C2A3A"/>
            </a:solidFill>
            <a:prstDash val="solid"/>
          </a:ln>
        </p:spPr>
      </p:sp>
      <p:sp>
        <p:nvSpPr>
          <p:cNvPr id="96" name="Text 10"/>
          <p:cNvSpPr/>
          <p:nvPr/>
        </p:nvSpPr>
        <p:spPr>
          <a:xfrm>
            <a:off x="462876" y="1408176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@ConditionalOnClass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(DataSource.class)</a:t>
            </a:r>
            <a:r>
              <a:rPr lang="en-US" sz="9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50" dirty="0"/>
          </a:p>
        </p:txBody>
      </p:sp>
      <p:sp>
        <p:nvSpPr>
          <p:cNvPr id="98" name="Shape 12"/>
          <p:cNvSpPr/>
          <p:nvPr/>
        </p:nvSpPr>
        <p:spPr>
          <a:xfrm>
            <a:off x="426300" y="1755648"/>
            <a:ext cx="3249588" cy="274320"/>
          </a:xfrm>
          <a:prstGeom prst="rect">
            <a:avLst/>
          </a:prstGeom>
          <a:solidFill>
            <a:srgbClr val="052E1A"/>
          </a:solidFill>
          <a:ln w="12700">
            <a:solidFill>
              <a:srgbClr val="052E1A"/>
            </a:solidFill>
            <a:prstDash val="solid"/>
          </a:ln>
        </p:spPr>
      </p:sp>
      <p:sp>
        <p:nvSpPr>
          <p:cNvPr id="99" name="Text 13"/>
          <p:cNvSpPr/>
          <p:nvPr/>
        </p:nvSpPr>
        <p:spPr>
          <a:xfrm>
            <a:off x="462876" y="1737360"/>
            <a:ext cx="31442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r>
              <a:rPr lang="en-US" sz="950" dirty="0" err="1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ConditionalOnMissingBean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DataSource.class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01" name="Shape 15"/>
          <p:cNvSpPr/>
          <p:nvPr/>
        </p:nvSpPr>
        <p:spPr>
          <a:xfrm>
            <a:off x="426300" y="2084832"/>
            <a:ext cx="3249588" cy="274320"/>
          </a:xfrm>
          <a:prstGeom prst="rect">
            <a:avLst/>
          </a:prstGeom>
          <a:solidFill>
            <a:srgbClr val="2A1A02"/>
          </a:solidFill>
          <a:ln w="12700">
            <a:solidFill>
              <a:srgbClr val="2A1A02"/>
            </a:solidFill>
            <a:prstDash val="solid"/>
          </a:ln>
        </p:spPr>
      </p:sp>
      <p:sp>
        <p:nvSpPr>
          <p:cNvPr id="102" name="Text 16"/>
          <p:cNvSpPr/>
          <p:nvPr/>
        </p:nvSpPr>
        <p:spPr>
          <a:xfrm>
            <a:off x="462876" y="2066544"/>
            <a:ext cx="32130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@ConditionalOnProperty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("spring.datasource.url")</a:t>
            </a:r>
            <a:endParaRPr lang="en-US" sz="900" dirty="0"/>
          </a:p>
        </p:txBody>
      </p:sp>
      <p:sp>
        <p:nvSpPr>
          <p:cNvPr id="104" name="Text 18"/>
          <p:cNvSpPr/>
          <p:nvPr/>
        </p:nvSpPr>
        <p:spPr>
          <a:xfrm>
            <a:off x="462876" y="2395728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DataSourceAutoConfiguration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</p:txBody>
      </p:sp>
      <p:sp>
        <p:nvSpPr>
          <p:cNvPr id="106" name="Text 20"/>
          <p:cNvSpPr/>
          <p:nvPr/>
        </p:nvSpPr>
        <p:spPr>
          <a:xfrm>
            <a:off x="462876" y="2724912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950" dirty="0"/>
          </a:p>
        </p:txBody>
      </p:sp>
      <p:sp>
        <p:nvSpPr>
          <p:cNvPr id="108" name="Text 22"/>
          <p:cNvSpPr/>
          <p:nvPr/>
        </p:nvSpPr>
        <p:spPr>
          <a:xfrm>
            <a:off x="462876" y="3054096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10" name="Shape 24"/>
          <p:cNvSpPr/>
          <p:nvPr/>
        </p:nvSpPr>
        <p:spPr>
          <a:xfrm>
            <a:off x="3931920" y="768096"/>
            <a:ext cx="4956048" cy="1115568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EA5E9">
                <a:alpha val="20000"/>
              </a:srgbClr>
            </a:outerShdw>
          </a:effectLst>
        </p:spPr>
      </p:sp>
      <p:sp>
        <p:nvSpPr>
          <p:cNvPr id="111" name="Shape 25"/>
          <p:cNvSpPr/>
          <p:nvPr/>
        </p:nvSpPr>
        <p:spPr>
          <a:xfrm>
            <a:off x="3931920" y="768096"/>
            <a:ext cx="54864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2" name="Shape 26"/>
          <p:cNvSpPr/>
          <p:nvPr/>
        </p:nvSpPr>
        <p:spPr>
          <a:xfrm>
            <a:off x="4041648" y="868680"/>
            <a:ext cx="292608" cy="29260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3" name="Text 27"/>
          <p:cNvSpPr/>
          <p:nvPr/>
        </p:nvSpPr>
        <p:spPr>
          <a:xfrm>
            <a:off x="4041648" y="868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114" name="Text 28"/>
          <p:cNvSpPr/>
          <p:nvPr/>
        </p:nvSpPr>
        <p:spPr>
          <a:xfrm>
            <a:off x="4407408" y="85953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@ConditionalOnClass</a:t>
            </a:r>
            <a:endParaRPr lang="en-US" sz="1150" dirty="0"/>
          </a:p>
        </p:txBody>
      </p:sp>
      <p:sp>
        <p:nvSpPr>
          <p:cNvPr id="115" name="Text 29"/>
          <p:cNvSpPr/>
          <p:nvPr/>
        </p:nvSpPr>
        <p:spPr>
          <a:xfrm>
            <a:off x="4407408" y="112471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이 클래스가 CLASSPATH에 있나?</a:t>
            </a:r>
            <a:endParaRPr lang="en-US" sz="900" dirty="0"/>
          </a:p>
        </p:txBody>
      </p:sp>
      <p:sp>
        <p:nvSpPr>
          <p:cNvPr id="116" name="Shape 30"/>
          <p:cNvSpPr/>
          <p:nvPr/>
        </p:nvSpPr>
        <p:spPr>
          <a:xfrm>
            <a:off x="4023360" y="1353312"/>
            <a:ext cx="2743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7" name="Text 31"/>
          <p:cNvSpPr/>
          <p:nvPr/>
        </p:nvSpPr>
        <p:spPr>
          <a:xfrm>
            <a:off x="4096512" y="1371600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MySQL을 안 쓰는 앱에 DataSource가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등록되면 안 되기 때문</a:t>
            </a:r>
            <a:endParaRPr lang="en-US" sz="850" dirty="0"/>
          </a:p>
        </p:txBody>
      </p:sp>
      <p:sp>
        <p:nvSpPr>
          <p:cNvPr id="118" name="Shape 32"/>
          <p:cNvSpPr/>
          <p:nvPr/>
        </p:nvSpPr>
        <p:spPr>
          <a:xfrm>
            <a:off x="6821424" y="841248"/>
            <a:ext cx="18288" cy="9692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9" name="Shape 33"/>
          <p:cNvSpPr/>
          <p:nvPr/>
        </p:nvSpPr>
        <p:spPr>
          <a:xfrm>
            <a:off x="6894576" y="841248"/>
            <a:ext cx="932688" cy="219456"/>
          </a:xfrm>
          <a:prstGeom prst="rect">
            <a:avLst/>
          </a:prstGeom>
          <a:solidFill>
            <a:srgbClr val="052E16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20" name="Text 34"/>
          <p:cNvSpPr/>
          <p:nvPr/>
        </p:nvSpPr>
        <p:spPr>
          <a:xfrm>
            <a:off x="6894576" y="84124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PASS</a:t>
            </a:r>
            <a:endParaRPr lang="en-US" sz="900" dirty="0"/>
          </a:p>
        </p:txBody>
      </p:sp>
      <p:sp>
        <p:nvSpPr>
          <p:cNvPr id="121" name="Text 35"/>
          <p:cNvSpPr/>
          <p:nvPr/>
        </p:nvSpPr>
        <p:spPr>
          <a:xfrm>
            <a:off x="6894576" y="1078992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DataSource.class 발견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(starter-data-jpa에 포함)  →  통과 ✔</a:t>
            </a:r>
            <a:endParaRPr lang="en-US" sz="750" dirty="0"/>
          </a:p>
        </p:txBody>
      </p:sp>
      <p:sp>
        <p:nvSpPr>
          <p:cNvPr id="122" name="Shape 36"/>
          <p:cNvSpPr/>
          <p:nvPr/>
        </p:nvSpPr>
        <p:spPr>
          <a:xfrm>
            <a:off x="7882128" y="841248"/>
            <a:ext cx="932688" cy="219456"/>
          </a:xfrm>
          <a:prstGeom prst="rect">
            <a:avLst/>
          </a:prstGeom>
          <a:solidFill>
            <a:srgbClr val="2D0707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23" name="Text 37"/>
          <p:cNvSpPr/>
          <p:nvPr/>
        </p:nvSpPr>
        <p:spPr>
          <a:xfrm>
            <a:off x="7882128" y="84124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FAIL</a:t>
            </a:r>
            <a:endParaRPr lang="en-US" sz="900" dirty="0"/>
          </a:p>
        </p:txBody>
      </p:sp>
      <p:sp>
        <p:nvSpPr>
          <p:cNvPr id="124" name="Text 38"/>
          <p:cNvSpPr/>
          <p:nvPr/>
        </p:nvSpPr>
        <p:spPr>
          <a:xfrm>
            <a:off x="7882128" y="1078992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JAR을 추가하지 않은 프로젝트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DataSource 설정 자체를 건너뜀</a:t>
            </a:r>
            <a:endParaRPr lang="en-US" sz="750" dirty="0"/>
          </a:p>
        </p:txBody>
      </p:sp>
      <p:sp>
        <p:nvSpPr>
          <p:cNvPr id="125" name="Shape 39"/>
          <p:cNvSpPr/>
          <p:nvPr/>
        </p:nvSpPr>
        <p:spPr>
          <a:xfrm>
            <a:off x="3931920" y="1956816"/>
            <a:ext cx="4956048" cy="1115568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10B981">
                <a:alpha val="20000"/>
              </a:srgbClr>
            </a:outerShdw>
          </a:effectLst>
        </p:spPr>
      </p:sp>
      <p:sp>
        <p:nvSpPr>
          <p:cNvPr id="126" name="Shape 40"/>
          <p:cNvSpPr/>
          <p:nvPr/>
        </p:nvSpPr>
        <p:spPr>
          <a:xfrm>
            <a:off x="3931920" y="1956816"/>
            <a:ext cx="54864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7" name="Shape 41"/>
          <p:cNvSpPr/>
          <p:nvPr/>
        </p:nvSpPr>
        <p:spPr>
          <a:xfrm>
            <a:off x="4041648" y="2057400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8" name="Text 42"/>
          <p:cNvSpPr/>
          <p:nvPr/>
        </p:nvSpPr>
        <p:spPr>
          <a:xfrm>
            <a:off x="404164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29" name="Text 43"/>
          <p:cNvSpPr/>
          <p:nvPr/>
        </p:nvSpPr>
        <p:spPr>
          <a:xfrm>
            <a:off x="4407408" y="204825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@ConditionalOnMissingBean</a:t>
            </a:r>
            <a:endParaRPr lang="en-US" sz="1150" dirty="0"/>
          </a:p>
        </p:txBody>
      </p:sp>
      <p:sp>
        <p:nvSpPr>
          <p:cNvPr id="130" name="Text 44"/>
          <p:cNvSpPr/>
          <p:nvPr/>
        </p:nvSpPr>
        <p:spPr>
          <a:xfrm>
            <a:off x="4407408" y="231343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개발자가 이미 이 Bean을 만들었나?</a:t>
            </a:r>
            <a:endParaRPr lang="en-US" sz="900" dirty="0"/>
          </a:p>
        </p:txBody>
      </p:sp>
      <p:sp>
        <p:nvSpPr>
          <p:cNvPr id="131" name="Shape 45"/>
          <p:cNvSpPr/>
          <p:nvPr/>
        </p:nvSpPr>
        <p:spPr>
          <a:xfrm>
            <a:off x="4023360" y="2542032"/>
            <a:ext cx="2743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2" name="Text 46"/>
          <p:cNvSpPr/>
          <p:nvPr/>
        </p:nvSpPr>
        <p:spPr>
          <a:xfrm>
            <a:off x="4096512" y="2560320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설정이 항상 우선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"내가 만들면 자동 설정은 꺼진다"</a:t>
            </a:r>
            <a:endParaRPr lang="en-US" sz="850" dirty="0"/>
          </a:p>
        </p:txBody>
      </p:sp>
      <p:sp>
        <p:nvSpPr>
          <p:cNvPr id="133" name="Shape 47"/>
          <p:cNvSpPr/>
          <p:nvPr/>
        </p:nvSpPr>
        <p:spPr>
          <a:xfrm>
            <a:off x="6821424" y="2029968"/>
            <a:ext cx="18288" cy="9692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4" name="Shape 48"/>
          <p:cNvSpPr/>
          <p:nvPr/>
        </p:nvSpPr>
        <p:spPr>
          <a:xfrm>
            <a:off x="6894576" y="2029968"/>
            <a:ext cx="932688" cy="219456"/>
          </a:xfrm>
          <a:prstGeom prst="rect">
            <a:avLst/>
          </a:prstGeom>
          <a:solidFill>
            <a:srgbClr val="052E16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35" name="Text 49"/>
          <p:cNvSpPr/>
          <p:nvPr/>
        </p:nvSpPr>
        <p:spPr>
          <a:xfrm>
            <a:off x="6894576" y="20299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PASS</a:t>
            </a:r>
            <a:endParaRPr lang="en-US" sz="900" dirty="0"/>
          </a:p>
        </p:txBody>
      </p:sp>
      <p:sp>
        <p:nvSpPr>
          <p:cNvPr id="136" name="Text 50"/>
          <p:cNvSpPr/>
          <p:nvPr/>
        </p:nvSpPr>
        <p:spPr>
          <a:xfrm>
            <a:off x="6894576" y="2267712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만든 DataSource Bean 없음  →  통과 ✔</a:t>
            </a:r>
            <a:endParaRPr lang="en-US" sz="750" dirty="0"/>
          </a:p>
        </p:txBody>
      </p:sp>
      <p:sp>
        <p:nvSpPr>
          <p:cNvPr id="137" name="Shape 51"/>
          <p:cNvSpPr/>
          <p:nvPr/>
        </p:nvSpPr>
        <p:spPr>
          <a:xfrm>
            <a:off x="7882128" y="2029968"/>
            <a:ext cx="932688" cy="219456"/>
          </a:xfrm>
          <a:prstGeom prst="rect">
            <a:avLst/>
          </a:prstGeom>
          <a:solidFill>
            <a:srgbClr val="2D0707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38" name="Text 52"/>
          <p:cNvSpPr/>
          <p:nvPr/>
        </p:nvSpPr>
        <p:spPr>
          <a:xfrm>
            <a:off x="7882128" y="20299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FAIL</a:t>
            </a:r>
            <a:endParaRPr lang="en-US" sz="900" dirty="0"/>
          </a:p>
        </p:txBody>
      </p:sp>
      <p:sp>
        <p:nvSpPr>
          <p:cNvPr id="139" name="Text 53"/>
          <p:cNvSpPr/>
          <p:nvPr/>
        </p:nvSpPr>
        <p:spPr>
          <a:xfrm>
            <a:off x="7882128" y="2267712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@Bean으로 DataSource를 직접 등록함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자동 설정 비활성화</a:t>
            </a:r>
            <a:endParaRPr lang="en-US" sz="750" dirty="0"/>
          </a:p>
        </p:txBody>
      </p:sp>
      <p:sp>
        <p:nvSpPr>
          <p:cNvPr id="140" name="Shape 54"/>
          <p:cNvSpPr/>
          <p:nvPr/>
        </p:nvSpPr>
        <p:spPr>
          <a:xfrm>
            <a:off x="3931920" y="3145536"/>
            <a:ext cx="4956048" cy="1115568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F59E0B">
                <a:alpha val="20000"/>
              </a:srgbClr>
            </a:outerShdw>
          </a:effectLst>
        </p:spPr>
      </p:sp>
      <p:sp>
        <p:nvSpPr>
          <p:cNvPr id="141" name="Shape 55"/>
          <p:cNvSpPr/>
          <p:nvPr/>
        </p:nvSpPr>
        <p:spPr>
          <a:xfrm>
            <a:off x="3931920" y="3145536"/>
            <a:ext cx="54864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2" name="Shape 56"/>
          <p:cNvSpPr/>
          <p:nvPr/>
        </p:nvSpPr>
        <p:spPr>
          <a:xfrm>
            <a:off x="4041648" y="324612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3" name="Text 57"/>
          <p:cNvSpPr/>
          <p:nvPr/>
        </p:nvSpPr>
        <p:spPr>
          <a:xfrm>
            <a:off x="4041648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144" name="Text 58"/>
          <p:cNvSpPr/>
          <p:nvPr/>
        </p:nvSpPr>
        <p:spPr>
          <a:xfrm>
            <a:off x="4407408" y="323697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@ConditionalOnProperty</a:t>
            </a:r>
            <a:endParaRPr lang="en-US" sz="1150" dirty="0"/>
          </a:p>
        </p:txBody>
      </p:sp>
      <p:sp>
        <p:nvSpPr>
          <p:cNvPr id="145" name="Text 59"/>
          <p:cNvSpPr/>
          <p:nvPr/>
        </p:nvSpPr>
        <p:spPr>
          <a:xfrm>
            <a:off x="4407408" y="350215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application.properties에 URL이 있나?</a:t>
            </a:r>
            <a:endParaRPr lang="en-US" sz="900" dirty="0"/>
          </a:p>
        </p:txBody>
      </p:sp>
      <p:sp>
        <p:nvSpPr>
          <p:cNvPr id="146" name="Shape 60"/>
          <p:cNvSpPr/>
          <p:nvPr/>
        </p:nvSpPr>
        <p:spPr>
          <a:xfrm>
            <a:off x="4023360" y="3730752"/>
            <a:ext cx="2743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7" name="Text 61"/>
          <p:cNvSpPr/>
          <p:nvPr/>
        </p:nvSpPr>
        <p:spPr>
          <a:xfrm>
            <a:off x="4096512" y="3749040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대상도 모르는데 DataSource를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 수 없기 때문</a:t>
            </a:r>
            <a:endParaRPr lang="en-US" sz="850" dirty="0"/>
          </a:p>
        </p:txBody>
      </p:sp>
      <p:sp>
        <p:nvSpPr>
          <p:cNvPr id="148" name="Shape 62"/>
          <p:cNvSpPr/>
          <p:nvPr/>
        </p:nvSpPr>
        <p:spPr>
          <a:xfrm>
            <a:off x="6821424" y="3218688"/>
            <a:ext cx="18288" cy="9692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9" name="Shape 63"/>
          <p:cNvSpPr/>
          <p:nvPr/>
        </p:nvSpPr>
        <p:spPr>
          <a:xfrm>
            <a:off x="6894576" y="3218688"/>
            <a:ext cx="932688" cy="219456"/>
          </a:xfrm>
          <a:prstGeom prst="rect">
            <a:avLst/>
          </a:prstGeom>
          <a:solidFill>
            <a:srgbClr val="052E16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50" name="Text 64"/>
          <p:cNvSpPr/>
          <p:nvPr/>
        </p:nvSpPr>
        <p:spPr>
          <a:xfrm>
            <a:off x="6894576" y="321868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PASS</a:t>
            </a:r>
            <a:endParaRPr lang="en-US" sz="900" dirty="0"/>
          </a:p>
        </p:txBody>
      </p:sp>
      <p:sp>
        <p:nvSpPr>
          <p:cNvPr id="151" name="Text 65"/>
          <p:cNvSpPr/>
          <p:nvPr/>
        </p:nvSpPr>
        <p:spPr>
          <a:xfrm>
            <a:off x="6894576" y="3456432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spring.datasource.url=</a:t>
            </a:r>
          </a:p>
          <a:p>
            <a:pPr marL="0" indent="0" algn="ctr">
              <a:buNone/>
            </a:pPr>
            <a:r>
              <a:rPr lang="en-US" sz="750" dirty="0" err="1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jdbc:mysql</a:t>
            </a: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://...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설정됨  →  통과 ✔</a:t>
            </a:r>
            <a:endParaRPr lang="en-US" sz="750" dirty="0"/>
          </a:p>
        </p:txBody>
      </p:sp>
      <p:sp>
        <p:nvSpPr>
          <p:cNvPr id="152" name="Shape 66"/>
          <p:cNvSpPr/>
          <p:nvPr/>
        </p:nvSpPr>
        <p:spPr>
          <a:xfrm>
            <a:off x="7882128" y="3218688"/>
            <a:ext cx="932688" cy="219456"/>
          </a:xfrm>
          <a:prstGeom prst="rect">
            <a:avLst/>
          </a:prstGeom>
          <a:solidFill>
            <a:srgbClr val="2D0707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53" name="Text 67"/>
          <p:cNvSpPr/>
          <p:nvPr/>
        </p:nvSpPr>
        <p:spPr>
          <a:xfrm>
            <a:off x="7882128" y="321868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FAIL</a:t>
            </a:r>
            <a:endParaRPr lang="en-US" sz="900" dirty="0"/>
          </a:p>
        </p:txBody>
      </p:sp>
      <p:sp>
        <p:nvSpPr>
          <p:cNvPr id="154" name="Text 68"/>
          <p:cNvSpPr/>
          <p:nvPr/>
        </p:nvSpPr>
        <p:spPr>
          <a:xfrm>
            <a:off x="7882128" y="3456432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URL을 설정하지 않음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어디 DB인지 모르니 설정 스킵</a:t>
            </a:r>
            <a:endParaRPr lang="en-US" sz="750" dirty="0"/>
          </a:p>
        </p:txBody>
      </p:sp>
      <p:sp>
        <p:nvSpPr>
          <p:cNvPr id="155" name="Shape 69"/>
          <p:cNvSpPr/>
          <p:nvPr/>
        </p:nvSpPr>
        <p:spPr>
          <a:xfrm>
            <a:off x="292608" y="4297680"/>
            <a:ext cx="347472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6" name="Text 70"/>
          <p:cNvSpPr/>
          <p:nvPr/>
        </p:nvSpPr>
        <p:spPr>
          <a:xfrm>
            <a:off x="347472" y="4297680"/>
            <a:ext cx="3364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8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관계 — 하나라도 실패하면 이 클래스 전체 건너뜀</a:t>
            </a:r>
            <a:endParaRPr lang="en-US" sz="850" dirty="0"/>
          </a:p>
        </p:txBody>
      </p:sp>
      <p:sp>
        <p:nvSpPr>
          <p:cNvPr id="157" name="Shape 71"/>
          <p:cNvSpPr/>
          <p:nvPr/>
        </p:nvSpPr>
        <p:spPr>
          <a:xfrm>
            <a:off x="292608" y="4544568"/>
            <a:ext cx="8613648" cy="475488"/>
          </a:xfrm>
          <a:prstGeom prst="rect">
            <a:avLst/>
          </a:prstGeom>
          <a:solidFill>
            <a:srgbClr val="0C2A1A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22C55E">
                <a:alpha val="25000"/>
              </a:srgbClr>
            </a:outerShdw>
          </a:effectLst>
        </p:spPr>
      </p:sp>
      <p:sp>
        <p:nvSpPr>
          <p:cNvPr id="158" name="Shape 72"/>
          <p:cNvSpPr/>
          <p:nvPr/>
        </p:nvSpPr>
        <p:spPr>
          <a:xfrm>
            <a:off x="292608" y="4544568"/>
            <a:ext cx="54864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9" name="Text 73"/>
          <p:cNvSpPr/>
          <p:nvPr/>
        </p:nvSpPr>
        <p:spPr>
          <a:xfrm>
            <a:off x="420624" y="4572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조건 ✔ 통과  →  자동 등록:</a:t>
            </a:r>
            <a:endParaRPr lang="en-US" sz="1000" dirty="0"/>
          </a:p>
        </p:txBody>
      </p:sp>
      <p:sp>
        <p:nvSpPr>
          <p:cNvPr id="160" name="Shape 74"/>
          <p:cNvSpPr/>
          <p:nvPr/>
        </p:nvSpPr>
        <p:spPr>
          <a:xfrm>
            <a:off x="3090672" y="4581144"/>
            <a:ext cx="1773936" cy="384048"/>
          </a:xfrm>
          <a:prstGeom prst="rect">
            <a:avLst/>
          </a:prstGeom>
          <a:solidFill>
            <a:srgbClr val="164E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1" name="Text 75"/>
          <p:cNvSpPr/>
          <p:nvPr/>
        </p:nvSpPr>
        <p:spPr>
          <a:xfrm>
            <a:off x="3145536" y="4581144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DataSource  (HikariCP)</a:t>
            </a:r>
            <a:endParaRPr lang="en-US" sz="880" dirty="0"/>
          </a:p>
        </p:txBody>
      </p:sp>
    </p:spTree>
    <p:extLst>
      <p:ext uri="{BB962C8B-B14F-4D97-AF65-F5344CB8AC3E}">
        <p14:creationId xmlns:p14="http://schemas.microsoft.com/office/powerpoint/2010/main" val="9840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1-2. Spring Boot Starters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040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의존성 충돌 없이 검증된 버전 조합을 한 번에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42774"/>
            <a:ext cx="420624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42774"/>
            <a:ext cx="42062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Spring MVC 의존성 (직접 지정)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198806"/>
            <a:ext cx="4206240" cy="14223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35382"/>
            <a:ext cx="405993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&lt;groupId&gt;org.springframework&lt;/groupId&gt;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&lt;artifactId&gt;spring-webmvc&lt;/artifactId&gt;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</a:t>
            </a:r>
            <a:r>
              <a:rPr lang="en-US" sz="8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6.1.x</a:t>
            </a: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&lt;/version&gt;       &lt;!-- 직접 지정 --&gt;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&lt;groupId&gt;com.fasterxml.jackson.core&lt;/groupId&gt;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&lt;artifactId&gt;jackson-databind&lt;/artifactId&gt;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</a:t>
            </a:r>
            <a:r>
              <a:rPr lang="en-US" sz="8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2.17.x</a:t>
            </a: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&lt;/version&gt;      &lt;!-- 버전 충돌 주의! --&gt;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8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74294"/>
            <a:ext cx="365760" cy="365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120640" y="942774"/>
            <a:ext cx="374904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942774"/>
            <a:ext cx="37490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Spring Boot Starter (버전 불필요)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120640" y="1198806"/>
            <a:ext cx="3749040" cy="14223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93792" y="1235382"/>
            <a:ext cx="360273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&lt;parent&gt;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&lt;groupId&gt;org.springframework.boot&lt;/groupId&gt;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&lt;artifactId&gt;spring-boot-starter-parent&lt;/artifactId&gt;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&lt;version&gt;4.0.6&lt;/version&gt;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&lt;/parent&gt;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&lt;groupId&gt;org.springframework.boot&lt;/groupId&gt;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r>
              <a:rPr lang="en-US" sz="8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artifactId</a:t>
            </a: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</a:t>
            </a:r>
            <a:r>
              <a:rPr lang="en-US" sz="850" dirty="0" err="1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webmvc</a:t>
            </a: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버전 지정 불필요 ✔ --&gt;</a:t>
            </a:r>
            <a:endParaRPr lang="en-US" sz="85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74320" y="264860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Spring Boot Starters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856842"/>
              </p:ext>
            </p:extLst>
          </p:nvPr>
        </p:nvGraphicFramePr>
        <p:xfrm>
          <a:off x="274320" y="2922924"/>
          <a:ext cx="8595360" cy="219456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 이름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포함 내용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spring-boot-starter-</a:t>
                      </a:r>
                      <a:r>
                        <a:rPr lang="en-US" sz="900" dirty="0" err="1">
                          <a:solidFill>
                            <a:srgbClr val="7030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webmvc</a:t>
                      </a:r>
                      <a:endParaRPr lang="en-US" sz="900" dirty="0">
                        <a:solidFill>
                          <a:srgbClr val="7030A0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MVC, Tomcat, Jackson 포함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spring-boot-starter-</a:t>
                      </a:r>
                      <a:r>
                        <a:rPr lang="en-US" sz="900" dirty="0">
                          <a:solidFill>
                            <a:srgbClr val="7030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data-jpa</a:t>
                      </a:r>
                      <a:endParaRPr lang="en-US" sz="900" dirty="0">
                        <a:solidFill>
                          <a:srgbClr val="7030A0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Hibernate + Spring Data JPA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spring-boot-starter-</a:t>
                      </a:r>
                      <a:r>
                        <a:rPr lang="en-US" sz="900" dirty="0">
                          <a:solidFill>
                            <a:srgbClr val="7030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security</a:t>
                      </a:r>
                      <a:endParaRPr lang="en-US" sz="900" dirty="0">
                        <a:solidFill>
                          <a:srgbClr val="7030A0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Security 인증·인가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spring-boot-starter-</a:t>
                      </a:r>
                      <a:r>
                        <a:rPr lang="en-US" sz="900" dirty="0">
                          <a:solidFill>
                            <a:srgbClr val="7030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</a:t>
                      </a:r>
                      <a:endParaRPr lang="en-US" sz="900" dirty="0">
                        <a:solidFill>
                          <a:srgbClr val="7030A0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 5, Mockito, AssertJ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spring-boot-starter-</a:t>
                      </a:r>
                      <a:r>
                        <a:rPr lang="en-US" sz="900" dirty="0">
                          <a:solidFill>
                            <a:srgbClr val="7030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actuator</a:t>
                      </a:r>
                      <a:endParaRPr lang="en-US" sz="900" dirty="0">
                        <a:solidFill>
                          <a:srgbClr val="7030A0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모니터링 &amp; 관리 엔드포인트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spring-boot-starter-</a:t>
                      </a:r>
                      <a:r>
                        <a:rPr lang="en-US" sz="900" dirty="0">
                          <a:solidFill>
                            <a:srgbClr val="7030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validation</a:t>
                      </a:r>
                      <a:endParaRPr lang="en-US" sz="900" dirty="0">
                        <a:solidFill>
                          <a:srgbClr val="7030A0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Bean Validation (Jakarta EE)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spring-boot-starter-</a:t>
                      </a:r>
                      <a:r>
                        <a:rPr lang="en-US" sz="900" dirty="0">
                          <a:solidFill>
                            <a:srgbClr val="7030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thymelea</a:t>
                      </a:r>
                      <a:r>
                        <a:rPr lang="en-US" sz="9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Thymeleaf 템플릿 엔진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spring-boot-starter-</a:t>
                      </a:r>
                      <a:r>
                        <a:rPr lang="en-US" sz="900" dirty="0">
                          <a:solidFill>
                            <a:srgbClr val="7030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webflux</a:t>
                      </a:r>
                      <a:endParaRPr lang="en-US" sz="900" dirty="0">
                        <a:solidFill>
                          <a:srgbClr val="7030A0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Reactive Web (Project Reactor)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17220"/>
            <a:ext cx="9144000" cy="4206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starter-web &amp; starter-data-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스타터를 pom.xml에 추가하면 자동으로 따라오는 라이브러리 목록 (Boot 4.0 / Spring Framework 7)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235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</a:t>
            </a:r>
            <a:r>
              <a:rPr lang="en-US" sz="120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webmvc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43584"/>
            <a:ext cx="411480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52728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Spring Web 핵심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426464"/>
            <a:ext cx="36576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44752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spring-webmvc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563624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DispatcherServlet, @Controller, @RequestMapping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700784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700784"/>
            <a:ext cx="36576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719072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spring-web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1837944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처리 기반 — RestTemplate, WebClient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975104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975104"/>
            <a:ext cx="36576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993392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spring-context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2112264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ApplicationContext, DI 컨테이너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286000"/>
            <a:ext cx="4114800" cy="1828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295144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내장 서버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468880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468880"/>
            <a:ext cx="36576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487168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spring-boot-starter-tomcat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2606040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11 (Servlet 6.1, Jakarta EE 11)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2743200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743200"/>
            <a:ext cx="36576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761488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tomcat-embed-core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2880360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핵심 엔진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017520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017520"/>
            <a:ext cx="36576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035808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tomcat-embed-websocket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3154680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지원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328416"/>
            <a:ext cx="411480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337560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직렬화 / 검증 / 로깅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511296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511296"/>
            <a:ext cx="36576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529584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tools.jackson:jackson-databind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65760" y="3648456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↔ Object (Jackson 3 — 새 그룹ID)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3785616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785616"/>
            <a:ext cx="36576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803904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hibernate-validator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5760" y="3922776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(@NotNull, @Size 등)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4059936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4059936"/>
            <a:ext cx="36576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78224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logback-classic / slf4j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" y="4197096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로깅 프레임워크 기본값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4370832"/>
            <a:ext cx="4114800" cy="256032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" y="4379976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Auto Config: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DispatcherServlet · ViewResolver · Jackson 자동 등록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9235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spring-boot-starter-data-jpa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754880" y="1243584"/>
            <a:ext cx="4114800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1252728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  JPA / ORM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54880" y="1426464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54880" y="1426464"/>
            <a:ext cx="36576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1444752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hibernate-core 7.x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846320" y="1563624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구현체 — @Entity, @Table, JPQL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54880" y="1700784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54880" y="1700784"/>
            <a:ext cx="36576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1719072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jakarta.persistence-api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846320" y="1837944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표준 API (Jakarta EE 11)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54880" y="1975104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54880" y="1975104"/>
            <a:ext cx="36576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46320" y="1993392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spring-data-jpa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846320" y="2112264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JpaRepository, @Query 자동 구현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754880" y="2286000"/>
            <a:ext cx="411480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28032" y="2295144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🏊  DB 연결 / 커넥션 풀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754880" y="2468880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54880" y="2468880"/>
            <a:ext cx="36576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46320" y="2487168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spring-boot-starter-jdbc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846320" y="2606040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DataSource, JdbcTemplate 지원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754880" y="2743200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54880" y="2743200"/>
            <a:ext cx="36576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46320" y="2761488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HikariCP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846320" y="2880360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커넥션 풀 (자동 설정)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754880" y="3017520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54880" y="3017520"/>
            <a:ext cx="36576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46320" y="3035808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spring-jdbc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4846320" y="3154680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핵심 추상화 레이어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754880" y="3328416"/>
            <a:ext cx="411480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28032" y="3337560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트랜잭션 / AOP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754880" y="3511296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54880" y="3511296"/>
            <a:ext cx="36576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46320" y="3529584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spring-tx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846320" y="3648456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처리 핵심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754880" y="3785616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754880" y="3785616"/>
            <a:ext cx="36576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46320" y="3803904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spring-aspects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4846320" y="3922776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AspectJ 기반 AOP 지원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754880" y="4059936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54880" y="4059936"/>
            <a:ext cx="36576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46320" y="4078224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spring-orm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4846320" y="4197096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EntityManager 통합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754880" y="4370832"/>
            <a:ext cx="41148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54880" y="4389120"/>
            <a:ext cx="41798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⚡Auto Config: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 · EntityManagerFactory · TransactionManager 자동 등록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526280" y="914400"/>
            <a:ext cx="22860" cy="40416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74320" y="4818888"/>
            <a:ext cx="8595360" cy="2468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74320" y="4818888"/>
            <a:ext cx="41148" cy="246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65760" y="482803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</a:t>
            </a:r>
            <a:r>
              <a:rPr lang="en-US" sz="10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000" dirty="0">
                <a:solidFill>
                  <a:schemeClr val="bg1"/>
                </a:solidFill>
              </a:rPr>
              <a:t>Starter: </a:t>
            </a:r>
            <a:r>
              <a:rPr lang="ko-KR" altLang="en-US" sz="1000" dirty="0">
                <a:solidFill>
                  <a:schemeClr val="bg1"/>
                </a:solidFill>
              </a:rPr>
              <a:t> 필요한 </a:t>
            </a:r>
            <a:r>
              <a:rPr lang="ko-KR" altLang="en-US" sz="1000" b="1" dirty="0">
                <a:solidFill>
                  <a:schemeClr val="bg1"/>
                </a:solidFill>
              </a:rPr>
              <a:t>라이브러리를 </a:t>
            </a:r>
            <a:r>
              <a:rPr lang="en-US" altLang="ko-KR" sz="1000" b="1" dirty="0">
                <a:solidFill>
                  <a:schemeClr val="bg1"/>
                </a:solidFill>
              </a:rPr>
              <a:t>CLASSPATH</a:t>
            </a:r>
            <a:r>
              <a:rPr lang="ko-KR" altLang="en-US" sz="1000" b="1" dirty="0">
                <a:solidFill>
                  <a:schemeClr val="bg1"/>
                </a:solidFill>
              </a:rPr>
              <a:t>에 추가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en-US" altLang="ko-KR" sz="1000" b="1" dirty="0">
                <a:solidFill>
                  <a:schemeClr val="bg1"/>
                </a:solidFill>
              </a:rPr>
              <a:t>Auto Configuration: </a:t>
            </a:r>
            <a:r>
              <a:rPr lang="en-US" altLang="ko-KR" sz="1000" dirty="0">
                <a:solidFill>
                  <a:schemeClr val="bg1"/>
                </a:solidFill>
              </a:rPr>
              <a:t>CLASSPATH</a:t>
            </a:r>
            <a:r>
              <a:rPr lang="ko-KR" altLang="en-US" sz="1000" dirty="0">
                <a:solidFill>
                  <a:schemeClr val="bg1"/>
                </a:solidFill>
              </a:rPr>
              <a:t>를 탐색하여 </a:t>
            </a:r>
            <a:r>
              <a:rPr lang="en-US" altLang="ko-KR" sz="1000" dirty="0">
                <a:solidFill>
                  <a:schemeClr val="bg1"/>
                </a:solidFill>
              </a:rPr>
              <a:t>Bean </a:t>
            </a:r>
            <a:r>
              <a:rPr lang="ko-KR" altLang="en-US" sz="1000" dirty="0">
                <a:solidFill>
                  <a:schemeClr val="bg1"/>
                </a:solidFill>
              </a:rPr>
              <a:t>등록 결정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019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040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서버 설치 </a:t>
            </a:r>
            <a:r>
              <a:rPr lang="en-US" sz="11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없이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JAR </a:t>
            </a:r>
            <a:r>
              <a:rPr lang="ko-KR" alt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하나로 </a:t>
            </a:r>
            <a:r>
              <a:rPr lang="en-US" sz="11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9544" y="1143935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Servlet Container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776" y="1571172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776" y="1571172"/>
            <a:ext cx="24688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3224" y="1827204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34" y="1907214"/>
            <a:ext cx="297180" cy="2971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1008" y="17357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9216" y="202837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내장 서버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(spring-boot-starter-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webmvc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포함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776" y="3056611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776" y="3056611"/>
            <a:ext cx="246888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3224" y="3312643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34" y="3392653"/>
            <a:ext cx="297180" cy="2971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71008" y="3221203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Jetty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9216" y="3513811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경량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서버 (Undertow도 지원)</a:t>
            </a:r>
            <a:endParaRPr lang="en-US" sz="950" dirty="0"/>
          </a:p>
        </p:txBody>
      </p:sp>
      <p:sp>
        <p:nvSpPr>
          <p:cNvPr id="71" name="Shape 7"/>
          <p:cNvSpPr/>
          <p:nvPr/>
        </p:nvSpPr>
        <p:spPr>
          <a:xfrm>
            <a:off x="2012256" y="1757515"/>
            <a:ext cx="749808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2" name="Text 8"/>
          <p:cNvSpPr/>
          <p:nvPr/>
        </p:nvSpPr>
        <p:spPr>
          <a:xfrm>
            <a:off x="2012256" y="1757515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기본값</a:t>
            </a:r>
            <a:endParaRPr lang="en-US" sz="800" dirty="0"/>
          </a:p>
        </p:txBody>
      </p:sp>
      <p:sp>
        <p:nvSpPr>
          <p:cNvPr id="73" name="Text 40"/>
          <p:cNvSpPr/>
          <p:nvPr/>
        </p:nvSpPr>
        <p:spPr>
          <a:xfrm>
            <a:off x="4419218" y="114992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패키징 구조</a:t>
            </a:r>
            <a:endParaRPr lang="en-US" sz="1150" dirty="0"/>
          </a:p>
        </p:txBody>
      </p:sp>
      <p:sp>
        <p:nvSpPr>
          <p:cNvPr id="74" name="Shape 41"/>
          <p:cNvSpPr/>
          <p:nvPr/>
        </p:nvSpPr>
        <p:spPr>
          <a:xfrm>
            <a:off x="4464308" y="1594032"/>
            <a:ext cx="3291840" cy="1060704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6B6D4">
                <a:alpha val="30000"/>
              </a:srgbClr>
            </a:outerShdw>
          </a:effectLst>
        </p:spPr>
      </p:sp>
      <p:sp>
        <p:nvSpPr>
          <p:cNvPr id="75" name="Text 42"/>
          <p:cNvSpPr/>
          <p:nvPr/>
        </p:nvSpPr>
        <p:spPr>
          <a:xfrm>
            <a:off x="4464308" y="159403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mycoolapp.jar</a:t>
            </a:r>
            <a:endParaRPr lang="en-US" sz="900" dirty="0"/>
          </a:p>
        </p:txBody>
      </p:sp>
      <p:sp>
        <p:nvSpPr>
          <p:cNvPr id="76" name="Shape 43"/>
          <p:cNvSpPr/>
          <p:nvPr/>
        </p:nvSpPr>
        <p:spPr>
          <a:xfrm>
            <a:off x="4583180" y="1850064"/>
            <a:ext cx="3054096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7" name="Text 44"/>
          <p:cNvSpPr/>
          <p:nvPr/>
        </p:nvSpPr>
        <p:spPr>
          <a:xfrm>
            <a:off x="4583180" y="1850064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Code</a:t>
            </a:r>
            <a:endParaRPr lang="en-US" sz="1100" dirty="0"/>
          </a:p>
        </p:txBody>
      </p:sp>
      <p:sp>
        <p:nvSpPr>
          <p:cNvPr id="78" name="Shape 45"/>
          <p:cNvSpPr/>
          <p:nvPr/>
        </p:nvSpPr>
        <p:spPr>
          <a:xfrm>
            <a:off x="4583180" y="2179248"/>
            <a:ext cx="3054096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9" name="Text 46"/>
          <p:cNvSpPr/>
          <p:nvPr/>
        </p:nvSpPr>
        <p:spPr>
          <a:xfrm>
            <a:off x="4583180" y="2179248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11</a:t>
            </a:r>
            <a:endParaRPr lang="en-US" sz="1100" dirty="0"/>
          </a:p>
        </p:txBody>
      </p:sp>
      <p:sp>
        <p:nvSpPr>
          <p:cNvPr id="80" name="Shape 47"/>
          <p:cNvSpPr/>
          <p:nvPr/>
        </p:nvSpPr>
        <p:spPr>
          <a:xfrm>
            <a:off x="4464308" y="2713062"/>
            <a:ext cx="329184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1" name="Text 48"/>
          <p:cNvSpPr/>
          <p:nvPr/>
        </p:nvSpPr>
        <p:spPr>
          <a:xfrm>
            <a:off x="4500884" y="2712741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-jar mycoolapp.jar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바로 실행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별도 설치·배포 불필요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17220"/>
            <a:ext cx="9144000" cy="4206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Spring Boot Actuator — 운영 모니터링 &amp; 관리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</a:t>
            </a:r>
            <a:r>
              <a:rPr lang="en-US" sz="10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엔드포인트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호출시</a:t>
            </a:r>
            <a:r>
              <a:rPr lang="ko-KR" alt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실행 중인 애플리케이션 상태를 실시간으로 확인·관리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8595360" cy="347472"/>
          </a:xfrm>
          <a:prstGeom prst="rect">
            <a:avLst/>
          </a:prstGeom>
          <a:solidFill>
            <a:srgbClr val="1C3A4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32688"/>
            <a:ext cx="43891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32688"/>
            <a:ext cx="8394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핵심: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의존성 하나 추가 →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엔드포인트가 자동 생성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되어 앱 상태·메트릭·Bean 목록·로그 레벨 등을 런타임에 확인할 수 있다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13898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의존성 추가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32004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19" y="1664208"/>
            <a:ext cx="33832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&lt;groupId&gt;org.springframework.boot&lt;/groupId&gt;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artifactId</a:t>
            </a: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spring-boot-starter-actuator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artifactId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0" y="138988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application.properties 설정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1627632"/>
            <a:ext cx="5212080" cy="882238"/>
          </a:xfrm>
          <a:prstGeom prst="rect">
            <a:avLst/>
          </a:prstGeom>
          <a:solidFill>
            <a:srgbClr val="0F172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4176" y="1664208"/>
            <a:ext cx="5065776" cy="81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모든 엔드포인트 노출 (기본: health만 노출)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management.endpoints.web.exposure.include=*</a:t>
            </a:r>
            <a:endParaRPr lang="en-US" sz="850" dirty="0"/>
          </a:p>
          <a:p>
            <a:pPr marL="0" indent="0">
              <a:buNone/>
            </a:pPr>
            <a:r>
              <a:rPr lang="en-US" sz="8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management.endpoints.web.exposure.exclude</a:t>
            </a: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env,shutdown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" y="23408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주요 엔드포인트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859536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2606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엔드포인트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0" y="2606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49440" y="2606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8595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34640"/>
            <a:ext cx="41148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8437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/actuator/health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28437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상태 (UP/DOWN)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49440" y="2862072"/>
            <a:ext cx="1828800" cy="201168"/>
          </a:xfrm>
          <a:prstGeom prst="rect">
            <a:avLst/>
          </a:prstGeom>
          <a:solidFill>
            <a:srgbClr val="DCFCE7"/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862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노출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108960"/>
            <a:ext cx="859536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108960"/>
            <a:ext cx="4114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" y="3118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/actuator/info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0" y="31181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정보 (버전, 빌드)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49440" y="3136392"/>
            <a:ext cx="1828800" cy="201168"/>
          </a:xfrm>
          <a:prstGeom prst="rect">
            <a:avLst/>
          </a:prstGeom>
          <a:solidFill>
            <a:srgbClr val="FFFBEB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3136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+ info properties </a:t>
            </a:r>
            <a:r>
              <a:rPr lang="ko-KR" alt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필요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3383280"/>
            <a:ext cx="8595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383280"/>
            <a:ext cx="41148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339242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/actuator/metrics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0" y="3392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메모리, HTTP 요청 수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49440" y="3410712"/>
            <a:ext cx="1828800" cy="201168"/>
          </a:xfrm>
          <a:prstGeom prst="rect">
            <a:avLst/>
          </a:prstGeom>
          <a:solidFill>
            <a:srgbClr val="FFFBEB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3410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설정 필요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3657600"/>
            <a:ext cx="859536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657600"/>
            <a:ext cx="4114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" y="366674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/actuator/beans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00400" y="3666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등록된 모든 Bean 목록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49440" y="3685032"/>
            <a:ext cx="1828800" cy="201168"/>
          </a:xfrm>
          <a:prstGeom prst="rect">
            <a:avLst/>
          </a:prstGeom>
          <a:solidFill>
            <a:srgbClr val="FFFBEB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설정 필요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3931920"/>
            <a:ext cx="8595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3931920"/>
            <a:ext cx="4114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394106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/actuator/mappings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00400" y="39410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↔ 핸들러 매핑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949440" y="3959352"/>
            <a:ext cx="1828800" cy="201168"/>
          </a:xfrm>
          <a:prstGeom prst="rect">
            <a:avLst/>
          </a:prstGeom>
          <a:solidFill>
            <a:srgbClr val="FFFBEB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3959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설정 필요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4206240"/>
            <a:ext cx="859536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4206240"/>
            <a:ext cx="41148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" y="42153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/actuator/loggers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00400" y="42153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레벨 실시간 변경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949440" y="4233672"/>
            <a:ext cx="1828800" cy="201168"/>
          </a:xfrm>
          <a:prstGeom prst="rect">
            <a:avLst/>
          </a:prstGeom>
          <a:solidFill>
            <a:srgbClr val="FFFBEB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9440" y="4233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설정 필요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74320" y="4480560"/>
            <a:ext cx="8595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4480560"/>
            <a:ext cx="41148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9184" y="44897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/actuator/env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200400" y="4489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환경변수 및 프로퍼티 확인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949440" y="4507992"/>
            <a:ext cx="1828800" cy="201168"/>
          </a:xfrm>
          <a:prstGeom prst="rect">
            <a:avLst/>
          </a:prstGeom>
          <a:solidFill>
            <a:srgbClr val="FEF2F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민감 정보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74320" y="4830554"/>
            <a:ext cx="8595360" cy="271798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4852626"/>
            <a:ext cx="8412480" cy="227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접속 예: http://localhost:8080/actuator/health  |  http://localhost:8080/actuator/metrics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404451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17220"/>
            <a:ext cx="9144000" cy="4206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— 실전 예제 (JSON 응답 분석)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엔드포인트 호출 시 실제로 돌아오는 응답 형식 및 활용 방법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411480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94183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/actuator/health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114800" cy="1383582"/>
          </a:xfrm>
          <a:prstGeom prst="rect">
            <a:avLst/>
          </a:prstGeom>
          <a:solidFill>
            <a:srgbClr val="0F172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07008"/>
            <a:ext cx="396849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</a:t>
            </a:r>
            <a:r>
              <a:rPr lang="en-US" sz="82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"UP"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"components": {
    "db": { "status": </a:t>
            </a:r>
            <a:r>
              <a:rPr lang="en-US" sz="82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"UP"</a:t>
            </a: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"details": {
</a:t>
            </a: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"database": "MySQL", "validationQuery": "isValid()"
    }},
</a:t>
            </a: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"diskSpace": { "status": </a:t>
            </a:r>
            <a:r>
              <a:rPr lang="en-US" sz="82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"UP"</a:t>
            </a: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"details": { "total": 499963174912, "free": 215893811200 }}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443984" y="1188720"/>
            <a:ext cx="865702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3983" y="1188720"/>
            <a:ext cx="8657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71626" y="1207008"/>
            <a:ext cx="3248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정상 동작 — DOWN이면 알림 트리거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43984" y="1591056"/>
            <a:ext cx="865702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3" y="1591056"/>
            <a:ext cx="8657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components.</a:t>
            </a:r>
          </a:p>
          <a:p>
            <a:pPr marL="0" indent="0" algn="ctr">
              <a:buNone/>
            </a:pPr>
            <a:r>
              <a:rPr lang="en-US" sz="900" b="1" dirty="0" err="1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71626" y="1609344"/>
            <a:ext cx="3248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연결 상태 자동 감지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43984" y="1993392"/>
            <a:ext cx="854490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3" y="1993392"/>
            <a:ext cx="8544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components.</a:t>
            </a:r>
          </a:p>
          <a:p>
            <a:pPr marL="0" indent="0" algn="ctr">
              <a:buNone/>
            </a:pPr>
            <a:r>
              <a:rPr lang="en-US" sz="900" b="1" dirty="0" err="1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diskSpace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71626" y="2011680"/>
            <a:ext cx="3248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디스크 여유 공간 확인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629056"/>
            <a:ext cx="41148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63820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/actuator/info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866800"/>
            <a:ext cx="4114800" cy="882236"/>
          </a:xfrm>
          <a:prstGeom prst="rect">
            <a:avLst/>
          </a:prstGeom>
          <a:solidFill>
            <a:srgbClr val="0F172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60130"/>
            <a:ext cx="3968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"app":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"My Spring Boot App",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 "학생 관리 시스템",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"version": "1.0.0"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4443984" y="2647974"/>
            <a:ext cx="4370832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98848" y="2657118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application.properties 설정 필요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43984" y="2885718"/>
            <a:ext cx="4370832" cy="819804"/>
          </a:xfrm>
          <a:prstGeom prst="rect">
            <a:avLst/>
          </a:prstGeom>
          <a:solidFill>
            <a:srgbClr val="0F172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17136" y="2922294"/>
            <a:ext cx="4224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management.info.env.enabled=true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info.app.name=My Spring Boot App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info.app.description=학생 관리 시스템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info.app.version=1.0.0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823448"/>
            <a:ext cx="4114800" cy="21945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" y="383259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/actuator/metrics/jvm.memory.used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061192"/>
            <a:ext cx="4114800" cy="1002692"/>
          </a:xfrm>
          <a:prstGeom prst="rect">
            <a:avLst/>
          </a:prstGeom>
          <a:solidFill>
            <a:srgbClr val="0F172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097768"/>
            <a:ext cx="3968496" cy="90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"jvm.memory.used",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"The amount of used memory",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"measurements": 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"statistic": "VALUE", "value": 124059648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"availableTags": [{ "tag": "area", "values": ["heap","nonheap"] }]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43984" y="3823448"/>
            <a:ext cx="4370832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98848" y="3832592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/actuator/loggers/{logger} — 로그 레벨 실시간 변경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43984" y="4061192"/>
            <a:ext cx="4370832" cy="1002692"/>
          </a:xfrm>
          <a:prstGeom prst="rect">
            <a:avLst/>
          </a:prstGeom>
          <a:solidFill>
            <a:srgbClr val="0F172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7136" y="4097768"/>
            <a:ext cx="4224528" cy="90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요청 (JSON body)
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\
  http://localhost:8080/actuator/loggers/\
  kr.ac.hansung \
  -H "Content-Type: application/json" \
</a:t>
            </a:r>
            <a:r>
              <a:rPr lang="en-US" sz="8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'{"configuredLevel":"DEBUG"}'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94471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</a:t>
            </a:r>
            <a:r>
              <a:rPr lang="en-US" altLang="ko-K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설정 방식 3가지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14364" y="942621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Boot에서 사용 가능한 Bean 등록 방법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0896" y="1378222"/>
            <a:ext cx="2743200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0896" y="1378222"/>
            <a:ext cx="2743200" cy="42062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37822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141479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기반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" y="162511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(레거시, 거의 미사용)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2336" y="1853710"/>
            <a:ext cx="2560320" cy="17190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59" y="1890286"/>
            <a:ext cx="268833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id="userService"</a:t>
            </a:r>
            <a:endParaRPr lang="en-US" sz="850" dirty="0"/>
          </a:p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class="kr.ac.hansung.service.UserService"</a:t>
            </a: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&lt;property name="</a:t>
            </a:r>
            <a:r>
              <a:rPr lang="en-US" sz="8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userDao</a:t>
            </a: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 ref="userDao"/&gt;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&lt;/bean&gt;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" y="366422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초기부터 사용된 방식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Boot에서는 거의 사용하지 않음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1378222"/>
            <a:ext cx="2743200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378222"/>
            <a:ext cx="2743200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37822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85616" y="141479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어노테이션 기반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85616" y="162511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(가장 일반적)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10128" y="1853710"/>
            <a:ext cx="2560320" cy="17190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890286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UserService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UserDao userDao;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JpaUserDao { ...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10128" y="366422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@Component, @Service, @Repository,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→ 컴포넌트 스캔으로 자동 등록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378222"/>
            <a:ext cx="2743200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378222"/>
            <a:ext cx="274320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37822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93408" y="141479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Config 기반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93408" y="162511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(명시적, 권장)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853710"/>
            <a:ext cx="2560320" cy="17190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890286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AppConfig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@Bean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UserService userService(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UserDao dao)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UserService(dao);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0" y="366422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 + @Bean 조합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 집중식 Bean 관리, 테스트 용이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773168"/>
            <a:ext cx="8595360" cy="219456"/>
          </a:xfrm>
          <a:prstGeom prst="rect">
            <a:avLst/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7823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Spring Boot에서는 어노테이션 기반 + Java Config 혼합 방식을 가장 </a:t>
            </a:r>
            <a:r>
              <a:rPr lang="en-US" sz="1000" b="1" dirty="0" err="1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많이</a:t>
            </a: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01987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716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번째 Spring Boot 앱 만들기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58544" y="2048256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Initializr → 프로젝트 구조 → 실행 → 구성 분석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926080"/>
            <a:ext cx="137160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92608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 algn="ctr">
              <a:buAutoNum type="arabicPeriod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Initializr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algn="ctr"/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생성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395728" y="2926080"/>
            <a:ext cx="137160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95728" y="292608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프로젝트 구조 이해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877055" y="2926080"/>
            <a:ext cx="1579705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77055" y="2926080"/>
            <a:ext cx="168943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@SpringBootApplication 분석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566489" y="2926080"/>
            <a:ext cx="137160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66489" y="292608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Spring MVC + Thymeleaf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047817" y="2926080"/>
            <a:ext cx="137160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7817" y="292608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Application Properties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2137"/>
                </a:solidFill>
              </a:rPr>
              <a:t>1. Spring Initializr (프로젝트 생성)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</a:rPr>
              <a:t>https://start.spring.io  |  IntelliJ IDEA 내장 지원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41248"/>
            <a:ext cx="1645920" cy="20117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397764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방법 1: 웹 브라우저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① https://start.spring.io 접속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② Project: Maven / Gradle 선택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③ Language: Java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④ Spring Boot: 4.x 선택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⑤ Java: 21 선택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⑥ Dependencies 추가 (Web, JPA 등)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⑦ GENERATE 클릭 → ZIP 다운로드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⑧ 압축 해제 → IDE에서 Maven 프로젝트 Import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397764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방법 2: IntelliJ IDEA (권장)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① File → New → Project 선택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② 좌측에서 Spring Boot 선택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③ 그룹 ID, 아티팩트 ID 입력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④ Java 21, Maven/Gradle 선택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⑤ Next: Dependencies 선택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⑥ Spring Web, Spring Data JPA 등 체크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⑦ Finish → 프로젝트 자동 생성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</a:rPr>
              <a:t>⑧ Maven/Gradle 자동 sync 완료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BF5E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360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8427"/>
                </a:solidFill>
              </a:rPr>
              <a:t>💡  IntelliJ IDEA Ultimate 버전은 Spring Boot 프로젝트 생성, 실행, 디버깅을 IDE 내에서 모두 지원합니다.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99676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2137"/>
                </a:solidFill>
              </a:rPr>
              <a:t>2. Spring Boot 프로젝트 구조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</a:rPr>
              <a:t>표준 Maven 디렉토리 레이아웃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41248"/>
            <a:ext cx="1645920" cy="20117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1"/>
            <a:ext cx="4206240" cy="358508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4206240" cy="29261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051560"/>
            <a:ext cx="39502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my-springboot-app/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java/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kr/ac/hansung/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    ├── MyApplication.java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    ├── controller/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    ├── service/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    ├── repository/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    └── model/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resources/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   ├── application.properties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   ├── static/    ← CSS, JS, 이미지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   └── templates/ ← Thymeleaf 템플릿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test/java/  ← 테스트 코드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pom.xml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931920" cy="71323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36576" cy="71323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1" name="Text 9"/>
          <p:cNvSpPr/>
          <p:nvPr/>
        </p:nvSpPr>
        <p:spPr>
          <a:xfrm>
            <a:off x="4956048" y="10149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src/main/java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56048" y="1252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Java 소스 코드 위치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Controller, Service, Repository, Model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1764792"/>
            <a:ext cx="3931920" cy="71323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764792"/>
            <a:ext cx="36576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956048" y="18196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src/main/resources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56048" y="2057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설정 파일 및 정적 리소스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application.properties / yml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569464"/>
            <a:ext cx="3931920" cy="71323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569464"/>
            <a:ext cx="36576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26243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resources/static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56048" y="28620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정적 웹 리소스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CSS, JavaScript, 이미지 파일 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3374136"/>
            <a:ext cx="3931920" cy="71323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374136"/>
            <a:ext cx="36576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3429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resources/templates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56048" y="3666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템플릿 파일 위치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Thymeleaf, FreeMarker, Mustache 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4178808"/>
            <a:ext cx="3931920" cy="71323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4178808"/>
            <a:ext cx="36576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42336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src/test/java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56048" y="44714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테스트 소스 코드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JUnit 5, Mockito 기반 테스트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9004" y="4661611"/>
            <a:ext cx="4062458" cy="2743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0" name="Text 28"/>
          <p:cNvSpPr/>
          <p:nvPr/>
        </p:nvSpPr>
        <p:spPr>
          <a:xfrm>
            <a:off x="610444" y="4679899"/>
            <a:ext cx="39710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</a:rPr>
              <a:t>⚠  JAR 패키징 시 src/main/webapp </a:t>
            </a:r>
            <a:r>
              <a:rPr lang="en-US" sz="1000" dirty="0" err="1">
                <a:solidFill>
                  <a:srgbClr val="D97706"/>
                </a:solidFill>
              </a:rPr>
              <a:t>디렉토리는</a:t>
            </a:r>
            <a:r>
              <a:rPr lang="en-US" sz="1000" dirty="0">
                <a:solidFill>
                  <a:srgbClr val="D97706"/>
                </a:solidFill>
              </a:rPr>
              <a:t> 무</a:t>
            </a:r>
            <a:r>
              <a:rPr lang="ko-KR" altLang="en-US" sz="1000" dirty="0">
                <a:solidFill>
                  <a:srgbClr val="D97706"/>
                </a:solidFill>
              </a:rPr>
              <a:t>시</a:t>
            </a:r>
            <a:endParaRPr lang="en-US" sz="1000" dirty="0">
              <a:solidFill>
                <a:srgbClr val="D9770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355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2137"/>
                </a:solidFill>
              </a:rPr>
              <a:t>3. pom.xml 분석 (Spring Boot 4)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</a:rPr>
              <a:t>의존성 관리의 핵심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41248"/>
            <a:ext cx="1645920" cy="20117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4114800" cy="320040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4114800" cy="29261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051560"/>
            <a:ext cx="38587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&lt;!-- 1. Parent: 버전 관리 중앙화 --&gt;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&lt;parent&gt;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&lt;groupId&gt;org.springframework.boot&lt;/groupId&gt;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spring-boot-starter-parent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&lt;/artifactId&gt;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&lt;version&gt;4.0.6&lt;/version&gt;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&lt;/parent&gt;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&lt;!-- 2. Java 버전 설정 --&gt;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&lt;properties&gt;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&lt;java.version&gt;21&lt;/java.version&gt;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&lt;/properties&gt;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&lt;!-- 3. 패키징: JAR (기본값) --&gt;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&lt;packaging&gt;jar&lt;/packaging&gt;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320040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4114800" cy="29261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1" name="Text 9"/>
          <p:cNvSpPr/>
          <p:nvPr/>
        </p:nvSpPr>
        <p:spPr>
          <a:xfrm>
            <a:off x="4791456" y="1051560"/>
            <a:ext cx="38587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&lt;!-- 4. 주요 의존성 --&gt;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&lt;dependencies&gt;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&lt;dependency&gt;&lt;artifactId&gt;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spring-boot-starter-web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&lt;/artifactId&gt;&lt;/dependency&gt;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&lt;dependency&gt;&lt;artifactId&gt;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spring-boot-starter-thymeleaf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&lt;/artifactId&gt;&lt;/dependency&gt;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&lt;dependency&gt;&lt;artifactId&gt;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spring-boot-starter-data-jpa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&lt;/artifactId&gt;&lt;/dependency&gt;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테스트 --&gt;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&lt;scope&gt;test&lt;/scope&gt;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&lt;artifactId&gt;spring-boot-starter-test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&lt;/dependencies&gt;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&lt;!-- 5. Maven Plugin --&gt;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&lt;build&gt;&lt;plugins&gt;&lt;plugin&gt;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spring-boot-maven-plugin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&lt;/plugin&gt;&lt;/plugins&gt;&lt;/build&gt;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8229600" cy="71323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4297680"/>
            <a:ext cx="36576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3342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spring-boot-starter-parent 상속 구조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45720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My Project  →  spring-boot-starter-parent  →  spring-boot-dependencies  (모든 버전 BOM 포함)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566928" y="341071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spring-boot-dependencies를 상속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버전 일괄 관리, 플러그인 기본 설정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77596" y="1322033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번호 불필요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POM이 검증된 버전 제공</a:t>
            </a:r>
            <a:endParaRPr lang="en-US" sz="950" dirty="0"/>
          </a:p>
        </p:txBody>
      </p:sp>
      <p:sp>
        <p:nvSpPr>
          <p:cNvPr id="18" name="Text 21"/>
          <p:cNvSpPr/>
          <p:nvPr/>
        </p:nvSpPr>
        <p:spPr>
          <a:xfrm>
            <a:off x="6497758" y="3436315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package 시 자동으로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repackage 실행 → 실행 가능 FAT JAR 생성</a:t>
            </a:r>
            <a:endParaRPr lang="en-US" sz="950" dirty="0"/>
          </a:p>
        </p:txBody>
      </p:sp>
      <p:sp>
        <p:nvSpPr>
          <p:cNvPr id="20" name="Text 20"/>
          <p:cNvSpPr/>
          <p:nvPr/>
        </p:nvSpPr>
        <p:spPr>
          <a:xfrm>
            <a:off x="6217920" y="433425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# 실행 방법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mvn spring-boot:run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java -jar target/myapp.jar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86927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4. Application </a:t>
            </a:r>
            <a:r>
              <a:rPr lang="en-US" altLang="ko-KR" sz="2400" b="1" dirty="0" err="1">
                <a:solidFill>
                  <a:schemeClr val="bg1"/>
                </a:solidFill>
              </a:rPr>
              <a:t>EntryPoint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7040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i="1" dirty="0">
                <a:solidFill>
                  <a:srgbClr val="0891B2"/>
                </a:solidFill>
              </a:rPr>
              <a:t>@</a:t>
            </a:r>
            <a:r>
              <a:rPr lang="en-US" altLang="ko-KR" sz="1100" i="1" dirty="0" err="1">
                <a:solidFill>
                  <a:srgbClr val="0891B2"/>
                </a:solidFill>
              </a:rPr>
              <a:t>SpringBootApplication</a:t>
            </a:r>
            <a:r>
              <a:rPr lang="en-US" altLang="ko-KR" sz="1100" i="1" dirty="0">
                <a:solidFill>
                  <a:srgbClr val="0891B2"/>
                </a:solidFill>
              </a:rPr>
              <a:t> </a:t>
            </a:r>
            <a:r>
              <a:rPr lang="en-US" altLang="ko-KR" sz="1100" i="1" dirty="0" err="1">
                <a:solidFill>
                  <a:srgbClr val="0891B2"/>
                </a:solidFill>
              </a:rPr>
              <a:t>상세</a:t>
            </a:r>
            <a:r>
              <a:rPr lang="en-US" altLang="ko-KR" sz="1100" i="1" dirty="0">
                <a:solidFill>
                  <a:srgbClr val="0891B2"/>
                </a:solidFill>
              </a:rPr>
              <a:t> </a:t>
            </a:r>
            <a:r>
              <a:rPr lang="en-US" altLang="ko-KR" sz="1100" i="1" dirty="0" err="1">
                <a:solidFill>
                  <a:srgbClr val="0891B2"/>
                </a:solidFill>
              </a:rPr>
              <a:t>분석</a:t>
            </a:r>
            <a:endParaRPr lang="en-US" altLang="ko-KR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95436"/>
            <a:ext cx="4114800" cy="215798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58860"/>
            <a:ext cx="3931920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@SpringBootApplication
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@SpringBootConfiguration
// @EnableAutoConfiguration
// @ComponentScan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(String[] args)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SpringApplication.</a:t>
            </a:r>
            <a:r>
              <a:rPr lang="en-US" sz="105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MyApp.class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args);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930169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30169"/>
            <a:ext cx="73152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985033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@SpringBootConfiguration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91456" y="1241065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@Configuration의 특수화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정의 메서드 포함 가능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725697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725697"/>
            <a:ext cx="73152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780561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@EnableAutoConfiguration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91456" y="2036593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CLASSPATH 기반 자동 설정 활성화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 Bean 자동 등록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521225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521225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2576089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@ComponentScan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91456" y="2832121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패키지 및 하위 패키지 스캔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 계열 어노테이션 감지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26157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동작 (Behind the Scenes)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53552"/>
            <a:ext cx="219456" cy="21945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53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35718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 생성 및 </a:t>
            </a:r>
            <a:r>
              <a:rPr lang="en-US" altLang="ko-KR" sz="1050" dirty="0"/>
              <a:t>@</a:t>
            </a:r>
            <a:r>
              <a:rPr lang="en-US" altLang="ko-KR" sz="1050" dirty="0" err="1"/>
              <a:t>ComponentScan</a:t>
            </a:r>
            <a:r>
              <a:rPr lang="en-US" altLang="ko-KR" sz="1050" dirty="0"/>
              <a:t> → </a:t>
            </a:r>
            <a:r>
              <a:rPr lang="ko-KR" altLang="en-US" sz="1050" dirty="0"/>
              <a:t>개발자가 만든 </a:t>
            </a:r>
            <a:r>
              <a:rPr lang="en-US" altLang="ko-KR" sz="1050" dirty="0"/>
              <a:t>Bean </a:t>
            </a:r>
            <a:r>
              <a:rPr lang="ko-KR" altLang="en-US" sz="1050" dirty="0"/>
              <a:t>정의 로드</a:t>
            </a:r>
            <a:r>
              <a:rPr lang="en-US" altLang="ko-KR" sz="1050" dirty="0"/>
              <a:t>(@Controller, @Service, @Repository </a:t>
            </a:r>
            <a:r>
              <a:rPr lang="ko-KR" altLang="en-US" sz="1050" dirty="0"/>
              <a:t>등</a:t>
            </a:r>
            <a:r>
              <a:rPr lang="en-US" altLang="ko-KR" sz="1050" dirty="0"/>
              <a:t>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882736"/>
            <a:ext cx="219456" cy="21945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82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" y="4239189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 Tomcat 서버 구동 (기본 포트: 8080)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211920"/>
            <a:ext cx="219456" cy="21945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2119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8368" y="3875481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Configuration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통한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Bean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altLang="ko-KR" sz="1050" dirty="0" err="1"/>
              <a:t>DataSource</a:t>
            </a:r>
            <a:r>
              <a:rPr lang="en-US" altLang="ko-KR" sz="1050" dirty="0"/>
              <a:t>, </a:t>
            </a:r>
            <a:r>
              <a:rPr lang="en-US" altLang="ko-KR" sz="1050" dirty="0" err="1"/>
              <a:t>EntityManagerFactory</a:t>
            </a:r>
            <a:r>
              <a:rPr lang="en-US" altLang="ko-KR" sz="1050" dirty="0"/>
              <a:t>,  </a:t>
            </a:r>
            <a:r>
              <a:rPr lang="en-US" altLang="ko-KR" sz="1050" dirty="0" err="1"/>
              <a:t>TransactionManager</a:t>
            </a:r>
            <a:r>
              <a:rPr lang="en-US" altLang="ko-KR" sz="1050" dirty="0"/>
              <a:t>, </a:t>
            </a:r>
            <a:r>
              <a:rPr lang="en-US" altLang="ko-KR" sz="1050" dirty="0" err="1"/>
              <a:t>DispatcherServlet</a:t>
            </a:r>
            <a:r>
              <a:rPr lang="en-US" altLang="ko-KR" sz="1050" dirty="0"/>
              <a:t> </a:t>
            </a:r>
            <a:r>
              <a:rPr lang="ko-KR" altLang="en-US" sz="1050" dirty="0"/>
              <a:t>등</a:t>
            </a:r>
            <a:r>
              <a:rPr lang="en-US" altLang="ko-KR" sz="1050" dirty="0"/>
              <a:t>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541104"/>
            <a:ext cx="219456" cy="21945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541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8368" y="455939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CommandLineRunner / ApplicationRunner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콜백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050" dirty="0"/>
              <a:t>초기 데이터 로딩 등 실행</a:t>
            </a:r>
            <a:r>
              <a:rPr lang="en-US" altLang="ko-KR" sz="1050" dirty="0"/>
              <a:t>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8368" y="4871547"/>
            <a:ext cx="5637749" cy="237744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3142" y="4883529"/>
            <a:ext cx="58679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메인 클래스는 반드시 루트 패키지에 위치 → @ComponentScan이 모든 하위 패키지를 자동 탐색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Spring MVC + Thymeleaf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040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컨트롤러 → 모델 → 뷰 </a:t>
            </a:r>
            <a:r>
              <a:rPr lang="en-US" sz="11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템플릿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렌더링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918"/>
            <a:ext cx="1207008" cy="6217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918"/>
            <a:ext cx="1207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요청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6" y="1280798"/>
            <a:ext cx="164592" cy="201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83080" y="1097918"/>
            <a:ext cx="1207008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83080" y="1097918"/>
            <a:ext cx="1207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376" y="1280798"/>
            <a:ext cx="164592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0" y="1097918"/>
            <a:ext cx="1207008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0" y="1097918"/>
            <a:ext cx="1207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280798"/>
            <a:ext cx="164592" cy="20116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617720" y="1097918"/>
            <a:ext cx="120700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617720" y="1097918"/>
            <a:ext cx="1207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1280798"/>
            <a:ext cx="164592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035040" y="1097918"/>
            <a:ext cx="120700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035040" y="1097918"/>
            <a:ext cx="1207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렌더링</a:t>
            </a:r>
            <a:endParaRPr lang="en-US" sz="9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1280798"/>
            <a:ext cx="164592" cy="20116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452360" y="1097918"/>
            <a:ext cx="1207008" cy="6217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7452360" y="1097918"/>
            <a:ext cx="1207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365760" y="184772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HomeController.java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365760" y="2085470"/>
            <a:ext cx="393192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57200" y="2122046"/>
            <a:ext cx="3749040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HomeController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@GetMapping("/")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home(Model model)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model.addAttribute("</a:t>
            </a:r>
            <a:r>
              <a:rPr lang="en-US" sz="9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"Hello, Spring Boot!");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model.addAttribute("version", "4.0.x");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"index";   // → templates/index.html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4572000" y="184772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templates/index.html (Thymeleaf)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572000" y="2085470"/>
            <a:ext cx="420624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663440" y="2122046"/>
            <a:ext cx="4023360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xmlns:th="http://www.thymeleaf.org"&gt;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&lt;title&gt;Home&lt;/title&gt;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 th:text="${</a:t>
            </a:r>
            <a:r>
              <a:rPr lang="en-US" sz="9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}"&gt;&lt;/h1&gt;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&lt;p&gt;Spring Boot &lt;span th:text="${version}"/&gt;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65760" y="4097150"/>
            <a:ext cx="3931920" cy="621792"/>
          </a:xfrm>
          <a:prstGeom prst="rect">
            <a:avLst/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57200" y="413372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템플릿 엔진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57200" y="435318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 ·  FreeMarker  ·  Mustache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572000" y="4097150"/>
            <a:ext cx="4206240" cy="621792"/>
          </a:xfrm>
          <a:prstGeom prst="rect">
            <a:avLst/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663440" y="413372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리소스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663440" y="435318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/static, /public  →  CSS, JS, 이미지 자동 서빙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65760" y="482867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JSP는 JAR 패키징에서 지원 불완전 → Thymeleaf 사용 권장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Application Properties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application.properties 예시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9848"/>
            <a:ext cx="4114800" cy="2651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06424"/>
            <a:ext cx="393192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서버 설정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server.port=9000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server.servlet.context-path=/myapp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데이터소스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spring.datasource.url=jdbc:mysql://localhost:3306/db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spring.datasource.username=root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spring.datasource.driver-class-name=com.mysql.cj.jdbc.Driver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JPA / Hibernate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spring.jpa.hibernate.ddl-auto=update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spring.jpa.show-sql=true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로깅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logging.level.kr.ac.hansung=DEBUG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커스텀 프로퍼티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app.name=Spring Boot Demo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app.version=4.0.0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663440" y="82296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프로퍼티 읽기 방법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69848"/>
            <a:ext cx="411480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698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1  @Value 어노테이션 (단순 주입)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289304"/>
            <a:ext cx="4114800" cy="97305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307592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AppController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@Value("${app.name}")</a:t>
            </a:r>
            <a:endParaRPr lang="en-US" sz="85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appName;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@Value("${app.version}")</a:t>
            </a:r>
            <a:endParaRPr lang="en-US" sz="85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version;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2373654"/>
            <a:ext cx="411480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37365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2  @ConfigurationProperties (타입 안전, 권장)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593110"/>
            <a:ext cx="4114800" cy="112849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629686"/>
            <a:ext cx="3931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@ConfigurationProperties(prefix="app")</a:t>
            </a:r>
            <a:endParaRPr lang="en-US" sz="85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AppProperties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</a:t>
            </a:r>
            <a:r>
              <a:rPr lang="en-US" sz="8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</a:t>
            </a:r>
            <a:r>
              <a:rPr lang="en-US" sz="8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Getter &amp; Setter (또는 @Data Lombok)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8221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Profile 분리 (환경별 설정)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96512"/>
            <a:ext cx="4114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114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application-dev.properties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08960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개발 환경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416552"/>
            <a:ext cx="4114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434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application-prod.properties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08960" y="4434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운영 환경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736592"/>
            <a:ext cx="4114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754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application-test.properties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108960" y="4754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테스트 환경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4346553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활성화: spring.profiles.active=dev  또는  --spring.profiles.active=prod (CLI)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2137"/>
                </a:solidFill>
              </a:rPr>
              <a:t>7. Java 21 LTS &amp; Virtual Threads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</a:rPr>
              <a:t>Project Loom: 경량 스레드로 높은 동시성 처리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41248"/>
            <a:ext cx="1645920" cy="20117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</a:rPr>
              <a:t>기존 Platform Thread 방식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3931920" cy="201168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53312"/>
            <a:ext cx="3931920" cy="29261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444752"/>
            <a:ext cx="36758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기존: OS 스레드 1:1 매핑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요청 1 → OS Thread 1 (무겁고 비쌈)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요청 N → OS Thread 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동시 접속자 수 = 스레드 수 제한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application.properties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Spring Boot 2.x: 기본 스레드 풀</a:t>
            </a:r>
            <a:endParaRPr lang="en-US" sz="850" dirty="0"/>
          </a:p>
          <a:p>
            <a:pPr marL="0" indent="0">
              <a:buNone/>
            </a:pPr>
            <a:r>
              <a:rPr lang="en-US" sz="850" dirty="0" err="1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server.tomcat.threads.max</a:t>
            </a: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200개 동시 요청 처리 한계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8427"/>
                </a:solidFill>
              </a:rPr>
              <a:t>Java 21 Virtual Threads (Spring Boot 3.2+)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3931920" cy="1261872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794760"/>
            <a:ext cx="3931920" cy="29261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3886200"/>
            <a:ext cx="367588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application.properties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Virtual Thread 활성화 (단 한 줄!)</a:t>
            </a:r>
            <a:endParaRPr lang="en-US" sz="850" dirty="0"/>
          </a:p>
          <a:p>
            <a:pPr marL="0" indent="0">
              <a:buNone/>
            </a:pPr>
            <a:r>
              <a:rPr lang="en-US" sz="850" dirty="0" err="1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spring.threads.virtual.enabled</a:t>
            </a: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=true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Tomcat이 Virtual Thread 사용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수십만 동시 요청 처리 가능!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코드 변경 없음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206240" cy="405079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05840"/>
            <a:ext cx="41148" cy="40507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078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Virtual Thread vs Platform Thread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1298448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00016" y="14538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구분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0" y="1417320"/>
            <a:ext cx="1298448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025896" y="14538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Platform Thread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0" y="1417320"/>
            <a:ext cx="1298448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7351776" y="14538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Virtual Thread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874520"/>
            <a:ext cx="1298448" cy="402336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24" name="Text 22"/>
          <p:cNvSpPr/>
          <p:nvPr/>
        </p:nvSpPr>
        <p:spPr>
          <a:xfrm>
            <a:off x="4700016" y="19110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생성 비용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89320" y="1874520"/>
            <a:ext cx="1298448" cy="402336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6025896" y="19110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무거움 (~1MB)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0" y="1874520"/>
            <a:ext cx="1298448" cy="402336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28" name="Text 26"/>
          <p:cNvSpPr/>
          <p:nvPr/>
        </p:nvSpPr>
        <p:spPr>
          <a:xfrm>
            <a:off x="7351776" y="19110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8427"/>
                </a:solidFill>
              </a:rPr>
              <a:t>가벼움 (~1KB)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331720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00016" y="23682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OS 매핑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89320" y="2331720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025896" y="23682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1:1 (OS Thread)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0" y="2331720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351776" y="23682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8427"/>
                </a:solidFill>
              </a:rPr>
              <a:t>M:N (JVM 관리)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788920"/>
            <a:ext cx="1298448" cy="402336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36" name="Text 34"/>
          <p:cNvSpPr/>
          <p:nvPr/>
        </p:nvSpPr>
        <p:spPr>
          <a:xfrm>
            <a:off x="4700016" y="28254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동시성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89320" y="2788920"/>
            <a:ext cx="1298448" cy="402336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38" name="Text 36"/>
          <p:cNvSpPr/>
          <p:nvPr/>
        </p:nvSpPr>
        <p:spPr>
          <a:xfrm>
            <a:off x="6025896" y="28254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수백 ~ 수천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0" y="2788920"/>
            <a:ext cx="1298448" cy="402336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40" name="Text 38"/>
          <p:cNvSpPr/>
          <p:nvPr/>
        </p:nvSpPr>
        <p:spPr>
          <a:xfrm>
            <a:off x="7351776" y="28254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8427"/>
                </a:solidFill>
              </a:rPr>
              <a:t>수십만 ~ 수백만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246120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700016" y="32826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블로킹 I/O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89320" y="3246120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025896" y="32826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스레드 낭비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0" y="3246120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7351776" y="32826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8427"/>
                </a:solidFill>
              </a:rPr>
              <a:t>자동 yield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703320"/>
            <a:ext cx="1298448" cy="402336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48" name="Text 46"/>
          <p:cNvSpPr/>
          <p:nvPr/>
        </p:nvSpPr>
        <p:spPr>
          <a:xfrm>
            <a:off x="4700016" y="37398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코드 변경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89320" y="3703320"/>
            <a:ext cx="1298448" cy="402336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50" name="Text 48"/>
          <p:cNvSpPr/>
          <p:nvPr/>
        </p:nvSpPr>
        <p:spPr>
          <a:xfrm>
            <a:off x="6025896" y="37398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필요 없음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15200" y="3703320"/>
            <a:ext cx="1298448" cy="402336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52" name="Text 50"/>
          <p:cNvSpPr/>
          <p:nvPr/>
        </p:nvSpPr>
        <p:spPr>
          <a:xfrm>
            <a:off x="7351776" y="37398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8427"/>
                </a:solidFill>
              </a:rPr>
              <a:t>필요 없음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4160520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700016" y="41970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도입 버전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989320" y="4160520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025896" y="41970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Java 초기부터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15200" y="4160520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7351776" y="419709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8427"/>
                </a:solidFill>
              </a:rPr>
              <a:t>Java 21 (GA)</a:t>
            </a:r>
            <a:endParaRPr lang="en-US" sz="900" dirty="0"/>
          </a:p>
        </p:txBody>
      </p:sp>
      <p:sp>
        <p:nvSpPr>
          <p:cNvPr id="59" name="TextBox 58"/>
          <p:cNvSpPr txBox="1"/>
          <p:nvPr/>
        </p:nvSpPr>
        <p:spPr>
          <a:xfrm>
            <a:off x="4733032" y="4690872"/>
            <a:ext cx="29129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I/O</a:t>
            </a:r>
            <a:r>
              <a:rPr lang="ko-KR" altLang="en-US" sz="1200" dirty="0"/>
              <a:t>가 많은 일반적인 웹 앱에서는 </a:t>
            </a:r>
            <a:r>
              <a:rPr lang="en-US" altLang="ko-KR" sz="1200" dirty="0"/>
              <a:t>VT</a:t>
            </a:r>
            <a:r>
              <a:rPr lang="ko-KR" altLang="en-US" sz="1200" dirty="0"/>
              <a:t> 권장</a:t>
            </a:r>
          </a:p>
        </p:txBody>
      </p:sp>
    </p:spTree>
    <p:extLst>
      <p:ext uri="{BB962C8B-B14F-4D97-AF65-F5344CB8AC3E}">
        <p14:creationId xmlns:p14="http://schemas.microsoft.com/office/powerpoint/2010/main" val="4117508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  —  Spring Boot 개요 핵심 요약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96696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0332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Configuration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1453896"/>
            <a:ext cx="25420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CLASSPATH 기반 자동 Bean 등록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@ConditionalOn* 조건부 설정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868680"/>
            <a:ext cx="274320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86868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996696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13048" y="10332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Starters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82696" y="1453896"/>
            <a:ext cx="25420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의존성 묶음 제공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충돌 걱정 없이 개발 시작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868680"/>
            <a:ext cx="274320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86868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996696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11696" y="10332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Server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81344" y="1453896"/>
            <a:ext cx="25420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내장 → JAR 하나로 실행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-jar myapp.jar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87752"/>
            <a:ext cx="274320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587752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15768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" y="27523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Actuator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4048" y="3172968"/>
            <a:ext cx="25420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엔드포인트로 앱 모니터링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/health, /metrics, /beans 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72968" y="2587752"/>
            <a:ext cx="274320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2968" y="2587752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2715768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13048" y="27523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@SpringBootApplication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82696" y="3172968"/>
            <a:ext cx="25420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어노테이션 조합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진입점 클래스는 루트 패키지에 위치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71616" y="2587752"/>
            <a:ext cx="274320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1616" y="2587752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2715768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11696" y="27523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최신 기술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81344" y="3172968"/>
            <a:ext cx="25420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Virtual Threads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79145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"Convention over Configuration — Spring Boot은 개발자가 비즈니스 로직에 집중하게 만든다"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3933</Words>
  <Application>Microsoft Office PowerPoint</Application>
  <PresentationFormat>화면 슬라이드 쇼(16:9)</PresentationFormat>
  <Paragraphs>769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개요</dc:title>
  <dc:subject>PptxGenJS Presentation</dc:subject>
  <dc:creator>Spring Boot Lecture</dc:creator>
  <cp:lastModifiedBy>user</cp:lastModifiedBy>
  <cp:revision>26</cp:revision>
  <dcterms:created xsi:type="dcterms:W3CDTF">2026-05-07T02:52:04Z</dcterms:created>
  <dcterms:modified xsi:type="dcterms:W3CDTF">2026-05-08T05:33:29Z</dcterms:modified>
</cp:coreProperties>
</file>