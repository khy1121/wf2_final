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3" r:id="rId6"/>
    <p:sldId id="284" r:id="rId7"/>
    <p:sldId id="260" r:id="rId8"/>
    <p:sldId id="261" r:id="rId9"/>
    <p:sldId id="262" r:id="rId10"/>
    <p:sldId id="263" r:id="rId11"/>
    <p:sldId id="281" r:id="rId12"/>
    <p:sldId id="264" r:id="rId13"/>
    <p:sldId id="265" r:id="rId14"/>
    <p:sldId id="266" r:id="rId15"/>
    <p:sldId id="267" r:id="rId16"/>
    <p:sldId id="275" r:id="rId17"/>
    <p:sldId id="268" r:id="rId18"/>
    <p:sldId id="269" r:id="rId19"/>
    <p:sldId id="270" r:id="rId20"/>
    <p:sldId id="271" r:id="rId21"/>
    <p:sldId id="286" r:id="rId22"/>
    <p:sldId id="272" r:id="rId23"/>
    <p:sldId id="279" r:id="rId24"/>
    <p:sldId id="280" r:id="rId25"/>
    <p:sldId id="285" r:id="rId26"/>
    <p:sldId id="27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19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42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54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3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42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142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77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1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54864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33084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AAC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with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73164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SLF4J and Logback</a:t>
            </a:r>
            <a:endParaRPr lang="en-US" sz="4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2FB1843-581F-41DD-9CA6-C3E431996CCA}"/>
              </a:ext>
            </a:extLst>
          </p:cNvPr>
          <p:cNvSpPr/>
          <p:nvPr/>
        </p:nvSpPr>
        <p:spPr>
          <a:xfrm>
            <a:off x="502920" y="4402836"/>
            <a:ext cx="5029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80C2FEC-012B-4703-9A3F-42300E3B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75988"/>
            <a:ext cx="274320" cy="27432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4E909061-71B6-4205-972B-0D81F07F0593}"/>
              </a:ext>
            </a:extLst>
          </p:cNvPr>
          <p:cNvSpPr/>
          <p:nvPr/>
        </p:nvSpPr>
        <p:spPr>
          <a:xfrm>
            <a:off x="978408" y="440283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https://github.com/stelladream/hello-spring-logging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로깅이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필요한가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altLang="ko-KR" sz="2000" dirty="0"/>
          </a:p>
        </p:txBody>
      </p:sp>
      <p:sp>
        <p:nvSpPr>
          <p:cNvPr id="127" name="Shape 2"/>
          <p:cNvSpPr/>
          <p:nvPr/>
        </p:nvSpPr>
        <p:spPr>
          <a:xfrm>
            <a:off x="228600" y="804672"/>
            <a:ext cx="4160520" cy="38404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8" name="Text 3"/>
          <p:cNvSpPr/>
          <p:nvPr/>
        </p:nvSpPr>
        <p:spPr>
          <a:xfrm>
            <a:off x="274320" y="804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System.out.println()</a:t>
            </a:r>
            <a:endParaRPr lang="en-US" sz="1300" dirty="0"/>
          </a:p>
        </p:txBody>
      </p:sp>
      <p:sp>
        <p:nvSpPr>
          <p:cNvPr id="129" name="Shape 4"/>
          <p:cNvSpPr/>
          <p:nvPr/>
        </p:nvSpPr>
        <p:spPr>
          <a:xfrm>
            <a:off x="4663440" y="804672"/>
            <a:ext cx="425196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0" name="Text 5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Logging Framework</a:t>
            </a:r>
            <a:endParaRPr lang="en-US" sz="1300" dirty="0"/>
          </a:p>
        </p:txBody>
      </p:sp>
      <p:sp>
        <p:nvSpPr>
          <p:cNvPr id="131" name="Shape 6"/>
          <p:cNvSpPr/>
          <p:nvPr/>
        </p:nvSpPr>
        <p:spPr>
          <a:xfrm>
            <a:off x="228600" y="1280160"/>
            <a:ext cx="416052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2" name="Text 7"/>
          <p:cNvSpPr/>
          <p:nvPr/>
        </p:nvSpPr>
        <p:spPr>
          <a:xfrm>
            <a:off x="292608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3" name="Text 8"/>
          <p:cNvSpPr/>
          <p:nvPr/>
        </p:nvSpPr>
        <p:spPr>
          <a:xfrm>
            <a:off x="64008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제어 불가</a:t>
            </a:r>
            <a:endParaRPr lang="en-US" sz="1200" dirty="0"/>
          </a:p>
        </p:txBody>
      </p:sp>
      <p:sp>
        <p:nvSpPr>
          <p:cNvPr id="134" name="Text 9"/>
          <p:cNvSpPr/>
          <p:nvPr/>
        </p:nvSpPr>
        <p:spPr>
          <a:xfrm>
            <a:off x="64008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개념 없음 → 운영 서버에서도 모든 디버그 정보 노출</a:t>
            </a:r>
            <a:endParaRPr lang="en-US" sz="1000" dirty="0"/>
          </a:p>
        </p:txBody>
      </p:sp>
      <p:sp>
        <p:nvSpPr>
          <p:cNvPr id="135" name="Shape 10"/>
          <p:cNvSpPr/>
          <p:nvPr/>
        </p:nvSpPr>
        <p:spPr>
          <a:xfrm>
            <a:off x="228600" y="2167128"/>
            <a:ext cx="416052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6" name="Text 11"/>
          <p:cNvSpPr/>
          <p:nvPr/>
        </p:nvSpPr>
        <p:spPr>
          <a:xfrm>
            <a:off x="292608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7" name="Text 12"/>
          <p:cNvSpPr/>
          <p:nvPr/>
        </p:nvSpPr>
        <p:spPr>
          <a:xfrm>
            <a:off x="64008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추적 불가</a:t>
            </a:r>
            <a:endParaRPr lang="en-US" sz="1200" dirty="0"/>
          </a:p>
        </p:txBody>
      </p:sp>
      <p:sp>
        <p:nvSpPr>
          <p:cNvPr id="138" name="Text 13"/>
          <p:cNvSpPr/>
          <p:nvPr/>
        </p:nvSpPr>
        <p:spPr>
          <a:xfrm>
            <a:off x="640080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클래스·메서드 정보 없음 → 문제 원인 파악 어려움</a:t>
            </a:r>
            <a:endParaRPr lang="en-US" sz="1000" dirty="0"/>
          </a:p>
        </p:txBody>
      </p:sp>
      <p:sp>
        <p:nvSpPr>
          <p:cNvPr id="139" name="Shape 14"/>
          <p:cNvSpPr/>
          <p:nvPr/>
        </p:nvSpPr>
        <p:spPr>
          <a:xfrm>
            <a:off x="228600" y="3054096"/>
            <a:ext cx="416052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0" name="Text 15"/>
          <p:cNvSpPr/>
          <p:nvPr/>
        </p:nvSpPr>
        <p:spPr>
          <a:xfrm>
            <a:off x="29260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1" name="Text 16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 없음</a:t>
            </a:r>
            <a:endParaRPr lang="en-US" sz="1200" dirty="0"/>
          </a:p>
        </p:txBody>
      </p:sp>
      <p:sp>
        <p:nvSpPr>
          <p:cNvPr id="142" name="Text 17"/>
          <p:cNvSpPr/>
          <p:nvPr/>
        </p:nvSpPr>
        <p:spPr>
          <a:xfrm>
            <a:off x="640080" y="3401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날짜·시간·스레드·레벨 정보 없음 → 로그 분석 불가</a:t>
            </a:r>
            <a:endParaRPr lang="en-US" sz="1000" dirty="0"/>
          </a:p>
        </p:txBody>
      </p:sp>
      <p:sp>
        <p:nvSpPr>
          <p:cNvPr id="143" name="Shape 18"/>
          <p:cNvSpPr/>
          <p:nvPr/>
        </p:nvSpPr>
        <p:spPr>
          <a:xfrm>
            <a:off x="228600" y="3941064"/>
            <a:ext cx="416052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4" name="Text 19"/>
          <p:cNvSpPr/>
          <p:nvPr/>
        </p:nvSpPr>
        <p:spPr>
          <a:xfrm>
            <a:off x="292608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5" name="Text 20"/>
          <p:cNvSpPr/>
          <p:nvPr/>
        </p:nvSpPr>
        <p:spPr>
          <a:xfrm>
            <a:off x="64008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성능·안전 문제</a:t>
            </a:r>
            <a:endParaRPr lang="en-US" sz="1200" dirty="0"/>
          </a:p>
        </p:txBody>
      </p:sp>
      <p:sp>
        <p:nvSpPr>
          <p:cNvPr id="146" name="Text 21"/>
          <p:cNvSpPr/>
          <p:nvPr/>
        </p:nvSpPr>
        <p:spPr>
          <a:xfrm>
            <a:off x="640080" y="4288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멀티스레드 순서 보장 불가, 로그 양 조절 수단 없음</a:t>
            </a:r>
            <a:endParaRPr lang="en-US" sz="1000" dirty="0"/>
          </a:p>
        </p:txBody>
      </p:sp>
      <p:sp>
        <p:nvSpPr>
          <p:cNvPr id="147" name="Shape 22"/>
          <p:cNvSpPr/>
          <p:nvPr/>
        </p:nvSpPr>
        <p:spPr>
          <a:xfrm>
            <a:off x="4663440" y="1280160"/>
            <a:ext cx="42519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8" name="Text 23"/>
          <p:cNvSpPr/>
          <p:nvPr/>
        </p:nvSpPr>
        <p:spPr>
          <a:xfrm>
            <a:off x="4727448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9" name="Text 24"/>
          <p:cNvSpPr/>
          <p:nvPr/>
        </p:nvSpPr>
        <p:spPr>
          <a:xfrm>
            <a:off x="5074920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기반 선택 출력</a:t>
            </a:r>
            <a:endParaRPr lang="en-US" sz="1200" dirty="0"/>
          </a:p>
        </p:txBody>
      </p:sp>
      <p:sp>
        <p:nvSpPr>
          <p:cNvPr id="150" name="Text 25"/>
          <p:cNvSpPr/>
          <p:nvPr/>
        </p:nvSpPr>
        <p:spPr>
          <a:xfrm>
            <a:off x="507492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TRACE&lt;DEBUG&lt;INFO&lt;WARN&lt;ERROR — 환경별 레벨만 변경</a:t>
            </a:r>
            <a:endParaRPr lang="en-US" sz="1000" dirty="0"/>
          </a:p>
        </p:txBody>
      </p:sp>
      <p:sp>
        <p:nvSpPr>
          <p:cNvPr id="151" name="Shape 26"/>
          <p:cNvSpPr/>
          <p:nvPr/>
        </p:nvSpPr>
        <p:spPr>
          <a:xfrm>
            <a:off x="4663440" y="2167128"/>
            <a:ext cx="42519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2" name="Text 27"/>
          <p:cNvSpPr/>
          <p:nvPr/>
        </p:nvSpPr>
        <p:spPr>
          <a:xfrm>
            <a:off x="4727448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3" name="Text 28"/>
          <p:cNvSpPr/>
          <p:nvPr/>
        </p:nvSpPr>
        <p:spPr>
          <a:xfrm>
            <a:off x="507492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Named Entity</a:t>
            </a:r>
            <a:endParaRPr lang="en-US" sz="1200" dirty="0"/>
          </a:p>
        </p:txBody>
      </p:sp>
      <p:sp>
        <p:nvSpPr>
          <p:cNvPr id="154" name="Text 29"/>
          <p:cNvSpPr/>
          <p:nvPr/>
        </p:nvSpPr>
        <p:spPr>
          <a:xfrm>
            <a:off x="507492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패키지+클래스명으로 식별 → 특정 패키지만 상세 로그 활성화</a:t>
            </a:r>
            <a:endParaRPr lang="en-US" sz="1000" dirty="0"/>
          </a:p>
        </p:txBody>
      </p:sp>
      <p:sp>
        <p:nvSpPr>
          <p:cNvPr id="155" name="Shape 30"/>
          <p:cNvSpPr/>
          <p:nvPr/>
        </p:nvSpPr>
        <p:spPr>
          <a:xfrm>
            <a:off x="4663440" y="3054096"/>
            <a:ext cx="42519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6" name="Text 31"/>
          <p:cNvSpPr/>
          <p:nvPr/>
        </p:nvSpPr>
        <p:spPr>
          <a:xfrm>
            <a:off x="4727448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7" name="Text 32"/>
          <p:cNvSpPr/>
          <p:nvPr/>
        </p:nvSpPr>
        <p:spPr>
          <a:xfrm>
            <a:off x="50749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자유로운 출력 형식</a:t>
            </a:r>
            <a:endParaRPr lang="en-US" sz="1200" dirty="0"/>
          </a:p>
        </p:txBody>
      </p:sp>
      <p:sp>
        <p:nvSpPr>
          <p:cNvPr id="158" name="Text 33"/>
          <p:cNvSpPr/>
          <p:nvPr/>
        </p:nvSpPr>
        <p:spPr>
          <a:xfrm>
            <a:off x="5074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날짜·레벨·스레드·클래스명 등 원하는 포맷 설정 가능</a:t>
            </a:r>
            <a:endParaRPr lang="en-US" sz="1000" dirty="0"/>
          </a:p>
        </p:txBody>
      </p:sp>
      <p:sp>
        <p:nvSpPr>
          <p:cNvPr id="159" name="Shape 34"/>
          <p:cNvSpPr/>
          <p:nvPr/>
        </p:nvSpPr>
        <p:spPr>
          <a:xfrm>
            <a:off x="4663440" y="3941064"/>
            <a:ext cx="42519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1" name="Text 35"/>
          <p:cNvSpPr/>
          <p:nvPr/>
        </p:nvSpPr>
        <p:spPr>
          <a:xfrm>
            <a:off x="4727448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2" name="Text 36"/>
          <p:cNvSpPr/>
          <p:nvPr/>
        </p:nvSpPr>
        <p:spPr>
          <a:xfrm>
            <a:off x="5074920" y="3995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출력 목적지</a:t>
            </a:r>
            <a:endParaRPr lang="en-US" sz="1200" dirty="0"/>
          </a:p>
        </p:txBody>
      </p:sp>
      <p:sp>
        <p:nvSpPr>
          <p:cNvPr id="203" name="Text 37"/>
          <p:cNvSpPr/>
          <p:nvPr/>
        </p:nvSpPr>
        <p:spPr>
          <a:xfrm>
            <a:off x="5074920" y="42885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콘솔·파일·DB·원격 서버 동시 출력, 파일 자동 로테이션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</a:t>
            </a:r>
            <a:endParaRPr lang="en-US" sz="2000" dirty="0"/>
          </a:p>
        </p:txBody>
      </p:sp>
      <p:sp>
        <p:nvSpPr>
          <p:cNvPr id="34" name="Shape 4"/>
          <p:cNvSpPr/>
          <p:nvPr/>
        </p:nvSpPr>
        <p:spPr>
          <a:xfrm>
            <a:off x="347472" y="723324"/>
            <a:ext cx="4169664" cy="1893747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5"/>
          <p:cNvSpPr/>
          <p:nvPr/>
        </p:nvSpPr>
        <p:spPr>
          <a:xfrm>
            <a:off x="347472" y="723324"/>
            <a:ext cx="4169664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6"/>
          <p:cNvSpPr/>
          <p:nvPr/>
        </p:nvSpPr>
        <p:spPr>
          <a:xfrm>
            <a:off x="3917290" y="851340"/>
            <a:ext cx="508406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7"/>
          <p:cNvSpPr/>
          <p:nvPr/>
        </p:nvSpPr>
        <p:spPr>
          <a:xfrm>
            <a:off x="3917290" y="851340"/>
            <a:ext cx="508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</a:t>
            </a:r>
            <a:endParaRPr lang="en-US" sz="780" dirty="0"/>
          </a:p>
        </p:txBody>
      </p:sp>
      <p:sp>
        <p:nvSpPr>
          <p:cNvPr id="38" name="Text 8"/>
          <p:cNvSpPr/>
          <p:nvPr/>
        </p:nvSpPr>
        <p:spPr>
          <a:xfrm>
            <a:off x="512064" y="814764"/>
            <a:ext cx="33320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java.util.logging</a:t>
            </a:r>
            <a:endParaRPr lang="en-US" sz="1350" dirty="0"/>
          </a:p>
        </p:txBody>
      </p:sp>
      <p:sp>
        <p:nvSpPr>
          <p:cNvPr id="39" name="Text 9"/>
          <p:cNvSpPr/>
          <p:nvPr/>
        </p:nvSpPr>
        <p:spPr>
          <a:xfrm>
            <a:off x="512064" y="11256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내장  ·  거의 사용 안 함</a:t>
            </a:r>
            <a:endParaRPr lang="en-US" sz="900" dirty="0"/>
          </a:p>
        </p:txBody>
      </p:sp>
      <p:sp>
        <p:nvSpPr>
          <p:cNvPr id="40" name="Shape 10"/>
          <p:cNvSpPr/>
          <p:nvPr/>
        </p:nvSpPr>
        <p:spPr>
          <a:xfrm>
            <a:off x="512064" y="1381692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11"/>
          <p:cNvSpPr/>
          <p:nvPr/>
        </p:nvSpPr>
        <p:spPr>
          <a:xfrm>
            <a:off x="548640" y="145484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Java 1.4부터 JDK에 포함된 기본 로깅</a:t>
            </a:r>
            <a:endParaRPr lang="en-US" sz="950" dirty="0"/>
          </a:p>
        </p:txBody>
      </p:sp>
      <p:sp>
        <p:nvSpPr>
          <p:cNvPr id="42" name="Text 12"/>
          <p:cNvSpPr/>
          <p:nvPr/>
        </p:nvSpPr>
        <p:spPr>
          <a:xfrm>
            <a:off x="548640" y="182060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기능 제한, 설정 복잡, 실무 비적합</a:t>
            </a:r>
            <a:endParaRPr lang="en-US" sz="950" dirty="0"/>
          </a:p>
        </p:txBody>
      </p:sp>
      <p:sp>
        <p:nvSpPr>
          <p:cNvPr id="43" name="Text 13"/>
          <p:cNvSpPr/>
          <p:nvPr/>
        </p:nvSpPr>
        <p:spPr>
          <a:xfrm>
            <a:off x="548640" y="218636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Spring Boot에서는 SLF4J가 대체</a:t>
            </a:r>
            <a:endParaRPr lang="en-US" sz="950" dirty="0"/>
          </a:p>
        </p:txBody>
      </p:sp>
      <p:sp>
        <p:nvSpPr>
          <p:cNvPr id="44" name="Shape 14"/>
          <p:cNvSpPr/>
          <p:nvPr/>
        </p:nvSpPr>
        <p:spPr>
          <a:xfrm>
            <a:off x="4663440" y="723324"/>
            <a:ext cx="4169664" cy="1893747"/>
          </a:xfrm>
          <a:prstGeom prst="rect">
            <a:avLst/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15"/>
          <p:cNvSpPr/>
          <p:nvPr/>
        </p:nvSpPr>
        <p:spPr>
          <a:xfrm>
            <a:off x="4663440" y="723324"/>
            <a:ext cx="4169664" cy="54864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Shape 16"/>
          <p:cNvSpPr/>
          <p:nvPr/>
        </p:nvSpPr>
        <p:spPr>
          <a:xfrm>
            <a:off x="8065008" y="851340"/>
            <a:ext cx="676656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7" name="Text 17"/>
          <p:cNvSpPr/>
          <p:nvPr/>
        </p:nvSpPr>
        <p:spPr>
          <a:xfrm>
            <a:off x="8065008" y="85134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구버전</a:t>
            </a:r>
            <a:endParaRPr lang="en-US" sz="780" dirty="0"/>
          </a:p>
        </p:txBody>
      </p:sp>
      <p:sp>
        <p:nvSpPr>
          <p:cNvPr id="48" name="Text 18"/>
          <p:cNvSpPr/>
          <p:nvPr/>
        </p:nvSpPr>
        <p:spPr>
          <a:xfrm>
            <a:off x="4828032" y="814764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</a:t>
            </a:r>
            <a:endParaRPr lang="en-US" sz="1350" dirty="0"/>
          </a:p>
        </p:txBody>
      </p:sp>
      <p:sp>
        <p:nvSpPr>
          <p:cNvPr id="49" name="Text 19"/>
          <p:cNvSpPr/>
          <p:nvPr/>
        </p:nvSpPr>
        <p:spPr>
          <a:xfrm>
            <a:off x="4828032" y="11256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한때의 표준  ·  현재 Deprecated</a:t>
            </a:r>
            <a:endParaRPr lang="en-US" sz="900" dirty="0"/>
          </a:p>
        </p:txBody>
      </p:sp>
      <p:sp>
        <p:nvSpPr>
          <p:cNvPr id="50" name="Shape 20"/>
          <p:cNvSpPr/>
          <p:nvPr/>
        </p:nvSpPr>
        <p:spPr>
          <a:xfrm>
            <a:off x="4828032" y="1381692"/>
            <a:ext cx="384048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Text 21"/>
          <p:cNvSpPr/>
          <p:nvPr/>
        </p:nvSpPr>
        <p:spPr>
          <a:xfrm>
            <a:off x="4864608" y="145484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Java 로깅의 사실상 표준이었음</a:t>
            </a:r>
            <a:endParaRPr lang="en-US" sz="950" dirty="0"/>
          </a:p>
        </p:txBody>
      </p:sp>
      <p:sp>
        <p:nvSpPr>
          <p:cNvPr id="52" name="Text 22"/>
          <p:cNvSpPr/>
          <p:nvPr/>
        </p:nvSpPr>
        <p:spPr>
          <a:xfrm>
            <a:off x="4864608" y="182060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Log4Shell (CVE-2021-44228) 치명적 취약점 발견</a:t>
            </a:r>
            <a:endParaRPr lang="en-US" sz="950" dirty="0"/>
          </a:p>
        </p:txBody>
      </p:sp>
      <p:sp>
        <p:nvSpPr>
          <p:cNvPr id="53" name="Text 23"/>
          <p:cNvSpPr/>
          <p:nvPr/>
        </p:nvSpPr>
        <p:spPr>
          <a:xfrm>
            <a:off x="4864608" y="218636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→ 즉시 Logback / Log4j2 로 교체 권고</a:t>
            </a:r>
            <a:endParaRPr lang="en-US" sz="950" dirty="0"/>
          </a:p>
        </p:txBody>
      </p:sp>
      <p:sp>
        <p:nvSpPr>
          <p:cNvPr id="54" name="Shape 24"/>
          <p:cNvSpPr/>
          <p:nvPr/>
        </p:nvSpPr>
        <p:spPr>
          <a:xfrm>
            <a:off x="347472" y="2763384"/>
            <a:ext cx="4169664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25"/>
          <p:cNvSpPr/>
          <p:nvPr/>
        </p:nvSpPr>
        <p:spPr>
          <a:xfrm>
            <a:off x="347472" y="2763384"/>
            <a:ext cx="4169664" cy="5486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6" name="Shape 26"/>
          <p:cNvSpPr/>
          <p:nvPr/>
        </p:nvSpPr>
        <p:spPr>
          <a:xfrm>
            <a:off x="3412541" y="2891400"/>
            <a:ext cx="1013155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7" name="Text 27"/>
          <p:cNvSpPr/>
          <p:nvPr/>
        </p:nvSpPr>
        <p:spPr>
          <a:xfrm>
            <a:off x="3412541" y="2891400"/>
            <a:ext cx="10131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Default</a:t>
            </a:r>
            <a:endParaRPr lang="en-US" sz="780" dirty="0"/>
          </a:p>
        </p:txBody>
      </p:sp>
      <p:sp>
        <p:nvSpPr>
          <p:cNvPr id="58" name="Text 28"/>
          <p:cNvSpPr/>
          <p:nvPr/>
        </p:nvSpPr>
        <p:spPr>
          <a:xfrm>
            <a:off x="512064" y="2854824"/>
            <a:ext cx="28273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</a:t>
            </a:r>
            <a:endParaRPr lang="en-US" sz="1350" dirty="0"/>
          </a:p>
        </p:txBody>
      </p:sp>
      <p:sp>
        <p:nvSpPr>
          <p:cNvPr id="59" name="Text 29"/>
          <p:cNvSpPr/>
          <p:nvPr/>
        </p:nvSpPr>
        <p:spPr>
          <a:xfrm>
            <a:off x="512064" y="31657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후계자  ·  Spring Boot 기본값 ★</a:t>
            </a:r>
            <a:endParaRPr lang="en-US" sz="900" dirty="0"/>
          </a:p>
        </p:txBody>
      </p:sp>
      <p:sp>
        <p:nvSpPr>
          <p:cNvPr id="60" name="Shape 30"/>
          <p:cNvSpPr/>
          <p:nvPr/>
        </p:nvSpPr>
        <p:spPr>
          <a:xfrm>
            <a:off x="512064" y="3421752"/>
            <a:ext cx="3840480" cy="2743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1" name="Text 31"/>
          <p:cNvSpPr/>
          <p:nvPr/>
        </p:nvSpPr>
        <p:spPr>
          <a:xfrm>
            <a:off x="548640" y="349490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Log4J 창시자(Ceki Gülcü)가 직접 개발</a:t>
            </a:r>
            <a:endParaRPr lang="en-US" sz="950" dirty="0"/>
          </a:p>
        </p:txBody>
      </p:sp>
      <p:sp>
        <p:nvSpPr>
          <p:cNvPr id="62" name="Text 32"/>
          <p:cNvSpPr/>
          <p:nvPr/>
        </p:nvSpPr>
        <p:spPr>
          <a:xfrm>
            <a:off x="548640" y="386066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Log4J 대비 10× 성능, 작은 메모리</a:t>
            </a:r>
            <a:endParaRPr lang="en-US" sz="950" dirty="0"/>
          </a:p>
        </p:txBody>
      </p:sp>
      <p:sp>
        <p:nvSpPr>
          <p:cNvPr id="63" name="Text 33"/>
          <p:cNvSpPr/>
          <p:nvPr/>
        </p:nvSpPr>
        <p:spPr>
          <a:xfrm>
            <a:off x="548640" y="422642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spring-boot-starter 에 자동 포함</a:t>
            </a:r>
            <a:endParaRPr lang="en-US" sz="950" dirty="0"/>
          </a:p>
        </p:txBody>
      </p:sp>
      <p:sp>
        <p:nvSpPr>
          <p:cNvPr id="64" name="Shape 34"/>
          <p:cNvSpPr/>
          <p:nvPr/>
        </p:nvSpPr>
        <p:spPr>
          <a:xfrm>
            <a:off x="4663440" y="2763384"/>
            <a:ext cx="4169664" cy="179222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35"/>
          <p:cNvSpPr/>
          <p:nvPr/>
        </p:nvSpPr>
        <p:spPr>
          <a:xfrm>
            <a:off x="4663440" y="2763384"/>
            <a:ext cx="4169664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6" name="Shape 36"/>
          <p:cNvSpPr/>
          <p:nvPr/>
        </p:nvSpPr>
        <p:spPr>
          <a:xfrm>
            <a:off x="7980883" y="2891400"/>
            <a:ext cx="760781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37"/>
          <p:cNvSpPr/>
          <p:nvPr/>
        </p:nvSpPr>
        <p:spPr>
          <a:xfrm>
            <a:off x="7980883" y="289140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780" dirty="0"/>
          </a:p>
        </p:txBody>
      </p:sp>
      <p:sp>
        <p:nvSpPr>
          <p:cNvPr id="68" name="Text 38"/>
          <p:cNvSpPr/>
          <p:nvPr/>
        </p:nvSpPr>
        <p:spPr>
          <a:xfrm>
            <a:off x="4828032" y="2854824"/>
            <a:ext cx="30796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</a:t>
            </a:r>
            <a:endParaRPr lang="en-US" sz="1350" dirty="0"/>
          </a:p>
        </p:txBody>
      </p:sp>
      <p:sp>
        <p:nvSpPr>
          <p:cNvPr id="69" name="Text 39"/>
          <p:cNvSpPr/>
          <p:nvPr/>
        </p:nvSpPr>
        <p:spPr>
          <a:xfrm>
            <a:off x="4828032" y="31657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Logging Facade for Java</a:t>
            </a:r>
            <a:endParaRPr lang="en-US" sz="900" dirty="0"/>
          </a:p>
        </p:txBody>
      </p:sp>
      <p:sp>
        <p:nvSpPr>
          <p:cNvPr id="70" name="Shape 40"/>
          <p:cNvSpPr/>
          <p:nvPr/>
        </p:nvSpPr>
        <p:spPr>
          <a:xfrm>
            <a:off x="4828032" y="3421752"/>
            <a:ext cx="3840480" cy="2743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1" name="Text 41"/>
          <p:cNvSpPr/>
          <p:nvPr/>
        </p:nvSpPr>
        <p:spPr>
          <a:xfrm>
            <a:off x="4864608" y="349490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다양한 구현체에 대한 통일 인터페이스</a:t>
            </a:r>
            <a:endParaRPr lang="en-US" sz="950" dirty="0"/>
          </a:p>
        </p:txBody>
      </p:sp>
      <p:sp>
        <p:nvSpPr>
          <p:cNvPr id="72" name="Text 42"/>
          <p:cNvSpPr/>
          <p:nvPr/>
        </p:nvSpPr>
        <p:spPr>
          <a:xfrm>
            <a:off x="4864608" y="386066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코드는 SLF4J API만 사용 → 구현체 교체 자유</a:t>
            </a:r>
            <a:endParaRPr lang="en-US" sz="950" dirty="0"/>
          </a:p>
        </p:txBody>
      </p:sp>
      <p:sp>
        <p:nvSpPr>
          <p:cNvPr id="73" name="Text 43"/>
          <p:cNvSpPr/>
          <p:nvPr/>
        </p:nvSpPr>
        <p:spPr>
          <a:xfrm>
            <a:off x="4864608" y="422642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Spring Boot: SLF4J(API) + Logback(구현)</a:t>
            </a:r>
            <a:endParaRPr lang="en-US" sz="950" dirty="0"/>
          </a:p>
        </p:txBody>
      </p:sp>
      <p:sp>
        <p:nvSpPr>
          <p:cNvPr id="74" name="Shape 44"/>
          <p:cNvSpPr/>
          <p:nvPr/>
        </p:nvSpPr>
        <p:spPr>
          <a:xfrm>
            <a:off x="347472" y="4639794"/>
            <a:ext cx="8449056" cy="365760"/>
          </a:xfrm>
          <a:prstGeom prst="rect">
            <a:avLst/>
          </a:prstGeom>
          <a:solidFill>
            <a:srgbClr val="0A1E2A"/>
          </a:solidFill>
          <a:ln w="12700">
            <a:solidFill>
              <a:srgbClr val="00C2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5" name="Text 45"/>
          <p:cNvSpPr/>
          <p:nvPr/>
        </p:nvSpPr>
        <p:spPr>
          <a:xfrm>
            <a:off x="475488" y="4639794"/>
            <a:ext cx="8284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Spring Boot = SLF4J (인터페이스) + Logback (구현).  </a:t>
            </a:r>
            <a:r>
              <a:rPr lang="en-US" sz="950" dirty="0" err="1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코드는</a:t>
            </a: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SLF4J API만 사용하면 구현체를 자유롭게 교체할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— </a:t>
            </a:r>
            <a:r>
              <a:rPr lang="ko-KR" alt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 아키텍처</a:t>
            </a:r>
            <a:endParaRPr lang="en-US" altLang="ko-KR" sz="2000" dirty="0"/>
          </a:p>
        </p:txBody>
      </p:sp>
      <p:sp>
        <p:nvSpPr>
          <p:cNvPr id="29" name="Shape 4"/>
          <p:cNvSpPr/>
          <p:nvPr/>
        </p:nvSpPr>
        <p:spPr>
          <a:xfrm>
            <a:off x="132429" y="822960"/>
            <a:ext cx="2324619" cy="3376974"/>
          </a:xfrm>
          <a:prstGeom prst="rect">
            <a:avLst/>
          </a:prstGeom>
          <a:solidFill>
            <a:srgbClr val="182D45"/>
          </a:solidFill>
          <a:ln w="1524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5"/>
          <p:cNvSpPr/>
          <p:nvPr/>
        </p:nvSpPr>
        <p:spPr>
          <a:xfrm>
            <a:off x="274320" y="822960"/>
            <a:ext cx="1737360" cy="347472"/>
          </a:xfrm>
          <a:prstGeom prst="rect">
            <a:avLst/>
          </a:prstGeom>
          <a:solidFill>
            <a:srgbClr val="1C335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31" name="Text 6"/>
          <p:cNvSpPr/>
          <p:nvPr/>
        </p:nvSpPr>
        <p:spPr>
          <a:xfrm>
            <a:off x="27432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000" dirty="0"/>
          </a:p>
        </p:txBody>
      </p:sp>
      <p:sp>
        <p:nvSpPr>
          <p:cNvPr id="32" name="Text 7"/>
          <p:cNvSpPr/>
          <p:nvPr/>
        </p:nvSpPr>
        <p:spPr>
          <a:xfrm>
            <a:off x="189186" y="1207008"/>
            <a:ext cx="223128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50" dirty="0">
                <a:solidFill>
                  <a:srgbClr val="7E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org.slf4j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.*;
</a:t>
            </a:r>
            <a:r>
              <a:rPr lang="en-US" sz="850" dirty="0">
                <a:solidFill>
                  <a:srgbClr val="7E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 =
</a:t>
            </a:r>
            <a:r>
              <a:rPr lang="en-US" sz="850" dirty="0">
                <a:solidFill>
                  <a:srgbClr val="7E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 err="1">
                <a:solidFill>
                  <a:srgbClr val="7E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LoggerFactory.</a:t>
            </a:r>
            <a:r>
              <a:rPr lang="en-US" sz="850" dirty="0" err="1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getLogger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r>
              <a:rPr lang="en-US" sz="850" dirty="0" err="1">
                <a:solidFill>
                  <a:srgbClr val="FDA9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r>
              <a:rPr lang="en-US" sz="850" dirty="0">
                <a:solidFill>
                  <a:srgbClr val="FDA9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850" dirty="0">
                <a:solidFill>
                  <a:srgbClr val="7E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.info(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"msg"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3" name="Shape 8"/>
          <p:cNvSpPr/>
          <p:nvPr/>
        </p:nvSpPr>
        <p:spPr>
          <a:xfrm>
            <a:off x="2457050" y="2572301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4" name="Shape 9"/>
          <p:cNvSpPr/>
          <p:nvPr/>
        </p:nvSpPr>
        <p:spPr>
          <a:xfrm>
            <a:off x="2575134" y="2571986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5" name="Shape 10"/>
          <p:cNvSpPr/>
          <p:nvPr/>
        </p:nvSpPr>
        <p:spPr>
          <a:xfrm>
            <a:off x="2684862" y="2571986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6" name="Shape 11"/>
          <p:cNvSpPr/>
          <p:nvPr/>
        </p:nvSpPr>
        <p:spPr>
          <a:xfrm>
            <a:off x="2776302" y="834626"/>
            <a:ext cx="2103120" cy="3376974"/>
          </a:xfrm>
          <a:prstGeom prst="rect">
            <a:avLst/>
          </a:prstGeom>
          <a:solidFill>
            <a:srgbClr val="091B30"/>
          </a:solidFill>
          <a:ln w="25400">
            <a:solidFill>
              <a:srgbClr val="00C2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12"/>
          <p:cNvSpPr/>
          <p:nvPr/>
        </p:nvSpPr>
        <p:spPr>
          <a:xfrm>
            <a:off x="2776302" y="834626"/>
            <a:ext cx="210312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8" name="Text 13"/>
          <p:cNvSpPr/>
          <p:nvPr/>
        </p:nvSpPr>
        <p:spPr>
          <a:xfrm>
            <a:off x="2776302" y="83462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 API</a:t>
            </a:r>
            <a:endParaRPr lang="en-US" sz="1300" dirty="0"/>
          </a:p>
        </p:txBody>
      </p:sp>
      <p:sp>
        <p:nvSpPr>
          <p:cNvPr id="39" name="Text 14"/>
          <p:cNvSpPr/>
          <p:nvPr/>
        </p:nvSpPr>
        <p:spPr>
          <a:xfrm>
            <a:off x="2776302" y="125525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00" i="1" dirty="0">
                <a:solidFill>
                  <a:srgbClr val="5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 /  추상화 레이어</a:t>
            </a:r>
            <a:endParaRPr lang="en-US" sz="900" dirty="0"/>
          </a:p>
        </p:txBody>
      </p:sp>
      <p:sp>
        <p:nvSpPr>
          <p:cNvPr id="40" name="Shape 15"/>
          <p:cNvSpPr/>
          <p:nvPr/>
        </p:nvSpPr>
        <p:spPr>
          <a:xfrm>
            <a:off x="2904318" y="1547858"/>
            <a:ext cx="1847088" cy="27432"/>
          </a:xfrm>
          <a:prstGeom prst="rect">
            <a:avLst/>
          </a:prstGeom>
          <a:solidFill>
            <a:srgbClr val="1C335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41" name="Shape 16"/>
          <p:cNvSpPr/>
          <p:nvPr/>
        </p:nvSpPr>
        <p:spPr>
          <a:xfrm>
            <a:off x="2904318" y="1621010"/>
            <a:ext cx="1847088" cy="384048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17"/>
          <p:cNvSpPr/>
          <p:nvPr/>
        </p:nvSpPr>
        <p:spPr>
          <a:xfrm>
            <a:off x="2904318" y="162101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000" dirty="0"/>
          </a:p>
        </p:txBody>
      </p:sp>
      <p:sp>
        <p:nvSpPr>
          <p:cNvPr id="43" name="Shape 18"/>
          <p:cNvSpPr/>
          <p:nvPr/>
        </p:nvSpPr>
        <p:spPr>
          <a:xfrm>
            <a:off x="2904318" y="2096498"/>
            <a:ext cx="1847088" cy="384048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19"/>
          <p:cNvSpPr/>
          <p:nvPr/>
        </p:nvSpPr>
        <p:spPr>
          <a:xfrm>
            <a:off x="2904318" y="209649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LoggerFactory</a:t>
            </a:r>
            <a:endParaRPr lang="en-US" sz="1000" dirty="0"/>
          </a:p>
        </p:txBody>
      </p:sp>
      <p:sp>
        <p:nvSpPr>
          <p:cNvPr id="45" name="Shape 20"/>
          <p:cNvSpPr/>
          <p:nvPr/>
        </p:nvSpPr>
        <p:spPr>
          <a:xfrm>
            <a:off x="2904318" y="2571986"/>
            <a:ext cx="1847088" cy="384048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21"/>
          <p:cNvSpPr/>
          <p:nvPr/>
        </p:nvSpPr>
        <p:spPr>
          <a:xfrm>
            <a:off x="2904318" y="257198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ILoggerFactory</a:t>
            </a:r>
            <a:endParaRPr lang="en-US" sz="1000" dirty="0"/>
          </a:p>
        </p:txBody>
      </p:sp>
      <p:sp>
        <p:nvSpPr>
          <p:cNvPr id="47" name="Shape 22"/>
          <p:cNvSpPr/>
          <p:nvPr/>
        </p:nvSpPr>
        <p:spPr>
          <a:xfrm>
            <a:off x="2904318" y="3047474"/>
            <a:ext cx="1847088" cy="384048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23"/>
          <p:cNvSpPr/>
          <p:nvPr/>
        </p:nvSpPr>
        <p:spPr>
          <a:xfrm>
            <a:off x="2904318" y="304747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</a:t>
            </a:r>
            <a:endParaRPr lang="en-US" sz="1000" dirty="0"/>
          </a:p>
        </p:txBody>
      </p:sp>
      <p:sp>
        <p:nvSpPr>
          <p:cNvPr id="49" name="Shape 24"/>
          <p:cNvSpPr/>
          <p:nvPr/>
        </p:nvSpPr>
        <p:spPr>
          <a:xfrm>
            <a:off x="2904318" y="3522962"/>
            <a:ext cx="1847088" cy="384048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25"/>
          <p:cNvSpPr/>
          <p:nvPr/>
        </p:nvSpPr>
        <p:spPr>
          <a:xfrm>
            <a:off x="2904318" y="352296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MDC</a:t>
            </a:r>
            <a:endParaRPr lang="en-US" sz="1000" dirty="0"/>
          </a:p>
        </p:txBody>
      </p:sp>
      <p:sp>
        <p:nvSpPr>
          <p:cNvPr id="51" name="Shape 26"/>
          <p:cNvSpPr/>
          <p:nvPr/>
        </p:nvSpPr>
        <p:spPr>
          <a:xfrm>
            <a:off x="4952574" y="2571986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2" name="Shape 27"/>
          <p:cNvSpPr/>
          <p:nvPr/>
        </p:nvSpPr>
        <p:spPr>
          <a:xfrm>
            <a:off x="5062302" y="2571986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3" name="Shape 28"/>
          <p:cNvSpPr/>
          <p:nvPr/>
        </p:nvSpPr>
        <p:spPr>
          <a:xfrm>
            <a:off x="5172030" y="2571986"/>
            <a:ext cx="73152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4" name="Shape 29"/>
          <p:cNvSpPr/>
          <p:nvPr/>
        </p:nvSpPr>
        <p:spPr>
          <a:xfrm>
            <a:off x="5259376" y="877824"/>
            <a:ext cx="1360879" cy="1042416"/>
          </a:xfrm>
          <a:prstGeom prst="rect">
            <a:avLst/>
          </a:prstGeom>
          <a:solidFill>
            <a:srgbClr val="071A10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Text 30"/>
          <p:cNvSpPr/>
          <p:nvPr/>
        </p:nvSpPr>
        <p:spPr>
          <a:xfrm>
            <a:off x="5266944" y="98755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</a:t>
            </a:r>
            <a:endParaRPr lang="en-US" sz="1200" dirty="0"/>
          </a:p>
        </p:txBody>
      </p:sp>
      <p:sp>
        <p:nvSpPr>
          <p:cNvPr id="56" name="Text 31"/>
          <p:cNvSpPr/>
          <p:nvPr/>
        </p:nvSpPr>
        <p:spPr>
          <a:xfrm>
            <a:off x="5266944" y="140817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기본</a:t>
            </a:r>
            <a:endParaRPr lang="en-US" sz="800" dirty="0"/>
          </a:p>
        </p:txBody>
      </p:sp>
      <p:sp>
        <p:nvSpPr>
          <p:cNvPr id="57" name="Shape 32"/>
          <p:cNvSpPr/>
          <p:nvPr/>
        </p:nvSpPr>
        <p:spPr>
          <a:xfrm>
            <a:off x="5266944" y="2066544"/>
            <a:ext cx="1353312" cy="1042416"/>
          </a:xfrm>
          <a:prstGeom prst="rect">
            <a:avLst/>
          </a:prstGeom>
          <a:solidFill>
            <a:srgbClr val="1A1000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33"/>
          <p:cNvSpPr/>
          <p:nvPr/>
        </p:nvSpPr>
        <p:spPr>
          <a:xfrm>
            <a:off x="5266944" y="217627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200" dirty="0"/>
          </a:p>
        </p:txBody>
      </p:sp>
      <p:sp>
        <p:nvSpPr>
          <p:cNvPr id="59" name="Text 34"/>
          <p:cNvSpPr/>
          <p:nvPr/>
        </p:nvSpPr>
        <p:spPr>
          <a:xfrm>
            <a:off x="5266944" y="259689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 대안</a:t>
            </a:r>
            <a:endParaRPr lang="en-US" sz="800" dirty="0"/>
          </a:p>
        </p:txBody>
      </p:sp>
      <p:sp>
        <p:nvSpPr>
          <p:cNvPr id="60" name="Shape 35"/>
          <p:cNvSpPr/>
          <p:nvPr/>
        </p:nvSpPr>
        <p:spPr>
          <a:xfrm>
            <a:off x="5259376" y="3255264"/>
            <a:ext cx="1360880" cy="944670"/>
          </a:xfrm>
          <a:prstGeom prst="rect">
            <a:avLst/>
          </a:prstGeom>
          <a:solidFill>
            <a:srgbClr val="182D45"/>
          </a:solidFill>
          <a:ln w="1905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Text 36"/>
          <p:cNvSpPr/>
          <p:nvPr/>
        </p:nvSpPr>
        <p:spPr>
          <a:xfrm>
            <a:off x="5266944" y="336499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.logging</a:t>
            </a:r>
            <a:endParaRPr lang="en-US" sz="1200" dirty="0"/>
          </a:p>
        </p:txBody>
      </p:sp>
      <p:sp>
        <p:nvSpPr>
          <p:cNvPr id="62" name="Text 37"/>
          <p:cNvSpPr/>
          <p:nvPr/>
        </p:nvSpPr>
        <p:spPr>
          <a:xfrm>
            <a:off x="5266944" y="378561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800" i="1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내장</a:t>
            </a:r>
            <a:endParaRPr lang="en-US" sz="800" dirty="0"/>
          </a:p>
        </p:txBody>
      </p:sp>
      <p:sp>
        <p:nvSpPr>
          <p:cNvPr id="63" name="Shape 38"/>
          <p:cNvSpPr/>
          <p:nvPr/>
        </p:nvSpPr>
        <p:spPr>
          <a:xfrm>
            <a:off x="6748272" y="822960"/>
            <a:ext cx="2139696" cy="3376974"/>
          </a:xfrm>
          <a:prstGeom prst="rect">
            <a:avLst/>
          </a:prstGeom>
          <a:solidFill>
            <a:srgbClr val="182D45"/>
          </a:solidFill>
          <a:ln w="12700">
            <a:solidFill>
              <a:srgbClr val="1C3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39"/>
          <p:cNvSpPr/>
          <p:nvPr/>
        </p:nvSpPr>
        <p:spPr>
          <a:xfrm>
            <a:off x="6748272" y="822960"/>
            <a:ext cx="2139696" cy="347472"/>
          </a:xfrm>
          <a:prstGeom prst="rect">
            <a:avLst/>
          </a:prstGeom>
          <a:solidFill>
            <a:srgbClr val="1C335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65" name="Text 40"/>
          <p:cNvSpPr/>
          <p:nvPr/>
        </p:nvSpPr>
        <p:spPr>
          <a:xfrm>
            <a:off x="6748272" y="82296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JARs</a:t>
            </a:r>
            <a:endParaRPr lang="en-US" sz="1000" dirty="0"/>
          </a:p>
        </p:txBody>
      </p:sp>
      <p:sp>
        <p:nvSpPr>
          <p:cNvPr id="66" name="Shape 41"/>
          <p:cNvSpPr/>
          <p:nvPr/>
        </p:nvSpPr>
        <p:spPr>
          <a:xfrm>
            <a:off x="6876288" y="1205748"/>
            <a:ext cx="1883664" cy="658368"/>
          </a:xfrm>
          <a:prstGeom prst="rect">
            <a:avLst/>
          </a:prstGeom>
          <a:solidFill>
            <a:srgbClr val="13254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67" name="Text 42"/>
          <p:cNvSpPr/>
          <p:nvPr/>
        </p:nvSpPr>
        <p:spPr>
          <a:xfrm>
            <a:off x="6931152" y="126061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logback-classic</a:t>
            </a:r>
            <a:endParaRPr lang="en-US" sz="850" dirty="0"/>
          </a:p>
        </p:txBody>
      </p:sp>
      <p:sp>
        <p:nvSpPr>
          <p:cNvPr id="68" name="Text 43"/>
          <p:cNvSpPr/>
          <p:nvPr/>
        </p:nvSpPr>
        <p:spPr>
          <a:xfrm>
            <a:off x="6931152" y="1571508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logback-core</a:t>
            </a:r>
            <a:endParaRPr lang="en-US" sz="850" dirty="0"/>
          </a:p>
        </p:txBody>
      </p:sp>
      <p:sp>
        <p:nvSpPr>
          <p:cNvPr id="69" name="Shape 44"/>
          <p:cNvSpPr/>
          <p:nvPr/>
        </p:nvSpPr>
        <p:spPr>
          <a:xfrm>
            <a:off x="6876288" y="2226406"/>
            <a:ext cx="1883664" cy="658368"/>
          </a:xfrm>
          <a:prstGeom prst="rect">
            <a:avLst/>
          </a:prstGeom>
          <a:solidFill>
            <a:srgbClr val="13254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70" name="Text 45"/>
          <p:cNvSpPr/>
          <p:nvPr/>
        </p:nvSpPr>
        <p:spPr>
          <a:xfrm>
            <a:off x="6931152" y="228127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log4j-slf4j2-impl</a:t>
            </a:r>
            <a:endParaRPr lang="en-US" sz="850" dirty="0"/>
          </a:p>
        </p:txBody>
      </p:sp>
      <p:sp>
        <p:nvSpPr>
          <p:cNvPr id="71" name="Text 46"/>
          <p:cNvSpPr/>
          <p:nvPr/>
        </p:nvSpPr>
        <p:spPr>
          <a:xfrm>
            <a:off x="6931152" y="259216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log4j-core</a:t>
            </a:r>
            <a:endParaRPr lang="en-US" sz="850" dirty="0"/>
          </a:p>
        </p:txBody>
      </p:sp>
      <p:sp>
        <p:nvSpPr>
          <p:cNvPr id="72" name="Shape 47"/>
          <p:cNvSpPr/>
          <p:nvPr/>
        </p:nvSpPr>
        <p:spPr>
          <a:xfrm>
            <a:off x="6821424" y="3334722"/>
            <a:ext cx="1883664" cy="658368"/>
          </a:xfrm>
          <a:prstGeom prst="rect">
            <a:avLst/>
          </a:prstGeom>
          <a:solidFill>
            <a:srgbClr val="13254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73" name="Text 48"/>
          <p:cNvSpPr/>
          <p:nvPr/>
        </p:nvSpPr>
        <p:spPr>
          <a:xfrm>
            <a:off x="6876288" y="338958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slf4j-jdk14</a:t>
            </a:r>
            <a:endParaRPr lang="en-US" sz="850" dirty="0"/>
          </a:p>
        </p:txBody>
      </p:sp>
      <p:sp>
        <p:nvSpPr>
          <p:cNvPr id="74" name="Text 49"/>
          <p:cNvSpPr/>
          <p:nvPr/>
        </p:nvSpPr>
        <p:spPr>
          <a:xfrm>
            <a:off x="6876288" y="370048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(JDK only)</a:t>
            </a:r>
            <a:endParaRPr lang="en-US" sz="850" dirty="0"/>
          </a:p>
        </p:txBody>
      </p:sp>
      <p:sp>
        <p:nvSpPr>
          <p:cNvPr id="77" name="Shape 32"/>
          <p:cNvSpPr/>
          <p:nvPr/>
        </p:nvSpPr>
        <p:spPr>
          <a:xfrm>
            <a:off x="274320" y="4327632"/>
            <a:ext cx="8595360" cy="50292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8" name="Text 33"/>
          <p:cNvSpPr/>
          <p:nvPr/>
        </p:nvSpPr>
        <p:spPr>
          <a:xfrm>
            <a:off x="384048" y="4373352"/>
            <a:ext cx="8375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핵심: 코드는 SLF4J API만 사용 — Logback ↔ Log4j2 구현체를 코드 변경 없이 교체 가능!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기본 로깅 동작</a:t>
            </a:r>
            <a:endParaRPr lang="en-US" altLang="ko-KR" sz="2000" dirty="0"/>
          </a:p>
        </p:txBody>
      </p:sp>
      <p:sp>
        <p:nvSpPr>
          <p:cNvPr id="46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출력 예시</a:t>
            </a:r>
            <a:endParaRPr lang="en-US" sz="1200" dirty="0"/>
          </a:p>
        </p:txBody>
      </p:sp>
      <p:sp>
        <p:nvSpPr>
          <p:cNvPr id="47" name="Shape 3"/>
          <p:cNvSpPr/>
          <p:nvPr/>
        </p:nvSpPr>
        <p:spPr>
          <a:xfrm>
            <a:off x="274320" y="1078992"/>
            <a:ext cx="859536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8" name="Text 4"/>
          <p:cNvSpPr/>
          <p:nvPr/>
        </p:nvSpPr>
        <p:spPr>
          <a:xfrm>
            <a:off x="384048" y="1078992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콘솔 출력</a:t>
            </a:r>
            <a:endParaRPr lang="en-US" sz="900" dirty="0"/>
          </a:p>
        </p:txBody>
      </p:sp>
      <p:sp>
        <p:nvSpPr>
          <p:cNvPr id="49" name="Shape 5"/>
          <p:cNvSpPr/>
          <p:nvPr/>
        </p:nvSpPr>
        <p:spPr>
          <a:xfrm>
            <a:off x="274320" y="1335024"/>
            <a:ext cx="8595360" cy="859536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50" name="Text 6"/>
          <p:cNvSpPr/>
          <p:nvPr/>
        </p:nvSpPr>
        <p:spPr>
          <a:xfrm>
            <a:off x="384048" y="1408176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2025-10-15T09:58:21.317+09:00  INFO 12345 --- [           main] o.s.b.w.e.tomcat.TomcatWebServer  : Tomcat started on port 8080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2025-10-15T09:58:21.320+09:00  INFO 12345 --- [           main] k.a.h.cse.MyApplication           : Started MyApplication in 1.234 seconds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2025-10-15T09:58:25.104+09:00 DEBUG 12345 --- [nio-8080-exec-1] k.a.h.cse.service.UserService     : Fetching user id=42</a:t>
            </a:r>
            <a:endParaRPr lang="en-US" sz="800" dirty="0"/>
          </a:p>
        </p:txBody>
      </p:sp>
      <p:sp>
        <p:nvSpPr>
          <p:cNvPr id="51" name="Shape 7"/>
          <p:cNvSpPr/>
          <p:nvPr/>
        </p:nvSpPr>
        <p:spPr>
          <a:xfrm>
            <a:off x="22860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52" name="Text 8"/>
          <p:cNvSpPr/>
          <p:nvPr/>
        </p:nvSpPr>
        <p:spPr>
          <a:xfrm>
            <a:off x="22860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날짜/시간</a:t>
            </a:r>
            <a:endParaRPr lang="en-US" sz="1000" dirty="0"/>
          </a:p>
        </p:txBody>
      </p:sp>
      <p:sp>
        <p:nvSpPr>
          <p:cNvPr id="53" name="Shape 9"/>
          <p:cNvSpPr/>
          <p:nvPr/>
        </p:nvSpPr>
        <p:spPr>
          <a:xfrm>
            <a:off x="91440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54" name="Text 10"/>
          <p:cNvSpPr/>
          <p:nvPr/>
        </p:nvSpPr>
        <p:spPr>
          <a:xfrm>
            <a:off x="22860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2025-10-15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T09:58:21</a:t>
            </a:r>
            <a:endParaRPr lang="en-US" sz="900" dirty="0"/>
          </a:p>
        </p:txBody>
      </p:sp>
      <p:sp>
        <p:nvSpPr>
          <p:cNvPr id="55" name="Shape 11"/>
          <p:cNvSpPr/>
          <p:nvPr/>
        </p:nvSpPr>
        <p:spPr>
          <a:xfrm>
            <a:off x="196596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56" name="Text 12"/>
          <p:cNvSpPr/>
          <p:nvPr/>
        </p:nvSpPr>
        <p:spPr>
          <a:xfrm>
            <a:off x="196596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</a:t>
            </a:r>
            <a:endParaRPr lang="en-US" sz="1000" dirty="0"/>
          </a:p>
        </p:txBody>
      </p:sp>
      <p:sp>
        <p:nvSpPr>
          <p:cNvPr id="57" name="Shape 13"/>
          <p:cNvSpPr/>
          <p:nvPr/>
        </p:nvSpPr>
        <p:spPr>
          <a:xfrm>
            <a:off x="265176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58" name="Text 14"/>
          <p:cNvSpPr/>
          <p:nvPr/>
        </p:nvSpPr>
        <p:spPr>
          <a:xfrm>
            <a:off x="196596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DEBUG·WARN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ERROR·TRACE</a:t>
            </a:r>
            <a:endParaRPr lang="en-US" sz="900" dirty="0"/>
          </a:p>
        </p:txBody>
      </p:sp>
      <p:sp>
        <p:nvSpPr>
          <p:cNvPr id="59" name="Shape 15"/>
          <p:cNvSpPr/>
          <p:nvPr/>
        </p:nvSpPr>
        <p:spPr>
          <a:xfrm>
            <a:off x="342900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60" name="Text 16"/>
          <p:cNvSpPr/>
          <p:nvPr/>
        </p:nvSpPr>
        <p:spPr>
          <a:xfrm>
            <a:off x="342900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000" dirty="0"/>
          </a:p>
        </p:txBody>
      </p:sp>
      <p:sp>
        <p:nvSpPr>
          <p:cNvPr id="61" name="Shape 17"/>
          <p:cNvSpPr/>
          <p:nvPr/>
        </p:nvSpPr>
        <p:spPr>
          <a:xfrm>
            <a:off x="411480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62" name="Text 18"/>
          <p:cNvSpPr/>
          <p:nvPr/>
        </p:nvSpPr>
        <p:spPr>
          <a:xfrm>
            <a:off x="342900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</a:t>
            </a:r>
            <a:endParaRPr lang="en-US" sz="900" dirty="0"/>
          </a:p>
        </p:txBody>
      </p:sp>
      <p:sp>
        <p:nvSpPr>
          <p:cNvPr id="63" name="Shape 19"/>
          <p:cNvSpPr/>
          <p:nvPr/>
        </p:nvSpPr>
        <p:spPr>
          <a:xfrm>
            <a:off x="475488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64" name="Text 20"/>
          <p:cNvSpPr/>
          <p:nvPr/>
        </p:nvSpPr>
        <p:spPr>
          <a:xfrm>
            <a:off x="475488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스레드명</a:t>
            </a:r>
            <a:endParaRPr lang="en-US" sz="1000" dirty="0"/>
          </a:p>
        </p:txBody>
      </p:sp>
      <p:sp>
        <p:nvSpPr>
          <p:cNvPr id="65" name="Shape 21"/>
          <p:cNvSpPr/>
          <p:nvPr/>
        </p:nvSpPr>
        <p:spPr>
          <a:xfrm>
            <a:off x="544068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66" name="Text 22"/>
          <p:cNvSpPr/>
          <p:nvPr/>
        </p:nvSpPr>
        <p:spPr>
          <a:xfrm>
            <a:off x="475488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중인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 이름</a:t>
            </a:r>
            <a:endParaRPr lang="en-US" sz="900" dirty="0"/>
          </a:p>
        </p:txBody>
      </p:sp>
      <p:sp>
        <p:nvSpPr>
          <p:cNvPr id="67" name="Shape 23"/>
          <p:cNvSpPr/>
          <p:nvPr/>
        </p:nvSpPr>
        <p:spPr>
          <a:xfrm>
            <a:off x="603504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68" name="Text 24"/>
          <p:cNvSpPr/>
          <p:nvPr/>
        </p:nvSpPr>
        <p:spPr>
          <a:xfrm>
            <a:off x="603504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이름</a:t>
            </a:r>
            <a:endParaRPr lang="en-US" sz="1000" dirty="0"/>
          </a:p>
        </p:txBody>
      </p:sp>
      <p:sp>
        <p:nvSpPr>
          <p:cNvPr id="69" name="Shape 25"/>
          <p:cNvSpPr/>
          <p:nvPr/>
        </p:nvSpPr>
        <p:spPr>
          <a:xfrm>
            <a:off x="672084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70" name="Text 26"/>
          <p:cNvSpPr/>
          <p:nvPr/>
        </p:nvSpPr>
        <p:spPr>
          <a:xfrm>
            <a:off x="603504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축약 클래스명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o.s.b.w...</a:t>
            </a:r>
            <a:endParaRPr lang="en-US" sz="900" dirty="0"/>
          </a:p>
        </p:txBody>
      </p:sp>
      <p:sp>
        <p:nvSpPr>
          <p:cNvPr id="71" name="Shape 27"/>
          <p:cNvSpPr/>
          <p:nvPr/>
        </p:nvSpPr>
        <p:spPr>
          <a:xfrm>
            <a:off x="7680960" y="2331720"/>
            <a:ext cx="1417320" cy="292608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72" name="Text 28"/>
          <p:cNvSpPr/>
          <p:nvPr/>
        </p:nvSpPr>
        <p:spPr>
          <a:xfrm>
            <a:off x="7680960" y="2331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000" dirty="0"/>
          </a:p>
        </p:txBody>
      </p:sp>
      <p:sp>
        <p:nvSpPr>
          <p:cNvPr id="73" name="Shape 29"/>
          <p:cNvSpPr/>
          <p:nvPr/>
        </p:nvSpPr>
        <p:spPr>
          <a:xfrm>
            <a:off x="8366760" y="2194560"/>
            <a:ext cx="0" cy="13716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74" name="Text 30"/>
          <p:cNvSpPr/>
          <p:nvPr/>
        </p:nvSpPr>
        <p:spPr>
          <a:xfrm>
            <a:off x="7680960" y="2651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로그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내용</a:t>
            </a:r>
            <a:endParaRPr lang="en-US" sz="900" dirty="0"/>
          </a:p>
        </p:txBody>
      </p:sp>
      <p:sp>
        <p:nvSpPr>
          <p:cNvPr id="75" name="Shape 31"/>
          <p:cNvSpPr/>
          <p:nvPr/>
        </p:nvSpPr>
        <p:spPr>
          <a:xfrm>
            <a:off x="274320" y="3383280"/>
            <a:ext cx="8595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32"/>
          <p:cNvSpPr/>
          <p:nvPr/>
        </p:nvSpPr>
        <p:spPr>
          <a:xfrm>
            <a:off x="36576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 우선순위 (낮음 → 높음)  :  </a:t>
            </a:r>
            <a:endParaRPr lang="en-US" sz="1100" dirty="0"/>
          </a:p>
        </p:txBody>
      </p:sp>
      <p:sp>
        <p:nvSpPr>
          <p:cNvPr id="119" name="Shape 33"/>
          <p:cNvSpPr/>
          <p:nvPr/>
        </p:nvSpPr>
        <p:spPr>
          <a:xfrm>
            <a:off x="3520440" y="3401568"/>
            <a:ext cx="868680" cy="2560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0" name="Text 34"/>
          <p:cNvSpPr/>
          <p:nvPr/>
        </p:nvSpPr>
        <p:spPr>
          <a:xfrm>
            <a:off x="3520440" y="3401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50" dirty="0"/>
          </a:p>
        </p:txBody>
      </p:sp>
      <p:sp>
        <p:nvSpPr>
          <p:cNvPr id="121" name="Shape 35"/>
          <p:cNvSpPr/>
          <p:nvPr/>
        </p:nvSpPr>
        <p:spPr>
          <a:xfrm>
            <a:off x="4507992" y="3401568"/>
            <a:ext cx="8686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2" name="Text 36"/>
          <p:cNvSpPr/>
          <p:nvPr/>
        </p:nvSpPr>
        <p:spPr>
          <a:xfrm>
            <a:off x="4507992" y="3401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950" dirty="0"/>
          </a:p>
        </p:txBody>
      </p:sp>
      <p:sp>
        <p:nvSpPr>
          <p:cNvPr id="123" name="Shape 37"/>
          <p:cNvSpPr/>
          <p:nvPr/>
        </p:nvSpPr>
        <p:spPr>
          <a:xfrm>
            <a:off x="5495544" y="3401568"/>
            <a:ext cx="868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4" name="Text 38"/>
          <p:cNvSpPr/>
          <p:nvPr/>
        </p:nvSpPr>
        <p:spPr>
          <a:xfrm>
            <a:off x="5495544" y="3401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125" name="Shape 39"/>
          <p:cNvSpPr/>
          <p:nvPr/>
        </p:nvSpPr>
        <p:spPr>
          <a:xfrm>
            <a:off x="6483096" y="3401568"/>
            <a:ext cx="8686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6" name="Text 40"/>
          <p:cNvSpPr/>
          <p:nvPr/>
        </p:nvSpPr>
        <p:spPr>
          <a:xfrm>
            <a:off x="6483096" y="3401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50" dirty="0"/>
          </a:p>
        </p:txBody>
      </p:sp>
      <p:sp>
        <p:nvSpPr>
          <p:cNvPr id="127" name="Shape 41"/>
          <p:cNvSpPr/>
          <p:nvPr/>
        </p:nvSpPr>
        <p:spPr>
          <a:xfrm>
            <a:off x="7470648" y="3401568"/>
            <a:ext cx="86868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8" name="Text 42"/>
          <p:cNvSpPr/>
          <p:nvPr/>
        </p:nvSpPr>
        <p:spPr>
          <a:xfrm>
            <a:off x="7470648" y="3401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50" dirty="0"/>
          </a:p>
        </p:txBody>
      </p:sp>
      <p:sp>
        <p:nvSpPr>
          <p:cNvPr id="129" name="Shape 43"/>
          <p:cNvSpPr/>
          <p:nvPr/>
        </p:nvSpPr>
        <p:spPr>
          <a:xfrm>
            <a:off x="274320" y="3845912"/>
            <a:ext cx="8595360" cy="384048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0" name="Text 44"/>
          <p:cNvSpPr/>
          <p:nvPr/>
        </p:nvSpPr>
        <p:spPr>
          <a:xfrm>
            <a:off x="384048" y="3891632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기본 로그 레벨: INFO — Spring Boot 시작 시 INFO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이상만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8376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 (</a:t>
            </a:r>
            <a:r>
              <a:rPr lang="ko-KR" alt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altLang="ko-KR" sz="2000" dirty="0"/>
          </a:p>
        </p:txBody>
      </p:sp>
      <p:sp>
        <p:nvSpPr>
          <p:cNvPr id="46" name="Shape 4"/>
          <p:cNvSpPr/>
          <p:nvPr/>
        </p:nvSpPr>
        <p:spPr>
          <a:xfrm>
            <a:off x="347472" y="786384"/>
            <a:ext cx="8449056" cy="146304"/>
          </a:xfrm>
          <a:prstGeom prst="rect">
            <a:avLst/>
          </a:prstGeom>
          <a:solidFill>
            <a:srgbClr val="1C3350"/>
          </a:solidFill>
          <a:ln w="12700">
            <a:solidFill>
              <a:srgbClr val="1C3350"/>
            </a:solidFill>
            <a:prstDash val="solid"/>
          </a:ln>
        </p:spPr>
      </p:sp>
      <p:sp>
        <p:nvSpPr>
          <p:cNvPr id="47" name="Shape 5"/>
          <p:cNvSpPr/>
          <p:nvPr/>
        </p:nvSpPr>
        <p:spPr>
          <a:xfrm>
            <a:off x="347472" y="786384"/>
            <a:ext cx="166420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hape 6"/>
          <p:cNvSpPr/>
          <p:nvPr/>
        </p:nvSpPr>
        <p:spPr>
          <a:xfrm>
            <a:off x="2048256" y="786384"/>
            <a:ext cx="1664208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7"/>
          <p:cNvSpPr/>
          <p:nvPr/>
        </p:nvSpPr>
        <p:spPr>
          <a:xfrm>
            <a:off x="3749040" y="786384"/>
            <a:ext cx="1664208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Shape 8"/>
          <p:cNvSpPr/>
          <p:nvPr/>
        </p:nvSpPr>
        <p:spPr>
          <a:xfrm>
            <a:off x="5449824" y="786384"/>
            <a:ext cx="1664208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9"/>
          <p:cNvSpPr/>
          <p:nvPr/>
        </p:nvSpPr>
        <p:spPr>
          <a:xfrm>
            <a:off x="7150608" y="786384"/>
            <a:ext cx="1664208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Shape 10"/>
          <p:cNvSpPr/>
          <p:nvPr/>
        </p:nvSpPr>
        <p:spPr>
          <a:xfrm>
            <a:off x="347472" y="969264"/>
            <a:ext cx="1664208" cy="3986784"/>
          </a:xfrm>
          <a:prstGeom prst="rect">
            <a:avLst/>
          </a:prstGeom>
          <a:solidFill>
            <a:srgbClr val="170D2E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11"/>
          <p:cNvSpPr/>
          <p:nvPr/>
        </p:nvSpPr>
        <p:spPr>
          <a:xfrm>
            <a:off x="347472" y="969264"/>
            <a:ext cx="16642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12"/>
          <p:cNvSpPr/>
          <p:nvPr/>
        </p:nvSpPr>
        <p:spPr>
          <a:xfrm>
            <a:off x="347472" y="969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55" name="Text 13"/>
          <p:cNvSpPr/>
          <p:nvPr/>
        </p:nvSpPr>
        <p:spPr>
          <a:xfrm>
            <a:off x="347472" y="153619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500" dirty="0"/>
          </a:p>
        </p:txBody>
      </p:sp>
      <p:sp>
        <p:nvSpPr>
          <p:cNvPr id="56" name="Shape 14"/>
          <p:cNvSpPr/>
          <p:nvPr/>
        </p:nvSpPr>
        <p:spPr>
          <a:xfrm>
            <a:off x="548640" y="1938528"/>
            <a:ext cx="1261872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15"/>
          <p:cNvSpPr/>
          <p:nvPr/>
        </p:nvSpPr>
        <p:spPr>
          <a:xfrm>
            <a:off x="420624" y="201168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세밀한 추적</a:t>
            </a:r>
            <a:endParaRPr lang="en-US" sz="1000" dirty="0"/>
          </a:p>
        </p:txBody>
      </p:sp>
      <p:sp>
        <p:nvSpPr>
          <p:cNvPr id="58" name="Text 16"/>
          <p:cNvSpPr/>
          <p:nvPr/>
        </p:nvSpPr>
        <p:spPr>
          <a:xfrm>
            <a:off x="438912" y="2542032"/>
            <a:ext cx="1481328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진입/종료,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 err="1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변수값</a:t>
            </a: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추적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중에만 사용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활성화 금지</a:t>
            </a:r>
            <a:endParaRPr lang="en-US" sz="1000" dirty="0"/>
          </a:p>
        </p:txBody>
      </p:sp>
      <p:sp>
        <p:nvSpPr>
          <p:cNvPr id="59" name="Shape 17"/>
          <p:cNvSpPr/>
          <p:nvPr/>
        </p:nvSpPr>
        <p:spPr>
          <a:xfrm>
            <a:off x="2048256" y="969264"/>
            <a:ext cx="1664208" cy="3986784"/>
          </a:xfrm>
          <a:prstGeom prst="rect">
            <a:avLst/>
          </a:prstGeom>
          <a:solidFill>
            <a:srgbClr val="071830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18"/>
          <p:cNvSpPr/>
          <p:nvPr/>
        </p:nvSpPr>
        <p:spPr>
          <a:xfrm>
            <a:off x="2048256" y="969264"/>
            <a:ext cx="16642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19"/>
          <p:cNvSpPr/>
          <p:nvPr/>
        </p:nvSpPr>
        <p:spPr>
          <a:xfrm>
            <a:off x="2048256" y="969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62" name="Text 20"/>
          <p:cNvSpPr/>
          <p:nvPr/>
        </p:nvSpPr>
        <p:spPr>
          <a:xfrm>
            <a:off x="2048256" y="153619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500" dirty="0"/>
          </a:p>
        </p:txBody>
      </p:sp>
      <p:sp>
        <p:nvSpPr>
          <p:cNvPr id="63" name="Shape 21"/>
          <p:cNvSpPr/>
          <p:nvPr/>
        </p:nvSpPr>
        <p:spPr>
          <a:xfrm>
            <a:off x="2249424" y="1938528"/>
            <a:ext cx="1261872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22"/>
          <p:cNvSpPr/>
          <p:nvPr/>
        </p:nvSpPr>
        <p:spPr>
          <a:xfrm>
            <a:off x="2121408" y="201168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디버깅용 상세 정보</a:t>
            </a:r>
            <a:endParaRPr lang="en-US" sz="1000" dirty="0"/>
          </a:p>
        </p:txBody>
      </p:sp>
      <p:sp>
        <p:nvSpPr>
          <p:cNvPr id="65" name="Text 23"/>
          <p:cNvSpPr/>
          <p:nvPr/>
        </p:nvSpPr>
        <p:spPr>
          <a:xfrm>
            <a:off x="2139696" y="2542032"/>
            <a:ext cx="1481328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파라미터, 내부 흐름 추적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 err="1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개발·QA</a:t>
            </a: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환경에서 활성화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OFF</a:t>
            </a:r>
            <a:endParaRPr lang="en-US" sz="1000" dirty="0"/>
          </a:p>
        </p:txBody>
      </p:sp>
      <p:sp>
        <p:nvSpPr>
          <p:cNvPr id="66" name="Shape 24"/>
          <p:cNvSpPr/>
          <p:nvPr/>
        </p:nvSpPr>
        <p:spPr>
          <a:xfrm>
            <a:off x="3749040" y="969264"/>
            <a:ext cx="1664208" cy="3986784"/>
          </a:xfrm>
          <a:prstGeom prst="rect">
            <a:avLst/>
          </a:prstGeom>
          <a:solidFill>
            <a:srgbClr val="071A10"/>
          </a:solidFill>
          <a:ln w="1905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7" name="Shape 25"/>
          <p:cNvSpPr/>
          <p:nvPr/>
        </p:nvSpPr>
        <p:spPr>
          <a:xfrm>
            <a:off x="3749040" y="969264"/>
            <a:ext cx="1664208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8" name="Text 26"/>
          <p:cNvSpPr/>
          <p:nvPr/>
        </p:nvSpPr>
        <p:spPr>
          <a:xfrm>
            <a:off x="3749040" y="969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69" name="Text 27"/>
          <p:cNvSpPr/>
          <p:nvPr/>
        </p:nvSpPr>
        <p:spPr>
          <a:xfrm>
            <a:off x="3749040" y="153619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70" name="Shape 28"/>
          <p:cNvSpPr/>
          <p:nvPr/>
        </p:nvSpPr>
        <p:spPr>
          <a:xfrm>
            <a:off x="3950208" y="1938528"/>
            <a:ext cx="1261872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1" name="Text 29"/>
          <p:cNvSpPr/>
          <p:nvPr/>
        </p:nvSpPr>
        <p:spPr>
          <a:xfrm>
            <a:off x="3822192" y="201168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동작 정보  ★ 기본값</a:t>
            </a:r>
            <a:endParaRPr lang="en-US" sz="1000" dirty="0"/>
          </a:p>
        </p:txBody>
      </p:sp>
      <p:sp>
        <p:nvSpPr>
          <p:cNvPr id="72" name="Text 30"/>
          <p:cNvSpPr/>
          <p:nvPr/>
        </p:nvSpPr>
        <p:spPr>
          <a:xfrm>
            <a:off x="3840480" y="2542032"/>
            <a:ext cx="1481328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시작/종료,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이벤트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 err="1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Boot 기본 레벨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환경의 일반적인 기본값</a:t>
            </a:r>
            <a:endParaRPr lang="en-US" sz="1000" dirty="0"/>
          </a:p>
        </p:txBody>
      </p:sp>
      <p:sp>
        <p:nvSpPr>
          <p:cNvPr id="73" name="Shape 31"/>
          <p:cNvSpPr/>
          <p:nvPr/>
        </p:nvSpPr>
        <p:spPr>
          <a:xfrm>
            <a:off x="5449824" y="969264"/>
            <a:ext cx="1664208" cy="3986784"/>
          </a:xfrm>
          <a:prstGeom prst="rect">
            <a:avLst/>
          </a:prstGeom>
          <a:solidFill>
            <a:srgbClr val="1A1000"/>
          </a:solidFill>
          <a:ln w="1905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4" name="Shape 32"/>
          <p:cNvSpPr/>
          <p:nvPr/>
        </p:nvSpPr>
        <p:spPr>
          <a:xfrm>
            <a:off x="5449824" y="969264"/>
            <a:ext cx="16642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33"/>
          <p:cNvSpPr/>
          <p:nvPr/>
        </p:nvSpPr>
        <p:spPr>
          <a:xfrm>
            <a:off x="5449824" y="969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76" name="Text 34"/>
          <p:cNvSpPr/>
          <p:nvPr/>
        </p:nvSpPr>
        <p:spPr>
          <a:xfrm>
            <a:off x="5449824" y="153619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500" dirty="0"/>
          </a:p>
        </p:txBody>
      </p:sp>
      <p:sp>
        <p:nvSpPr>
          <p:cNvPr id="119" name="Shape 35"/>
          <p:cNvSpPr/>
          <p:nvPr/>
        </p:nvSpPr>
        <p:spPr>
          <a:xfrm>
            <a:off x="5650992" y="1938528"/>
            <a:ext cx="126187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0" name="Text 36"/>
          <p:cNvSpPr/>
          <p:nvPr/>
        </p:nvSpPr>
        <p:spPr>
          <a:xfrm>
            <a:off x="5522976" y="201168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잠재적 문제 경고</a:t>
            </a:r>
            <a:endParaRPr lang="en-US" sz="1000" dirty="0"/>
          </a:p>
        </p:txBody>
      </p:sp>
      <p:sp>
        <p:nvSpPr>
          <p:cNvPr id="121" name="Text 37"/>
          <p:cNvSpPr/>
          <p:nvPr/>
        </p:nvSpPr>
        <p:spPr>
          <a:xfrm>
            <a:off x="5541264" y="2542032"/>
            <a:ext cx="1481328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 사용,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저하 가능성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당장 오류는 아니지만 확인이 필요.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cs typeface="Calibri" pitchFamily="34" charset="-120"/>
              </a:rPr>
              <a:t>로그  모니터링 대상</a:t>
            </a:r>
            <a:endParaRPr lang="en-US" sz="1000" dirty="0"/>
          </a:p>
        </p:txBody>
      </p:sp>
      <p:sp>
        <p:nvSpPr>
          <p:cNvPr id="122" name="Shape 38"/>
          <p:cNvSpPr/>
          <p:nvPr/>
        </p:nvSpPr>
        <p:spPr>
          <a:xfrm>
            <a:off x="7150608" y="969264"/>
            <a:ext cx="1664208" cy="3986784"/>
          </a:xfrm>
          <a:prstGeom prst="rect">
            <a:avLst/>
          </a:prstGeom>
          <a:solidFill>
            <a:srgbClr val="1A0000"/>
          </a:solidFill>
          <a:ln w="1905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3" name="Shape 39"/>
          <p:cNvSpPr/>
          <p:nvPr/>
        </p:nvSpPr>
        <p:spPr>
          <a:xfrm>
            <a:off x="7150608" y="969264"/>
            <a:ext cx="16642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4" name="Text 40"/>
          <p:cNvSpPr/>
          <p:nvPr/>
        </p:nvSpPr>
        <p:spPr>
          <a:xfrm>
            <a:off x="7150608" y="969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125" name="Text 41"/>
          <p:cNvSpPr/>
          <p:nvPr/>
        </p:nvSpPr>
        <p:spPr>
          <a:xfrm>
            <a:off x="7150608" y="153619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500" dirty="0"/>
          </a:p>
        </p:txBody>
      </p:sp>
      <p:sp>
        <p:nvSpPr>
          <p:cNvPr id="126" name="Shape 42"/>
          <p:cNvSpPr/>
          <p:nvPr/>
        </p:nvSpPr>
        <p:spPr>
          <a:xfrm>
            <a:off x="7351776" y="1938528"/>
            <a:ext cx="1261872" cy="27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43"/>
          <p:cNvSpPr/>
          <p:nvPr/>
        </p:nvSpPr>
        <p:spPr>
          <a:xfrm>
            <a:off x="7223760" y="201168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 즉시 조치</a:t>
            </a:r>
            <a:endParaRPr lang="en-US" sz="1000" dirty="0"/>
          </a:p>
        </p:txBody>
      </p:sp>
      <p:sp>
        <p:nvSpPr>
          <p:cNvPr id="128" name="Text 44"/>
          <p:cNvSpPr/>
          <p:nvPr/>
        </p:nvSpPr>
        <p:spPr>
          <a:xfrm>
            <a:off x="7242048" y="2542032"/>
            <a:ext cx="1481328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발생, DB 연결 실패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서비스 오류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000" dirty="0">
              <a:solidFill>
                <a:srgbClr val="7B93A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>
                <a:solidFill>
                  <a:srgbClr val="7B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설정으로 즉시 감지 필요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7789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SLF4J  in Spring Boot 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07874"/>
            <a:ext cx="4006018" cy="283999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77188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92506"/>
            <a:ext cx="292608" cy="292608"/>
          </a:xfrm>
          <a:prstGeom prst="ellipse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925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5620" y="1155930"/>
            <a:ext cx="34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Logging Facade for Java의 약자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22858"/>
            <a:ext cx="292608" cy="292608"/>
          </a:xfrm>
          <a:prstGeom prst="ellipse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228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5620" y="1722858"/>
            <a:ext cx="34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로깅 프레임워크(Logback, Log4j2 등)에 대한 추상화 레이어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53210"/>
            <a:ext cx="292608" cy="292608"/>
          </a:xfrm>
          <a:prstGeom prst="ellipse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532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5620" y="2253210"/>
            <a:ext cx="34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애플리케이션 코드는 SLF4J API </a:t>
            </a:r>
            <a:r>
              <a:rPr lang="en-US" sz="11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83562"/>
            <a:ext cx="292608" cy="292608"/>
          </a:xfrm>
          <a:prstGeom prst="ellipse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35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5620" y="2783562"/>
            <a:ext cx="34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</a:t>
            </a:r>
            <a:r>
              <a:rPr lang="en-US" altLang="ko-KR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</a:t>
            </a:r>
            <a:r>
              <a:rPr lang="en-US" sz="11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707874"/>
            <a:ext cx="4023360" cy="13709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77188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의존성 (자동 포함)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073634"/>
            <a:ext cx="3858768" cy="887910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73634"/>
            <a:ext cx="850392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73634"/>
            <a:ext cx="75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1329666"/>
            <a:ext cx="3584448" cy="631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&gt;spring-boot-starter-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webmvc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62569"/>
            <a:ext cx="4023360" cy="1854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229977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방법 (SLF4J API)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546351"/>
            <a:ext cx="3858768" cy="1425204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546351"/>
            <a:ext cx="603504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46351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802383"/>
            <a:ext cx="3584448" cy="95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org.slf4j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.Logger;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org.slf4j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.LoggerFactory;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MyService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Logger 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LoggerFactory.getLogger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MyService.class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</a:rPr>
              <a:t>    </a:t>
            </a:r>
            <a:r>
              <a:rPr lang="en-US" sz="900" dirty="0" err="1">
                <a:solidFill>
                  <a:srgbClr val="A8E6CF"/>
                </a:solidFill>
                <a:latin typeface="Consolas" pitchFamily="34" charset="0"/>
              </a:rPr>
              <a:t>logger.debug</a:t>
            </a:r>
            <a:r>
              <a:rPr lang="en-US" sz="900" dirty="0">
                <a:solidFill>
                  <a:srgbClr val="A8E6CF"/>
                </a:solidFill>
                <a:latin typeface="Consolas" pitchFamily="34" charset="0"/>
              </a:rPr>
              <a:t>(“Hello World”);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727448"/>
            <a:ext cx="8458200" cy="30175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73168"/>
            <a:ext cx="8183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 Logback 바인딩을 찾지 못하면 SLF4J는 'no-operation(아무것도 안 함)' 상태가 됩니다.</a:t>
            </a:r>
            <a:endParaRPr lang="en-US" sz="1100" dirty="0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" y="3539426"/>
            <a:ext cx="4860036" cy="1188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Spring Boot 기본 로깅 구현체</a:t>
            </a:r>
            <a:endParaRPr lang="en-US" sz="2000" dirty="0"/>
          </a:p>
        </p:txBody>
      </p:sp>
      <p:sp>
        <p:nvSpPr>
          <p:cNvPr id="43" name="Shape 4"/>
          <p:cNvSpPr/>
          <p:nvPr/>
        </p:nvSpPr>
        <p:spPr>
          <a:xfrm>
            <a:off x="228600" y="647022"/>
            <a:ext cx="420624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5"/>
          <p:cNvSpPr/>
          <p:nvPr/>
        </p:nvSpPr>
        <p:spPr>
          <a:xfrm>
            <a:off x="228600" y="647022"/>
            <a:ext cx="566928" cy="1078992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45" name="Text 6"/>
          <p:cNvSpPr/>
          <p:nvPr/>
        </p:nvSpPr>
        <p:spPr>
          <a:xfrm>
            <a:off x="228600" y="647022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6" name="Text 7"/>
          <p:cNvSpPr/>
          <p:nvPr/>
        </p:nvSpPr>
        <p:spPr>
          <a:xfrm>
            <a:off x="886968" y="75675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Log4J의 후계자</a:t>
            </a:r>
            <a:endParaRPr lang="en-US" sz="1300" dirty="0"/>
          </a:p>
        </p:txBody>
      </p:sp>
      <p:sp>
        <p:nvSpPr>
          <p:cNvPr id="47" name="Text 8"/>
          <p:cNvSpPr/>
          <p:nvPr/>
        </p:nvSpPr>
        <p:spPr>
          <a:xfrm>
            <a:off x="886968" y="110422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Log4J를 만든 Ceki Gülcü가 직접 개발한 후속 프레임워크</a:t>
            </a:r>
            <a:endParaRPr lang="en-US" sz="1050" dirty="0"/>
          </a:p>
        </p:txBody>
      </p:sp>
      <p:sp>
        <p:nvSpPr>
          <p:cNvPr id="48" name="Shape 9"/>
          <p:cNvSpPr/>
          <p:nvPr/>
        </p:nvSpPr>
        <p:spPr>
          <a:xfrm>
            <a:off x="4709160" y="647022"/>
            <a:ext cx="420624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10"/>
          <p:cNvSpPr/>
          <p:nvPr/>
        </p:nvSpPr>
        <p:spPr>
          <a:xfrm>
            <a:off x="4709160" y="647022"/>
            <a:ext cx="566928" cy="1078992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50" name="Text 11"/>
          <p:cNvSpPr/>
          <p:nvPr/>
        </p:nvSpPr>
        <p:spPr>
          <a:xfrm>
            <a:off x="4709160" y="647022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51" name="Text 12"/>
          <p:cNvSpPr/>
          <p:nvPr/>
        </p:nvSpPr>
        <p:spPr>
          <a:xfrm>
            <a:off x="5367528" y="75675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빠르고 가볍다</a:t>
            </a:r>
            <a:endParaRPr lang="en-US" sz="1300" dirty="0"/>
          </a:p>
        </p:txBody>
      </p:sp>
      <p:sp>
        <p:nvSpPr>
          <p:cNvPr id="52" name="Text 13"/>
          <p:cNvSpPr/>
          <p:nvPr/>
        </p:nvSpPr>
        <p:spPr>
          <a:xfrm>
            <a:off x="5367528" y="110422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Log4J보다 10배 이상 빠른 성능, 더 작은 메모리 사용</a:t>
            </a:r>
            <a:endParaRPr lang="en-US" sz="1050" dirty="0"/>
          </a:p>
        </p:txBody>
      </p:sp>
      <p:sp>
        <p:nvSpPr>
          <p:cNvPr id="53" name="Shape 14"/>
          <p:cNvSpPr/>
          <p:nvPr/>
        </p:nvSpPr>
        <p:spPr>
          <a:xfrm>
            <a:off x="228600" y="1835742"/>
            <a:ext cx="420624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15"/>
          <p:cNvSpPr/>
          <p:nvPr/>
        </p:nvSpPr>
        <p:spPr>
          <a:xfrm>
            <a:off x="228600" y="1835742"/>
            <a:ext cx="566928" cy="1078992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55" name="Text 16"/>
          <p:cNvSpPr/>
          <p:nvPr/>
        </p:nvSpPr>
        <p:spPr>
          <a:xfrm>
            <a:off x="228600" y="1835742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6" name="Text 17"/>
          <p:cNvSpPr/>
          <p:nvPr/>
        </p:nvSpPr>
        <p:spPr>
          <a:xfrm>
            <a:off x="886968" y="194547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모듈</a:t>
            </a:r>
            <a:endParaRPr lang="en-US" sz="1300" dirty="0"/>
          </a:p>
        </p:txBody>
      </p:sp>
      <p:sp>
        <p:nvSpPr>
          <p:cNvPr id="57" name="Text 18"/>
          <p:cNvSpPr/>
          <p:nvPr/>
        </p:nvSpPr>
        <p:spPr>
          <a:xfrm>
            <a:off x="886968" y="229294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logback-core / logback-classic / logback-access</a:t>
            </a:r>
            <a:endParaRPr lang="en-US" sz="1050" dirty="0"/>
          </a:p>
        </p:txBody>
      </p:sp>
      <p:sp>
        <p:nvSpPr>
          <p:cNvPr id="58" name="Shape 19"/>
          <p:cNvSpPr/>
          <p:nvPr/>
        </p:nvSpPr>
        <p:spPr>
          <a:xfrm>
            <a:off x="4709160" y="1835742"/>
            <a:ext cx="420624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20"/>
          <p:cNvSpPr/>
          <p:nvPr/>
        </p:nvSpPr>
        <p:spPr>
          <a:xfrm>
            <a:off x="4709160" y="1835742"/>
            <a:ext cx="566928" cy="1078992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60" name="Text 21"/>
          <p:cNvSpPr/>
          <p:nvPr/>
        </p:nvSpPr>
        <p:spPr>
          <a:xfrm>
            <a:off x="4709160" y="1835742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61" name="Text 22"/>
          <p:cNvSpPr/>
          <p:nvPr/>
        </p:nvSpPr>
        <p:spPr>
          <a:xfrm>
            <a:off x="5367528" y="194547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기본</a:t>
            </a:r>
            <a:endParaRPr lang="en-US" sz="1300" dirty="0"/>
          </a:p>
        </p:txBody>
      </p:sp>
      <p:sp>
        <p:nvSpPr>
          <p:cNvPr id="62" name="Text 23"/>
          <p:cNvSpPr/>
          <p:nvPr/>
        </p:nvSpPr>
        <p:spPr>
          <a:xfrm>
            <a:off x="5367528" y="229294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 포함 → 자동으로 Logback 설정</a:t>
            </a:r>
            <a:endParaRPr lang="en-US" sz="1050" dirty="0"/>
          </a:p>
        </p:txBody>
      </p:sp>
      <p:sp>
        <p:nvSpPr>
          <p:cNvPr id="63" name="Text 24"/>
          <p:cNvSpPr/>
          <p:nvPr/>
        </p:nvSpPr>
        <p:spPr>
          <a:xfrm>
            <a:off x="228600" y="307280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 3가지 핵심 구성 요소</a:t>
            </a:r>
            <a:endParaRPr lang="en-US" sz="1400" dirty="0"/>
          </a:p>
        </p:txBody>
      </p:sp>
      <p:sp>
        <p:nvSpPr>
          <p:cNvPr id="64" name="Shape 25"/>
          <p:cNvSpPr/>
          <p:nvPr/>
        </p:nvSpPr>
        <p:spPr>
          <a:xfrm>
            <a:off x="228600" y="3347122"/>
            <a:ext cx="86868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65" name="Shape 26"/>
          <p:cNvSpPr/>
          <p:nvPr/>
        </p:nvSpPr>
        <p:spPr>
          <a:xfrm>
            <a:off x="228600" y="3456850"/>
            <a:ext cx="283464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6" name="Shape 27"/>
          <p:cNvSpPr/>
          <p:nvPr/>
        </p:nvSpPr>
        <p:spPr>
          <a:xfrm>
            <a:off x="228600" y="3456850"/>
            <a:ext cx="5669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28"/>
          <p:cNvSpPr/>
          <p:nvPr/>
        </p:nvSpPr>
        <p:spPr>
          <a:xfrm>
            <a:off x="228600" y="3456850"/>
            <a:ext cx="566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200" dirty="0"/>
          </a:p>
        </p:txBody>
      </p:sp>
      <p:sp>
        <p:nvSpPr>
          <p:cNvPr id="68" name="Text 29"/>
          <p:cNvSpPr/>
          <p:nvPr/>
        </p:nvSpPr>
        <p:spPr>
          <a:xfrm>
            <a:off x="886968" y="353000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Logger</a:t>
            </a:r>
            <a:endParaRPr lang="en-US" sz="1200" dirty="0"/>
          </a:p>
        </p:txBody>
      </p:sp>
      <p:sp>
        <p:nvSpPr>
          <p:cNvPr id="69" name="Text 30"/>
          <p:cNvSpPr/>
          <p:nvPr/>
        </p:nvSpPr>
        <p:spPr>
          <a:xfrm>
            <a:off x="886968" y="3877474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메시지를 생성하는 주체.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이름(name)과 최소 허용 레벨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(TRACE/DEBUG/INFO/WARN/ERROR)을 가진다.</a:t>
            </a:r>
            <a:endParaRPr lang="en-US" sz="950" dirty="0"/>
          </a:p>
        </p:txBody>
      </p:sp>
      <p:sp>
        <p:nvSpPr>
          <p:cNvPr id="70" name="Shape 31"/>
          <p:cNvSpPr/>
          <p:nvPr/>
        </p:nvSpPr>
        <p:spPr>
          <a:xfrm>
            <a:off x="3172968" y="3456850"/>
            <a:ext cx="283464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1" name="Shape 32"/>
          <p:cNvSpPr/>
          <p:nvPr/>
        </p:nvSpPr>
        <p:spPr>
          <a:xfrm>
            <a:off x="3172968" y="3456850"/>
            <a:ext cx="5669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Text 33"/>
          <p:cNvSpPr/>
          <p:nvPr/>
        </p:nvSpPr>
        <p:spPr>
          <a:xfrm>
            <a:off x="3172968" y="3456850"/>
            <a:ext cx="566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73" name="Text 34"/>
          <p:cNvSpPr/>
          <p:nvPr/>
        </p:nvSpPr>
        <p:spPr>
          <a:xfrm>
            <a:off x="3831336" y="353000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Appender</a:t>
            </a:r>
            <a:endParaRPr lang="en-US" sz="1200" dirty="0"/>
          </a:p>
        </p:txBody>
      </p:sp>
      <p:sp>
        <p:nvSpPr>
          <p:cNvPr id="74" name="Text 35"/>
          <p:cNvSpPr/>
          <p:nvPr/>
        </p:nvSpPr>
        <p:spPr>
          <a:xfrm>
            <a:off x="3831336" y="3877474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메시지를 어디에 출력할지 결정.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(Console, File, DB, Remote 서버 등)</a:t>
            </a:r>
            <a:endParaRPr lang="en-US" sz="950" dirty="0"/>
          </a:p>
        </p:txBody>
      </p:sp>
      <p:sp>
        <p:nvSpPr>
          <p:cNvPr id="75" name="Shape 36"/>
          <p:cNvSpPr/>
          <p:nvPr/>
        </p:nvSpPr>
        <p:spPr>
          <a:xfrm>
            <a:off x="6117336" y="3456850"/>
            <a:ext cx="283464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6" name="Shape 37"/>
          <p:cNvSpPr/>
          <p:nvPr/>
        </p:nvSpPr>
        <p:spPr>
          <a:xfrm>
            <a:off x="6117336" y="3456850"/>
            <a:ext cx="5669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Text 38"/>
          <p:cNvSpPr/>
          <p:nvPr/>
        </p:nvSpPr>
        <p:spPr>
          <a:xfrm>
            <a:off x="6117336" y="3456850"/>
            <a:ext cx="566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</a:t>
            </a:r>
            <a:endParaRPr lang="en-US" sz="1200" dirty="0"/>
          </a:p>
        </p:txBody>
      </p:sp>
      <p:sp>
        <p:nvSpPr>
          <p:cNvPr id="78" name="Text 39"/>
          <p:cNvSpPr/>
          <p:nvPr/>
        </p:nvSpPr>
        <p:spPr>
          <a:xfrm>
            <a:off x="6775704" y="353000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Layout / Encoder</a:t>
            </a:r>
            <a:endParaRPr lang="en-US" sz="1200" dirty="0"/>
          </a:p>
        </p:txBody>
      </p:sp>
      <p:sp>
        <p:nvSpPr>
          <p:cNvPr id="79" name="Text 40"/>
          <p:cNvSpPr/>
          <p:nvPr/>
        </p:nvSpPr>
        <p:spPr>
          <a:xfrm>
            <a:off x="6775704" y="3877474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메시지를 어떤 형식으로 출력할지 결정.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(날짜, 레벨, 클래스명, 메시지 등)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예제</a:t>
            </a:r>
            <a:endParaRPr lang="en-US" sz="2000" dirty="0"/>
          </a:p>
        </p:txBody>
      </p:sp>
      <p:sp>
        <p:nvSpPr>
          <p:cNvPr id="59" name="Shape 2"/>
          <p:cNvSpPr/>
          <p:nvPr/>
        </p:nvSpPr>
        <p:spPr>
          <a:xfrm>
            <a:off x="228600" y="804672"/>
            <a:ext cx="384048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0" name="Text 3"/>
          <p:cNvSpPr/>
          <p:nvPr/>
        </p:nvSpPr>
        <p:spPr>
          <a:xfrm>
            <a:off x="338328" y="8046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HelloService.java</a:t>
            </a:r>
            <a:endParaRPr lang="en-US" sz="900" dirty="0"/>
          </a:p>
        </p:txBody>
      </p:sp>
      <p:sp>
        <p:nvSpPr>
          <p:cNvPr id="61" name="Shape 4"/>
          <p:cNvSpPr/>
          <p:nvPr/>
        </p:nvSpPr>
        <p:spPr>
          <a:xfrm>
            <a:off x="228600" y="1060704"/>
            <a:ext cx="3840480" cy="3694176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2" name="Text 5"/>
          <p:cNvSpPr/>
          <p:nvPr/>
        </p:nvSpPr>
        <p:spPr>
          <a:xfrm>
            <a:off x="338328" y="1133856"/>
            <a:ext cx="36210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kr.ac.hansung;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org.slf4j.Logger;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org.slf4j.LoggerFactory;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HelloService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Logger 이름 = 전체 클래스명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kr.ac.hansung.HelloService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static final Logger logger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LoggerFactory.getLogger(HelloService.class);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sayHello()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logger.trace("TRACE: 매우 상세한 로그");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logger.debug("DEBUG: 디버깅용 로그");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logger.info("INFO: 정보 로그");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logger.warn("WARN: 경고 로그");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logger.error("ERROR: 오류 로그");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63" name="Text 6"/>
          <p:cNvSpPr/>
          <p:nvPr/>
        </p:nvSpPr>
        <p:spPr>
          <a:xfrm>
            <a:off x="4206240" y="804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기본(INFO) 콘솔 출력</a:t>
            </a:r>
            <a:endParaRPr lang="en-US" sz="1200" dirty="0"/>
          </a:p>
        </p:txBody>
      </p:sp>
      <p:sp>
        <p:nvSpPr>
          <p:cNvPr id="64" name="Shape 7"/>
          <p:cNvSpPr/>
          <p:nvPr/>
        </p:nvSpPr>
        <p:spPr>
          <a:xfrm>
            <a:off x="4206240" y="1078992"/>
            <a:ext cx="466344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5" name="Text 8"/>
          <p:cNvSpPr/>
          <p:nvPr/>
        </p:nvSpPr>
        <p:spPr>
          <a:xfrm>
            <a:off x="4315968" y="107899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결과</a:t>
            </a:r>
            <a:endParaRPr lang="en-US" sz="900" dirty="0"/>
          </a:p>
        </p:txBody>
      </p:sp>
      <p:sp>
        <p:nvSpPr>
          <p:cNvPr id="66" name="Shape 9"/>
          <p:cNvSpPr/>
          <p:nvPr/>
        </p:nvSpPr>
        <p:spPr>
          <a:xfrm>
            <a:off x="4206240" y="1335024"/>
            <a:ext cx="4663440" cy="97840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7" name="Text 10"/>
          <p:cNvSpPr/>
          <p:nvPr/>
        </p:nvSpPr>
        <p:spPr>
          <a:xfrm>
            <a:off x="4315968" y="1408176"/>
            <a:ext cx="44439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TRACE, DEBUG → 출력 안 됨 (INFO가 기본값)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k.a.h.HelloService - INFO: 정보 로그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  k.a.h.HelloService - WARN: 경고 로그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k.a.h.HelloService - ERROR: 오류 로그</a:t>
            </a:r>
            <a:endParaRPr lang="en-US" sz="850" dirty="0"/>
          </a:p>
        </p:txBody>
      </p:sp>
      <p:sp>
        <p:nvSpPr>
          <p:cNvPr id="68" name="Text 11"/>
          <p:cNvSpPr/>
          <p:nvPr/>
        </p:nvSpPr>
        <p:spPr>
          <a:xfrm>
            <a:off x="4206240" y="2423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200" dirty="0"/>
          </a:p>
        </p:txBody>
      </p:sp>
      <p:sp>
        <p:nvSpPr>
          <p:cNvPr id="69" name="Shape 12"/>
          <p:cNvSpPr/>
          <p:nvPr/>
        </p:nvSpPr>
        <p:spPr>
          <a:xfrm>
            <a:off x="4206240" y="2743200"/>
            <a:ext cx="34747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0" name="Text 13"/>
          <p:cNvSpPr/>
          <p:nvPr/>
        </p:nvSpPr>
        <p:spPr>
          <a:xfrm>
            <a:off x="4206240" y="274320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71" name="Text 14"/>
          <p:cNvSpPr/>
          <p:nvPr/>
        </p:nvSpPr>
        <p:spPr>
          <a:xfrm>
            <a:off x="4645152" y="2779776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클래스만 import</a:t>
            </a:r>
            <a:endParaRPr lang="en-US" sz="1100" dirty="0"/>
          </a:p>
        </p:txBody>
      </p:sp>
      <p:sp>
        <p:nvSpPr>
          <p:cNvPr id="72" name="Text 15"/>
          <p:cNvSpPr/>
          <p:nvPr/>
        </p:nvSpPr>
        <p:spPr>
          <a:xfrm>
            <a:off x="4645152" y="3035808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Logback 클래스는 전혀 몰라도 됨</a:t>
            </a:r>
            <a:endParaRPr lang="en-US" sz="1050" dirty="0"/>
          </a:p>
        </p:txBody>
      </p:sp>
      <p:sp>
        <p:nvSpPr>
          <p:cNvPr id="73" name="Shape 16"/>
          <p:cNvSpPr/>
          <p:nvPr/>
        </p:nvSpPr>
        <p:spPr>
          <a:xfrm>
            <a:off x="4206240" y="3401568"/>
            <a:ext cx="34747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4" name="Text 17"/>
          <p:cNvSpPr/>
          <p:nvPr/>
        </p:nvSpPr>
        <p:spPr>
          <a:xfrm>
            <a:off x="4206240" y="3401568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75" name="Text 18"/>
          <p:cNvSpPr/>
          <p:nvPr/>
        </p:nvSpPr>
        <p:spPr>
          <a:xfrm>
            <a:off x="4645152" y="343814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레벨은 INFO</a:t>
            </a:r>
            <a:endParaRPr lang="en-US" sz="1100" dirty="0"/>
          </a:p>
        </p:txBody>
      </p:sp>
      <p:sp>
        <p:nvSpPr>
          <p:cNvPr id="76" name="Text 19"/>
          <p:cNvSpPr/>
          <p:nvPr/>
        </p:nvSpPr>
        <p:spPr>
          <a:xfrm>
            <a:off x="4645152" y="3694176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TRACE·DEBUG는 출력되지 않음</a:t>
            </a:r>
            <a:endParaRPr lang="en-US" sz="1050" dirty="0"/>
          </a:p>
        </p:txBody>
      </p:sp>
      <p:sp>
        <p:nvSpPr>
          <p:cNvPr id="77" name="Shape 20"/>
          <p:cNvSpPr/>
          <p:nvPr/>
        </p:nvSpPr>
        <p:spPr>
          <a:xfrm>
            <a:off x="4206240" y="4059936"/>
            <a:ext cx="34747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8" name="Text 21"/>
          <p:cNvSpPr/>
          <p:nvPr/>
        </p:nvSpPr>
        <p:spPr>
          <a:xfrm>
            <a:off x="4206240" y="4059936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79" name="Text 22"/>
          <p:cNvSpPr/>
          <p:nvPr/>
        </p:nvSpPr>
        <p:spPr>
          <a:xfrm>
            <a:off x="4645152" y="409651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getLogger(클래스.class)</a:t>
            </a:r>
            <a:endParaRPr lang="en-US" sz="1100" dirty="0"/>
          </a:p>
        </p:txBody>
      </p:sp>
      <p:sp>
        <p:nvSpPr>
          <p:cNvPr id="80" name="Text 23"/>
          <p:cNvSpPr/>
          <p:nvPr/>
        </p:nvSpPr>
        <p:spPr>
          <a:xfrm>
            <a:off x="4645152" y="435254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전체 클래스명(kr.ac.hansung.HelloService)이 Logger 이름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Logger — Named Entity</a:t>
            </a:r>
            <a:endParaRPr lang="en-US" sz="2000" dirty="0"/>
          </a:p>
        </p:txBody>
      </p:sp>
      <p:sp>
        <p:nvSpPr>
          <p:cNvPr id="11" name="Text 4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생성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228600" y="1097280"/>
            <a:ext cx="86868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228600" y="1143000"/>
            <a:ext cx="530352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338328" y="114300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HelloService.java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228600" y="1399032"/>
            <a:ext cx="5303520" cy="207568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338328" y="1472184"/>
            <a:ext cx="508406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kr.ac.hansung;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org.slf4j.Logger;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org.slf4j.LoggerFactory;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org.springframework.stereotype.Service;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HelloService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Logger 인스턴스 생성 (클래스명으로)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static final Logger logger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LoggerFactory.getLogger(HelloService.class);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5760720" y="1143000"/>
            <a:ext cx="315468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852160" y="1207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이름 규칙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852160" y="1481328"/>
            <a:ext cx="29718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852160" y="15727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Logger 이름: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852160" y="1874520"/>
            <a:ext cx="2971800" cy="38404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943600" y="1874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kr.ac.hansung.HelloService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852160" y="23317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패키지 경로를 포함한 전체 클래스명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클래스명을 기반으로 Logger를 생성하면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발생 위치를 즉시 파악 가능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228600" y="3584448"/>
            <a:ext cx="868680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47472" y="3639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Logger는 "이름을 가진 개체(Named Entity)"입니다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47472" y="393192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r>
              <a:rPr lang="en-US" sz="1100" b="1" dirty="0" err="1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LoggerFactory.getLogger</a:t>
            </a: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 err="1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HelloService.class</a:t>
            </a: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Logger 이름 = "패키지.클래스명"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Logger 이름의 점(.)은 계층 구조를 의미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"kr.ac.hansung"은 "kr.ac"의 자식 Logger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— 계층 구조 (Named Hierarchy)</a:t>
            </a:r>
            <a:endParaRPr lang="en-US" sz="2000" dirty="0"/>
          </a:p>
        </p:txBody>
      </p:sp>
      <p:sp>
        <p:nvSpPr>
          <p:cNvPr id="58" name="Text 2"/>
          <p:cNvSpPr/>
          <p:nvPr/>
        </p:nvSpPr>
        <p:spPr>
          <a:xfrm>
            <a:off x="228600" y="804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이름 규칙</a:t>
            </a:r>
            <a:endParaRPr lang="en-US" sz="1400" dirty="0"/>
          </a:p>
        </p:txBody>
      </p:sp>
      <p:sp>
        <p:nvSpPr>
          <p:cNvPr id="59" name="Shape 3"/>
          <p:cNvSpPr/>
          <p:nvPr/>
        </p:nvSpPr>
        <p:spPr>
          <a:xfrm>
            <a:off x="228600" y="1097280"/>
            <a:ext cx="39319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60" name="Text 4"/>
          <p:cNvSpPr/>
          <p:nvPr/>
        </p:nvSpPr>
        <p:spPr>
          <a:xfrm>
            <a:off x="228600" y="1161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Logger는 "이름을 가진 개체(named entity)"입니다.
이름은 점(.)으로 구분된 계층 구조를 따릅니다.</a:t>
            </a:r>
            <a:endParaRPr lang="en-US" sz="1100" dirty="0"/>
          </a:p>
        </p:txBody>
      </p:sp>
      <p:sp>
        <p:nvSpPr>
          <p:cNvPr id="61" name="Shape 5"/>
          <p:cNvSpPr/>
          <p:nvPr/>
        </p:nvSpPr>
        <p:spPr>
          <a:xfrm>
            <a:off x="1371600" y="1719072"/>
            <a:ext cx="1737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"/>
          <p:cNvSpPr/>
          <p:nvPr/>
        </p:nvSpPr>
        <p:spPr>
          <a:xfrm>
            <a:off x="1371600" y="17190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100" dirty="0"/>
          </a:p>
        </p:txBody>
      </p:sp>
      <p:sp>
        <p:nvSpPr>
          <p:cNvPr id="63" name="Shape 7"/>
          <p:cNvSpPr/>
          <p:nvPr/>
        </p:nvSpPr>
        <p:spPr>
          <a:xfrm>
            <a:off x="2240280" y="2157984"/>
            <a:ext cx="0" cy="1737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4" name="Shape 8"/>
          <p:cNvSpPr/>
          <p:nvPr/>
        </p:nvSpPr>
        <p:spPr>
          <a:xfrm>
            <a:off x="1371600" y="2331720"/>
            <a:ext cx="173736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9"/>
          <p:cNvSpPr/>
          <p:nvPr/>
        </p:nvSpPr>
        <p:spPr>
          <a:xfrm>
            <a:off x="1371600" y="23317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</a:t>
            </a:r>
            <a:endParaRPr lang="en-US" sz="1100" dirty="0"/>
          </a:p>
        </p:txBody>
      </p:sp>
      <p:sp>
        <p:nvSpPr>
          <p:cNvPr id="66" name="Shape 10"/>
          <p:cNvSpPr/>
          <p:nvPr/>
        </p:nvSpPr>
        <p:spPr>
          <a:xfrm>
            <a:off x="2240280" y="2770632"/>
            <a:ext cx="0" cy="1737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7" name="Shape 11"/>
          <p:cNvSpPr/>
          <p:nvPr/>
        </p:nvSpPr>
        <p:spPr>
          <a:xfrm>
            <a:off x="1371600" y="2944368"/>
            <a:ext cx="173736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12"/>
          <p:cNvSpPr/>
          <p:nvPr/>
        </p:nvSpPr>
        <p:spPr>
          <a:xfrm>
            <a:off x="1371600" y="29443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kr.ac</a:t>
            </a:r>
            <a:endParaRPr lang="en-US" sz="1100" dirty="0"/>
          </a:p>
        </p:txBody>
      </p:sp>
      <p:sp>
        <p:nvSpPr>
          <p:cNvPr id="69" name="Shape 13"/>
          <p:cNvSpPr/>
          <p:nvPr/>
        </p:nvSpPr>
        <p:spPr>
          <a:xfrm>
            <a:off x="2240280" y="3383280"/>
            <a:ext cx="0" cy="17373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0" name="Shape 14"/>
          <p:cNvSpPr/>
          <p:nvPr/>
        </p:nvSpPr>
        <p:spPr>
          <a:xfrm>
            <a:off x="1371600" y="3557016"/>
            <a:ext cx="173736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15"/>
          <p:cNvSpPr/>
          <p:nvPr/>
        </p:nvSpPr>
        <p:spPr>
          <a:xfrm>
            <a:off x="1371600" y="355701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kr.ac.hansung</a:t>
            </a:r>
            <a:endParaRPr lang="en-US" sz="1100" dirty="0"/>
          </a:p>
        </p:txBody>
      </p:sp>
      <p:sp>
        <p:nvSpPr>
          <p:cNvPr id="73" name="Text 17"/>
          <p:cNvSpPr/>
          <p:nvPr/>
        </p:nvSpPr>
        <p:spPr>
          <a:xfrm>
            <a:off x="4343400" y="804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상속 (Level Inheritance)</a:t>
            </a:r>
            <a:endParaRPr lang="en-US" sz="1400" dirty="0"/>
          </a:p>
        </p:txBody>
      </p:sp>
      <p:sp>
        <p:nvSpPr>
          <p:cNvPr id="74" name="Shape 18"/>
          <p:cNvSpPr/>
          <p:nvPr/>
        </p:nvSpPr>
        <p:spPr>
          <a:xfrm>
            <a:off x="4343400" y="1097280"/>
            <a:ext cx="44805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5" name="Text 19"/>
          <p:cNvSpPr/>
          <p:nvPr/>
        </p:nvSpPr>
        <p:spPr>
          <a:xfrm>
            <a:off x="4343400" y="1161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Logger에 레벨이 지정되지 않으면 가장 가까운 조상(ancestor)의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레벨을 상속받습니다. root logger는 항상 레벨을 가집니다.</a:t>
            </a:r>
            <a:endParaRPr lang="en-US" sz="105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113323"/>
              </p:ext>
            </p:extLst>
          </p:nvPr>
        </p:nvGraphicFramePr>
        <p:xfrm>
          <a:off x="4343400" y="1664208"/>
          <a:ext cx="4480560" cy="153619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2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지정 레벨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유효 레벨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(없음)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 ← 상속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X.Y.Z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Shape 20"/>
          <p:cNvSpPr/>
          <p:nvPr/>
        </p:nvSpPr>
        <p:spPr>
          <a:xfrm>
            <a:off x="4343400" y="3273552"/>
            <a:ext cx="4480560" cy="29260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8" name="Text 21"/>
          <p:cNvSpPr/>
          <p:nvPr/>
        </p:nvSpPr>
        <p:spPr>
          <a:xfrm>
            <a:off x="4453128" y="3319272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X.Y는 레벨이 없으므로 부모 X의 INFO를 상속 → INFO 이상만 출력됨</a:t>
            </a:r>
            <a:endParaRPr lang="en-US" sz="1050" dirty="0"/>
          </a:p>
        </p:txBody>
      </p:sp>
      <p:sp>
        <p:nvSpPr>
          <p:cNvPr id="79" name="Shape 22"/>
          <p:cNvSpPr/>
          <p:nvPr/>
        </p:nvSpPr>
        <p:spPr>
          <a:xfrm>
            <a:off x="228600" y="4224528"/>
            <a:ext cx="8686800" cy="548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0" name="Text 23"/>
          <p:cNvSpPr/>
          <p:nvPr/>
        </p:nvSpPr>
        <p:spPr>
          <a:xfrm>
            <a:off x="347472" y="42245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레벨(effective level) =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자신에게 지정된 레벨이 있으면 그 레벨, 없으면 가장 가까운 조상의 레벨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237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요청 레벨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(Request Level)</a:t>
            </a:r>
            <a:endParaRPr lang="en-US" sz="2000" dirty="0"/>
          </a:p>
        </p:txBody>
      </p:sp>
      <p:sp>
        <p:nvSpPr>
          <p:cNvPr id="89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400" dirty="0"/>
          </a:p>
        </p:txBody>
      </p:sp>
      <p:sp>
        <p:nvSpPr>
          <p:cNvPr id="90" name="Shape 3"/>
          <p:cNvSpPr/>
          <p:nvPr/>
        </p:nvSpPr>
        <p:spPr>
          <a:xfrm>
            <a:off x="228600" y="1097280"/>
            <a:ext cx="86868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91" name="Text 4"/>
          <p:cNvSpPr/>
          <p:nvPr/>
        </p:nvSpPr>
        <p:spPr>
          <a:xfrm>
            <a:off x="228600" y="11155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logger.xxx("메시지")를 호출할 때, xxx 자리의 이름이 곧 이 로그의 요청 레벨(request level)이다.</a:t>
            </a:r>
            <a:endParaRPr lang="en-US" sz="1200" dirty="0"/>
          </a:p>
        </p:txBody>
      </p:sp>
      <p:sp>
        <p:nvSpPr>
          <p:cNvPr id="92" name="Shape 5"/>
          <p:cNvSpPr/>
          <p:nvPr/>
        </p:nvSpPr>
        <p:spPr>
          <a:xfrm>
            <a:off x="228600" y="1554480"/>
            <a:ext cx="1645920" cy="34747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93" name="Text 6"/>
          <p:cNvSpPr/>
          <p:nvPr/>
        </p:nvSpPr>
        <p:spPr>
          <a:xfrm>
            <a:off x="228600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logger.trace()</a:t>
            </a:r>
            <a:endParaRPr lang="en-US" sz="900" dirty="0"/>
          </a:p>
        </p:txBody>
      </p:sp>
      <p:sp>
        <p:nvSpPr>
          <p:cNvPr id="94" name="Shape 7"/>
          <p:cNvSpPr/>
          <p:nvPr/>
        </p:nvSpPr>
        <p:spPr>
          <a:xfrm>
            <a:off x="1051560" y="1901952"/>
            <a:ext cx="0" cy="182880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</a:ln>
        </p:spPr>
      </p:sp>
      <p:sp>
        <p:nvSpPr>
          <p:cNvPr id="95" name="Shape 8"/>
          <p:cNvSpPr/>
          <p:nvPr/>
        </p:nvSpPr>
        <p:spPr>
          <a:xfrm>
            <a:off x="228600" y="2084832"/>
            <a:ext cx="164592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6" name="Text 9"/>
          <p:cNvSpPr/>
          <p:nvPr/>
        </p:nvSpPr>
        <p:spPr>
          <a:xfrm>
            <a:off x="22860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레벨: TRACE</a:t>
            </a:r>
            <a:endParaRPr lang="en-US" sz="1000" dirty="0"/>
          </a:p>
        </p:txBody>
      </p:sp>
      <p:sp>
        <p:nvSpPr>
          <p:cNvPr id="97" name="Shape 10"/>
          <p:cNvSpPr/>
          <p:nvPr/>
        </p:nvSpPr>
        <p:spPr>
          <a:xfrm>
            <a:off x="1965960" y="1554480"/>
            <a:ext cx="1645920" cy="34747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98" name="Text 11"/>
          <p:cNvSpPr/>
          <p:nvPr/>
        </p:nvSpPr>
        <p:spPr>
          <a:xfrm>
            <a:off x="1965960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logger.debug()</a:t>
            </a:r>
            <a:endParaRPr lang="en-US" sz="900" dirty="0"/>
          </a:p>
        </p:txBody>
      </p:sp>
      <p:sp>
        <p:nvSpPr>
          <p:cNvPr id="99" name="Shape 12"/>
          <p:cNvSpPr/>
          <p:nvPr/>
        </p:nvSpPr>
        <p:spPr>
          <a:xfrm>
            <a:off x="2788920" y="1901952"/>
            <a:ext cx="0" cy="18288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0" name="Shape 13"/>
          <p:cNvSpPr/>
          <p:nvPr/>
        </p:nvSpPr>
        <p:spPr>
          <a:xfrm>
            <a:off x="1965960" y="2084832"/>
            <a:ext cx="1645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1" name="Text 14"/>
          <p:cNvSpPr/>
          <p:nvPr/>
        </p:nvSpPr>
        <p:spPr>
          <a:xfrm>
            <a:off x="196596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레벨: DEBUG</a:t>
            </a:r>
            <a:endParaRPr lang="en-US" sz="1000" dirty="0"/>
          </a:p>
        </p:txBody>
      </p:sp>
      <p:sp>
        <p:nvSpPr>
          <p:cNvPr id="102" name="Shape 15"/>
          <p:cNvSpPr/>
          <p:nvPr/>
        </p:nvSpPr>
        <p:spPr>
          <a:xfrm>
            <a:off x="3703320" y="1554480"/>
            <a:ext cx="1645920" cy="34747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03" name="Text 16"/>
          <p:cNvSpPr/>
          <p:nvPr/>
        </p:nvSpPr>
        <p:spPr>
          <a:xfrm>
            <a:off x="3703320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logger.info()</a:t>
            </a:r>
            <a:endParaRPr lang="en-US" sz="900" dirty="0"/>
          </a:p>
        </p:txBody>
      </p:sp>
      <p:sp>
        <p:nvSpPr>
          <p:cNvPr id="104" name="Shape 17"/>
          <p:cNvSpPr/>
          <p:nvPr/>
        </p:nvSpPr>
        <p:spPr>
          <a:xfrm>
            <a:off x="4526280" y="1901952"/>
            <a:ext cx="0" cy="1828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05" name="Shape 18"/>
          <p:cNvSpPr/>
          <p:nvPr/>
        </p:nvSpPr>
        <p:spPr>
          <a:xfrm>
            <a:off x="3703320" y="2084832"/>
            <a:ext cx="16459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6" name="Text 19"/>
          <p:cNvSpPr/>
          <p:nvPr/>
        </p:nvSpPr>
        <p:spPr>
          <a:xfrm>
            <a:off x="370332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레벨: INFO</a:t>
            </a:r>
            <a:endParaRPr lang="en-US" sz="1000" dirty="0"/>
          </a:p>
        </p:txBody>
      </p:sp>
      <p:sp>
        <p:nvSpPr>
          <p:cNvPr id="107" name="Shape 20"/>
          <p:cNvSpPr/>
          <p:nvPr/>
        </p:nvSpPr>
        <p:spPr>
          <a:xfrm>
            <a:off x="5440680" y="1554480"/>
            <a:ext cx="1645920" cy="34747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08" name="Text 21"/>
          <p:cNvSpPr/>
          <p:nvPr/>
        </p:nvSpPr>
        <p:spPr>
          <a:xfrm>
            <a:off x="5440680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logger.warn()</a:t>
            </a:r>
            <a:endParaRPr lang="en-US" sz="900" dirty="0"/>
          </a:p>
        </p:txBody>
      </p:sp>
      <p:sp>
        <p:nvSpPr>
          <p:cNvPr id="109" name="Shape 22"/>
          <p:cNvSpPr/>
          <p:nvPr/>
        </p:nvSpPr>
        <p:spPr>
          <a:xfrm>
            <a:off x="6263640" y="1901952"/>
            <a:ext cx="0" cy="18288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10" name="Shape 23"/>
          <p:cNvSpPr/>
          <p:nvPr/>
        </p:nvSpPr>
        <p:spPr>
          <a:xfrm>
            <a:off x="5440680" y="2084832"/>
            <a:ext cx="1645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1" name="Text 24"/>
          <p:cNvSpPr/>
          <p:nvPr/>
        </p:nvSpPr>
        <p:spPr>
          <a:xfrm>
            <a:off x="544068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레벨: WARN</a:t>
            </a:r>
            <a:endParaRPr lang="en-US" sz="1000" dirty="0"/>
          </a:p>
        </p:txBody>
      </p:sp>
      <p:sp>
        <p:nvSpPr>
          <p:cNvPr id="112" name="Shape 25"/>
          <p:cNvSpPr/>
          <p:nvPr/>
        </p:nvSpPr>
        <p:spPr>
          <a:xfrm>
            <a:off x="7178040" y="1554480"/>
            <a:ext cx="1645920" cy="34747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13" name="Text 26"/>
          <p:cNvSpPr/>
          <p:nvPr/>
        </p:nvSpPr>
        <p:spPr>
          <a:xfrm>
            <a:off x="7178040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logger.error()</a:t>
            </a:r>
            <a:endParaRPr lang="en-US" sz="900" dirty="0"/>
          </a:p>
        </p:txBody>
      </p:sp>
      <p:sp>
        <p:nvSpPr>
          <p:cNvPr id="114" name="Shape 27"/>
          <p:cNvSpPr/>
          <p:nvPr/>
        </p:nvSpPr>
        <p:spPr>
          <a:xfrm>
            <a:off x="8001000" y="1901952"/>
            <a:ext cx="0" cy="1828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15" name="Shape 28"/>
          <p:cNvSpPr/>
          <p:nvPr/>
        </p:nvSpPr>
        <p:spPr>
          <a:xfrm>
            <a:off x="7178040" y="2084832"/>
            <a:ext cx="1645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29"/>
          <p:cNvSpPr/>
          <p:nvPr/>
        </p:nvSpPr>
        <p:spPr>
          <a:xfrm>
            <a:off x="717804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레벨: ERROR</a:t>
            </a:r>
            <a:endParaRPr lang="en-US" sz="1000" dirty="0"/>
          </a:p>
        </p:txBody>
      </p:sp>
      <p:sp>
        <p:nvSpPr>
          <p:cNvPr id="117" name="Shape 30"/>
          <p:cNvSpPr/>
          <p:nvPr/>
        </p:nvSpPr>
        <p:spPr>
          <a:xfrm>
            <a:off x="228600" y="2633472"/>
            <a:ext cx="868680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8" name="Text 31"/>
          <p:cNvSpPr/>
          <p:nvPr/>
        </p:nvSpPr>
        <p:spPr>
          <a:xfrm>
            <a:off x="365760" y="2633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요청 레벨  &gt;=  Logger 유효 레벨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로그 출력</a:t>
            </a:r>
            <a:endParaRPr lang="en-US" sz="1300" dirty="0"/>
          </a:p>
        </p:txBody>
      </p:sp>
      <p:sp>
        <p:nvSpPr>
          <p:cNvPr id="119" name="Text 32"/>
          <p:cNvSpPr/>
          <p:nvPr/>
        </p:nvSpPr>
        <p:spPr>
          <a:xfrm>
            <a:off x="365760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Logger 유효 레벨 = INFO</a:t>
            </a:r>
            <a:endParaRPr lang="en-US" sz="1000" dirty="0"/>
          </a:p>
        </p:txBody>
      </p:sp>
      <p:sp>
        <p:nvSpPr>
          <p:cNvPr id="120" name="Text 33"/>
          <p:cNvSpPr/>
          <p:nvPr/>
        </p:nvSpPr>
        <p:spPr>
          <a:xfrm>
            <a:off x="36576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logger.trace("추적 로그");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1" name="Text 34"/>
          <p:cNvSpPr/>
          <p:nvPr/>
        </p:nvSpPr>
        <p:spPr>
          <a:xfrm>
            <a:off x="324612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 &lt;  INFO</a:t>
            </a:r>
            <a:endParaRPr lang="en-US" sz="1000" dirty="0"/>
          </a:p>
        </p:txBody>
      </p:sp>
      <p:sp>
        <p:nvSpPr>
          <p:cNvPr id="122" name="Text 35"/>
          <p:cNvSpPr/>
          <p:nvPr/>
        </p:nvSpPr>
        <p:spPr>
          <a:xfrm>
            <a:off x="534924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무시됨 (discarded)</a:t>
            </a:r>
            <a:endParaRPr lang="en-US" sz="1050" dirty="0"/>
          </a:p>
        </p:txBody>
      </p:sp>
      <p:sp>
        <p:nvSpPr>
          <p:cNvPr id="123" name="Text 36"/>
          <p:cNvSpPr/>
          <p:nvPr/>
        </p:nvSpPr>
        <p:spPr>
          <a:xfrm>
            <a:off x="36576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logger.debug("디버그 로그");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4" name="Text 37"/>
          <p:cNvSpPr/>
          <p:nvPr/>
        </p:nvSpPr>
        <p:spPr>
          <a:xfrm>
            <a:off x="3246120" y="3721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 &lt;  INFO</a:t>
            </a:r>
            <a:endParaRPr lang="en-US" sz="1000" dirty="0"/>
          </a:p>
        </p:txBody>
      </p:sp>
      <p:sp>
        <p:nvSpPr>
          <p:cNvPr id="125" name="Text 38"/>
          <p:cNvSpPr/>
          <p:nvPr/>
        </p:nvSpPr>
        <p:spPr>
          <a:xfrm>
            <a:off x="534924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무시됨 (discarded)</a:t>
            </a:r>
            <a:endParaRPr lang="en-US" sz="1050" dirty="0"/>
          </a:p>
        </p:txBody>
      </p:sp>
      <p:sp>
        <p:nvSpPr>
          <p:cNvPr id="126" name="Text 39"/>
          <p:cNvSpPr/>
          <p:nvPr/>
        </p:nvSpPr>
        <p:spPr>
          <a:xfrm>
            <a:off x="365760" y="4014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logger.info("정보 로그");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7" name="Text 40"/>
          <p:cNvSpPr/>
          <p:nvPr/>
        </p:nvSpPr>
        <p:spPr>
          <a:xfrm>
            <a:off x="3246120" y="4014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=  INFO</a:t>
            </a:r>
            <a:endParaRPr lang="en-US" sz="1000" dirty="0"/>
          </a:p>
        </p:txBody>
      </p:sp>
      <p:sp>
        <p:nvSpPr>
          <p:cNvPr id="128" name="Text 41"/>
          <p:cNvSpPr/>
          <p:nvPr/>
        </p:nvSpPr>
        <p:spPr>
          <a:xfrm>
            <a:off x="5349240" y="4014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Appender 전달 → 출력</a:t>
            </a:r>
            <a:endParaRPr lang="en-US" sz="1050" dirty="0"/>
          </a:p>
        </p:txBody>
      </p:sp>
      <p:sp>
        <p:nvSpPr>
          <p:cNvPr id="129" name="Text 42"/>
          <p:cNvSpPr/>
          <p:nvPr/>
        </p:nvSpPr>
        <p:spPr>
          <a:xfrm>
            <a:off x="365760" y="4306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logger.warn("경고 로그");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0" name="Text 43"/>
          <p:cNvSpPr/>
          <p:nvPr/>
        </p:nvSpPr>
        <p:spPr>
          <a:xfrm>
            <a:off x="3246120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   &gt;  INFO</a:t>
            </a:r>
            <a:endParaRPr lang="en-US" sz="1000" dirty="0"/>
          </a:p>
        </p:txBody>
      </p:sp>
      <p:sp>
        <p:nvSpPr>
          <p:cNvPr id="131" name="Text 44"/>
          <p:cNvSpPr/>
          <p:nvPr/>
        </p:nvSpPr>
        <p:spPr>
          <a:xfrm>
            <a:off x="534924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Appender 전달 → 출력</a:t>
            </a:r>
            <a:endParaRPr lang="en-US" sz="1050" dirty="0"/>
          </a:p>
        </p:txBody>
      </p:sp>
      <p:sp>
        <p:nvSpPr>
          <p:cNvPr id="132" name="Text 45"/>
          <p:cNvSpPr/>
          <p:nvPr/>
        </p:nvSpPr>
        <p:spPr>
          <a:xfrm>
            <a:off x="365760" y="4599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logger.error("오류 로그");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3" name="Text 46"/>
          <p:cNvSpPr/>
          <p:nvPr/>
        </p:nvSpPr>
        <p:spPr>
          <a:xfrm>
            <a:off x="3246120" y="4599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 &gt;  INFO</a:t>
            </a:r>
            <a:endParaRPr lang="en-US" sz="1000" dirty="0"/>
          </a:p>
        </p:txBody>
      </p:sp>
      <p:sp>
        <p:nvSpPr>
          <p:cNvPr id="134" name="Text 47"/>
          <p:cNvSpPr/>
          <p:nvPr/>
        </p:nvSpPr>
        <p:spPr>
          <a:xfrm>
            <a:off x="5349240" y="4599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Appender 전달 → 출력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가능 여부 표</a:t>
            </a:r>
            <a:endParaRPr lang="en-US" sz="2000" dirty="0"/>
          </a:p>
        </p:txBody>
      </p:sp>
      <p:sp>
        <p:nvSpPr>
          <p:cNvPr id="96" name="Text 2"/>
          <p:cNvSpPr/>
          <p:nvPr/>
        </p:nvSpPr>
        <p:spPr>
          <a:xfrm>
            <a:off x="1371600" y="822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유효 레벨(q)</a:t>
            </a:r>
            <a:endParaRPr lang="en-US" sz="1300" dirty="0"/>
          </a:p>
        </p:txBody>
      </p:sp>
      <p:sp>
        <p:nvSpPr>
          <p:cNvPr id="97" name="Text 3"/>
          <p:cNvSpPr/>
          <p:nvPr/>
        </p:nvSpPr>
        <p:spPr>
          <a:xfrm>
            <a:off x="228600" y="150876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요청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레벨(p)</a:t>
            </a:r>
            <a:endParaRPr lang="en-US" sz="11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690994"/>
              </p:ext>
            </p:extLst>
          </p:nvPr>
        </p:nvGraphicFramePr>
        <p:xfrm>
          <a:off x="1280160" y="1115568"/>
          <a:ext cx="7571232" cy="3611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\ 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" name="Text 4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 Logger 유효 레벨 = INFO일 때:  logger.warn("hello")  ✅ 출력  /  logger.debug("hi")  ❌ 출력 안 됨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Boot에서 Logger 레벨 설정하기</a:t>
            </a:r>
            <a:endParaRPr lang="en-US" sz="2000" dirty="0"/>
          </a:p>
        </p:txBody>
      </p:sp>
      <p:sp>
        <p:nvSpPr>
          <p:cNvPr id="21" name="Text 2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Boot에서는 application.properties (또는 .yml)에서 레벨을 바로 설정할 수 있습니다.</a:t>
            </a:r>
            <a:endParaRPr lang="en-US" sz="1150" dirty="0"/>
          </a:p>
        </p:txBody>
      </p:sp>
      <p:sp>
        <p:nvSpPr>
          <p:cNvPr id="22" name="Shape 3"/>
          <p:cNvSpPr/>
          <p:nvPr/>
        </p:nvSpPr>
        <p:spPr>
          <a:xfrm>
            <a:off x="228600" y="1078992"/>
            <a:ext cx="429768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4"/>
          <p:cNvSpPr/>
          <p:nvPr/>
        </p:nvSpPr>
        <p:spPr>
          <a:xfrm>
            <a:off x="338328" y="107899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application.properties</a:t>
            </a:r>
            <a:endParaRPr lang="en-US" sz="900" dirty="0"/>
          </a:p>
        </p:txBody>
      </p:sp>
      <p:sp>
        <p:nvSpPr>
          <p:cNvPr id="24" name="Shape 5"/>
          <p:cNvSpPr/>
          <p:nvPr/>
        </p:nvSpPr>
        <p:spPr>
          <a:xfrm>
            <a:off x="228600" y="1335024"/>
            <a:ext cx="4297680" cy="237744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25" name="Text 6"/>
          <p:cNvSpPr/>
          <p:nvPr/>
        </p:nvSpPr>
        <p:spPr>
          <a:xfrm>
            <a:off x="338328" y="1408176"/>
            <a:ext cx="407822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전체 기본 레벨 ───────────────────────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logging.level.root=INFO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특정 패키지만 DEBUG ──────────────────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logging.level.kr.ac.hansung=DEBUG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Spring 내부 로그 억제 ──────────────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logging.level.org.springframework=WARN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SQL 쿼리 확인 ───────────────────────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logging.level.org.hibernate.SQL=DEBUG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logging.level.org.hibernate.type.descriptor.sql=TRACE</a:t>
            </a:r>
            <a:endParaRPr lang="en-US" sz="850" dirty="0"/>
          </a:p>
        </p:txBody>
      </p:sp>
      <p:sp>
        <p:nvSpPr>
          <p:cNvPr id="26" name="Shape 7"/>
          <p:cNvSpPr/>
          <p:nvPr/>
        </p:nvSpPr>
        <p:spPr>
          <a:xfrm>
            <a:off x="228600" y="3785616"/>
            <a:ext cx="429768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338328" y="378561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콘솔 출력 결과</a:t>
            </a:r>
            <a:endParaRPr lang="en-US" sz="900" dirty="0"/>
          </a:p>
        </p:txBody>
      </p:sp>
      <p:sp>
        <p:nvSpPr>
          <p:cNvPr id="28" name="Shape 9"/>
          <p:cNvSpPr/>
          <p:nvPr/>
        </p:nvSpPr>
        <p:spPr>
          <a:xfrm>
            <a:off x="228600" y="4041648"/>
            <a:ext cx="4297680" cy="1042416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29" name="Text 10"/>
          <p:cNvSpPr/>
          <p:nvPr/>
        </p:nvSpPr>
        <p:spPr>
          <a:xfrm>
            <a:off x="338328" y="4114800"/>
            <a:ext cx="4078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kr.ac.hansung 패키지 → DEBUG 이상 출력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k.a.h.HelloService - Finding user: 42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k.a.h.HelloService - User found: admin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  k.a.h.HelloService - Deprecated API used</a:t>
            </a:r>
            <a:endParaRPr lang="en-US" sz="850" dirty="0"/>
          </a:p>
        </p:txBody>
      </p:sp>
      <p:sp>
        <p:nvSpPr>
          <p:cNvPr id="30" name="Shape 11"/>
          <p:cNvSpPr/>
          <p:nvPr/>
        </p:nvSpPr>
        <p:spPr>
          <a:xfrm>
            <a:off x="4709160" y="1078992"/>
            <a:ext cx="420624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1" name="Text 12"/>
          <p:cNvSpPr/>
          <p:nvPr/>
        </p:nvSpPr>
        <p:spPr>
          <a:xfrm>
            <a:off x="4818888" y="107899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application.yml</a:t>
            </a:r>
            <a:endParaRPr lang="en-US" sz="900" dirty="0"/>
          </a:p>
        </p:txBody>
      </p:sp>
      <p:sp>
        <p:nvSpPr>
          <p:cNvPr id="32" name="Shape 13"/>
          <p:cNvSpPr/>
          <p:nvPr/>
        </p:nvSpPr>
        <p:spPr>
          <a:xfrm>
            <a:off x="4709160" y="1335024"/>
            <a:ext cx="4206240" cy="134416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33" name="Text 14"/>
          <p:cNvSpPr/>
          <p:nvPr/>
        </p:nvSpPr>
        <p:spPr>
          <a:xfrm>
            <a:off x="4818888" y="1408176"/>
            <a:ext cx="39867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root: 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kr.ac.hansung: DEBUG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org.springframework: WARN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org.hibernate.SQL: DEBUG</a:t>
            </a:r>
            <a:endParaRPr lang="en-US" sz="850" dirty="0"/>
          </a:p>
        </p:txBody>
      </p:sp>
      <p:sp>
        <p:nvSpPr>
          <p:cNvPr id="34" name="Shape 15"/>
          <p:cNvSpPr/>
          <p:nvPr/>
        </p:nvSpPr>
        <p:spPr>
          <a:xfrm>
            <a:off x="4709160" y="2743200"/>
            <a:ext cx="420624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16"/>
          <p:cNvSpPr/>
          <p:nvPr/>
        </p:nvSpPr>
        <p:spPr>
          <a:xfrm>
            <a:off x="4828032" y="27980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항목 설명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4828032" y="3090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logging.level.root</a:t>
            </a:r>
            <a:endParaRPr lang="en-US" sz="950" dirty="0"/>
          </a:p>
        </p:txBody>
      </p:sp>
      <p:sp>
        <p:nvSpPr>
          <p:cNvPr id="37" name="Text 18"/>
          <p:cNvSpPr/>
          <p:nvPr/>
        </p:nvSpPr>
        <p:spPr>
          <a:xfrm>
            <a:off x="4828032" y="32918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전체 기본 레벨 (기본값: INFO)</a:t>
            </a:r>
            <a:endParaRPr lang="en-US" sz="950" dirty="0"/>
          </a:p>
        </p:txBody>
      </p:sp>
      <p:sp>
        <p:nvSpPr>
          <p:cNvPr id="38" name="Text 19"/>
          <p:cNvSpPr/>
          <p:nvPr/>
        </p:nvSpPr>
        <p:spPr>
          <a:xfrm>
            <a:off x="4828032" y="3474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logging.level.{패키지}</a:t>
            </a:r>
            <a:endParaRPr lang="en-US" sz="950" dirty="0"/>
          </a:p>
        </p:txBody>
      </p:sp>
      <p:sp>
        <p:nvSpPr>
          <p:cNvPr id="39" name="Text 20"/>
          <p:cNvSpPr/>
          <p:nvPr/>
        </p:nvSpPr>
        <p:spPr>
          <a:xfrm>
            <a:off x="4828032" y="3675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특정 패키지 레벨 개별 지정</a:t>
            </a:r>
            <a:endParaRPr lang="en-US" sz="950" dirty="0"/>
          </a:p>
        </p:txBody>
      </p:sp>
      <p:sp>
        <p:nvSpPr>
          <p:cNvPr id="40" name="Text 21"/>
          <p:cNvSpPr/>
          <p:nvPr/>
        </p:nvSpPr>
        <p:spPr>
          <a:xfrm>
            <a:off x="4828032" y="38587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org.springframework=WARN</a:t>
            </a:r>
            <a:endParaRPr lang="en-US" sz="950" dirty="0"/>
          </a:p>
        </p:txBody>
      </p:sp>
      <p:sp>
        <p:nvSpPr>
          <p:cNvPr id="41" name="Text 22"/>
          <p:cNvSpPr/>
          <p:nvPr/>
        </p:nvSpPr>
        <p:spPr>
          <a:xfrm>
            <a:off x="4828032" y="40599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Spring 내부 로그 억제 (불필요한 로그 제거)</a:t>
            </a:r>
            <a:endParaRPr lang="en-US" sz="950" dirty="0"/>
          </a:p>
        </p:txBody>
      </p:sp>
      <p:sp>
        <p:nvSpPr>
          <p:cNvPr id="42" name="Text 23"/>
          <p:cNvSpPr/>
          <p:nvPr/>
        </p:nvSpPr>
        <p:spPr>
          <a:xfrm>
            <a:off x="4828032" y="4242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org.hibernate.SQL=DEBUG</a:t>
            </a:r>
            <a:endParaRPr lang="en-US" sz="950" dirty="0"/>
          </a:p>
        </p:txBody>
      </p:sp>
      <p:sp>
        <p:nvSpPr>
          <p:cNvPr id="43" name="Text 24"/>
          <p:cNvSpPr/>
          <p:nvPr/>
        </p:nvSpPr>
        <p:spPr>
          <a:xfrm>
            <a:off x="4828032" y="444398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실행되는 SQL 쿼리 확인 가능</a:t>
            </a:r>
            <a:endParaRPr lang="en-US" sz="950" dirty="0"/>
          </a:p>
        </p:txBody>
      </p:sp>
      <p:sp>
        <p:nvSpPr>
          <p:cNvPr id="44" name="Text 25"/>
          <p:cNvSpPr/>
          <p:nvPr/>
        </p:nvSpPr>
        <p:spPr>
          <a:xfrm>
            <a:off x="4828032" y="46268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TRACE 레벨</a:t>
            </a:r>
            <a:endParaRPr lang="en-US" sz="950" dirty="0"/>
          </a:p>
        </p:txBody>
      </p:sp>
      <p:sp>
        <p:nvSpPr>
          <p:cNvPr id="45" name="Text 26"/>
          <p:cNvSpPr/>
          <p:nvPr/>
        </p:nvSpPr>
        <p:spPr>
          <a:xfrm>
            <a:off x="4828032" y="48280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 파라미터 값까지 확인 가능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로그 출력 목적지</a:t>
            </a:r>
            <a:endParaRPr lang="en-US" sz="2000" dirty="0"/>
          </a:p>
        </p:txBody>
      </p:sp>
      <p:sp>
        <p:nvSpPr>
          <p:cNvPr id="43" name="Text 4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Appender는 로그 메시지를 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출력할지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결정합니다.  하나의 Logger에 여러 개의 Appender를 붙일 수 있습니다.</a:t>
            </a:r>
            <a:endParaRPr lang="en-US" sz="1200" dirty="0"/>
          </a:p>
        </p:txBody>
      </p:sp>
      <p:sp>
        <p:nvSpPr>
          <p:cNvPr id="44" name="Shape 5"/>
          <p:cNvSpPr/>
          <p:nvPr/>
        </p:nvSpPr>
        <p:spPr>
          <a:xfrm>
            <a:off x="228600" y="1143000"/>
            <a:ext cx="2834640" cy="1828800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0" name="Shape 6"/>
          <p:cNvSpPr/>
          <p:nvPr/>
        </p:nvSpPr>
        <p:spPr>
          <a:xfrm>
            <a:off x="228600" y="1143000"/>
            <a:ext cx="47548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7"/>
          <p:cNvSpPr/>
          <p:nvPr/>
        </p:nvSpPr>
        <p:spPr>
          <a:xfrm>
            <a:off x="228600" y="1143000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2" name="Text 8"/>
          <p:cNvSpPr/>
          <p:nvPr/>
        </p:nvSpPr>
        <p:spPr>
          <a:xfrm>
            <a:off x="795528" y="12801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ConsoleAppender</a:t>
            </a:r>
            <a:endParaRPr lang="en-US" sz="1100" dirty="0"/>
          </a:p>
        </p:txBody>
      </p:sp>
      <p:sp>
        <p:nvSpPr>
          <p:cNvPr id="53" name="Text 9"/>
          <p:cNvSpPr/>
          <p:nvPr/>
        </p:nvSpPr>
        <p:spPr>
          <a:xfrm>
            <a:off x="795528" y="1691640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화면(표준 출력)에 출력</a:t>
            </a:r>
            <a:endParaRPr lang="en-US" sz="1100" dirty="0"/>
          </a:p>
        </p:txBody>
      </p:sp>
      <p:sp>
        <p:nvSpPr>
          <p:cNvPr id="54" name="Shape 10"/>
          <p:cNvSpPr/>
          <p:nvPr/>
        </p:nvSpPr>
        <p:spPr>
          <a:xfrm>
            <a:off x="3172968" y="1143000"/>
            <a:ext cx="283464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B3D6E"/>
            </a:solidFill>
            <a:prstDash val="solid"/>
          </a:ln>
        </p:spPr>
      </p:sp>
      <p:sp>
        <p:nvSpPr>
          <p:cNvPr id="55" name="Shape 11"/>
          <p:cNvSpPr/>
          <p:nvPr/>
        </p:nvSpPr>
        <p:spPr>
          <a:xfrm>
            <a:off x="3172968" y="1143000"/>
            <a:ext cx="475488" cy="1828800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56" name="Text 12"/>
          <p:cNvSpPr/>
          <p:nvPr/>
        </p:nvSpPr>
        <p:spPr>
          <a:xfrm>
            <a:off x="3172968" y="1143000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7" name="Text 13"/>
          <p:cNvSpPr/>
          <p:nvPr/>
        </p:nvSpPr>
        <p:spPr>
          <a:xfrm>
            <a:off x="3739896" y="12801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FileAppender</a:t>
            </a:r>
            <a:endParaRPr lang="en-US" sz="1100" dirty="0"/>
          </a:p>
        </p:txBody>
      </p:sp>
      <p:sp>
        <p:nvSpPr>
          <p:cNvPr id="58" name="Text 14"/>
          <p:cNvSpPr/>
          <p:nvPr/>
        </p:nvSpPr>
        <p:spPr>
          <a:xfrm>
            <a:off x="3739896" y="1691640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지정한 파일에 출력</a:t>
            </a:r>
            <a:endParaRPr lang="en-US" sz="1100" dirty="0"/>
          </a:p>
        </p:txBody>
      </p:sp>
      <p:sp>
        <p:nvSpPr>
          <p:cNvPr id="59" name="Shape 15"/>
          <p:cNvSpPr/>
          <p:nvPr/>
        </p:nvSpPr>
        <p:spPr>
          <a:xfrm>
            <a:off x="6117336" y="1143000"/>
            <a:ext cx="2834640" cy="1828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0" name="Shape 16"/>
          <p:cNvSpPr/>
          <p:nvPr/>
        </p:nvSpPr>
        <p:spPr>
          <a:xfrm>
            <a:off x="6117336" y="1143000"/>
            <a:ext cx="475488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17"/>
          <p:cNvSpPr/>
          <p:nvPr/>
        </p:nvSpPr>
        <p:spPr>
          <a:xfrm>
            <a:off x="6117336" y="1143000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2" name="Text 18"/>
          <p:cNvSpPr/>
          <p:nvPr/>
        </p:nvSpPr>
        <p:spPr>
          <a:xfrm>
            <a:off x="6684264" y="12801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RollingFileAppender</a:t>
            </a:r>
            <a:endParaRPr lang="en-US" sz="1100" dirty="0"/>
          </a:p>
        </p:txBody>
      </p:sp>
      <p:sp>
        <p:nvSpPr>
          <p:cNvPr id="63" name="Text 19"/>
          <p:cNvSpPr/>
          <p:nvPr/>
        </p:nvSpPr>
        <p:spPr>
          <a:xfrm>
            <a:off x="6684264" y="1691640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따라 파일 전환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(날짜별, 크기별 분리)</a:t>
            </a:r>
            <a:endParaRPr lang="en-US" sz="1100" dirty="0"/>
          </a:p>
        </p:txBody>
      </p:sp>
      <p:sp>
        <p:nvSpPr>
          <p:cNvPr id="64" name="Shape 20"/>
          <p:cNvSpPr/>
          <p:nvPr/>
        </p:nvSpPr>
        <p:spPr>
          <a:xfrm>
            <a:off x="228600" y="3081528"/>
            <a:ext cx="2834640" cy="18288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5" name="Shape 21"/>
          <p:cNvSpPr/>
          <p:nvPr/>
        </p:nvSpPr>
        <p:spPr>
          <a:xfrm>
            <a:off x="228600" y="3081528"/>
            <a:ext cx="47548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22"/>
          <p:cNvSpPr/>
          <p:nvPr/>
        </p:nvSpPr>
        <p:spPr>
          <a:xfrm>
            <a:off x="228600" y="3081528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7" name="Text 23"/>
          <p:cNvSpPr/>
          <p:nvPr/>
        </p:nvSpPr>
        <p:spPr>
          <a:xfrm>
            <a:off x="795528" y="32186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DB Appender</a:t>
            </a:r>
            <a:endParaRPr lang="en-US" sz="1100" dirty="0"/>
          </a:p>
        </p:txBody>
      </p:sp>
      <p:sp>
        <p:nvSpPr>
          <p:cNvPr id="68" name="Text 24"/>
          <p:cNvSpPr/>
          <p:nvPr/>
        </p:nvSpPr>
        <p:spPr>
          <a:xfrm>
            <a:off x="795528" y="36301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데이터베이스에 저장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(MySQL, Oracle 등)</a:t>
            </a:r>
            <a:endParaRPr lang="en-US" sz="1100" dirty="0"/>
          </a:p>
        </p:txBody>
      </p:sp>
      <p:sp>
        <p:nvSpPr>
          <p:cNvPr id="69" name="Shape 25"/>
          <p:cNvSpPr/>
          <p:nvPr/>
        </p:nvSpPr>
        <p:spPr>
          <a:xfrm>
            <a:off x="3172968" y="3081528"/>
            <a:ext cx="2834640" cy="18288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0" name="Shape 26"/>
          <p:cNvSpPr/>
          <p:nvPr/>
        </p:nvSpPr>
        <p:spPr>
          <a:xfrm>
            <a:off x="3172968" y="3081528"/>
            <a:ext cx="47548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27"/>
          <p:cNvSpPr/>
          <p:nvPr/>
        </p:nvSpPr>
        <p:spPr>
          <a:xfrm>
            <a:off x="3172968" y="3081528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2" name="Text 28"/>
          <p:cNvSpPr/>
          <p:nvPr/>
        </p:nvSpPr>
        <p:spPr>
          <a:xfrm>
            <a:off x="3739896" y="32186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SMTP Appender</a:t>
            </a:r>
            <a:endParaRPr lang="en-US" sz="1100" dirty="0"/>
          </a:p>
        </p:txBody>
      </p:sp>
      <p:sp>
        <p:nvSpPr>
          <p:cNvPr id="73" name="Text 29"/>
          <p:cNvSpPr/>
          <p:nvPr/>
        </p:nvSpPr>
        <p:spPr>
          <a:xfrm>
            <a:off x="3739896" y="36301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이메일로 발송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(오류 발생 시 알림)</a:t>
            </a:r>
            <a:endParaRPr lang="en-US" sz="1100" dirty="0"/>
          </a:p>
        </p:txBody>
      </p:sp>
      <p:sp>
        <p:nvSpPr>
          <p:cNvPr id="74" name="Shape 30"/>
          <p:cNvSpPr/>
          <p:nvPr/>
        </p:nvSpPr>
        <p:spPr>
          <a:xfrm>
            <a:off x="6117336" y="3081528"/>
            <a:ext cx="2834640" cy="18288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5" name="Shape 31"/>
          <p:cNvSpPr/>
          <p:nvPr/>
        </p:nvSpPr>
        <p:spPr>
          <a:xfrm>
            <a:off x="6117336" y="3081528"/>
            <a:ext cx="47548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32"/>
          <p:cNvSpPr/>
          <p:nvPr/>
        </p:nvSpPr>
        <p:spPr>
          <a:xfrm>
            <a:off x="6117336" y="3081528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77" name="Text 33"/>
          <p:cNvSpPr/>
          <p:nvPr/>
        </p:nvSpPr>
        <p:spPr>
          <a:xfrm>
            <a:off x="6684264" y="32186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RemoteAppender</a:t>
            </a:r>
            <a:endParaRPr lang="en-US" sz="1100" dirty="0"/>
          </a:p>
        </p:txBody>
      </p:sp>
      <p:sp>
        <p:nvSpPr>
          <p:cNvPr id="78" name="Text 34"/>
          <p:cNvSpPr/>
          <p:nvPr/>
        </p:nvSpPr>
        <p:spPr>
          <a:xfrm>
            <a:off x="6684264" y="36301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서버로 전송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(Logstash, Splunk 등)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구조</a:t>
            </a:r>
            <a:endParaRPr lang="en-US" sz="2000" dirty="0"/>
          </a:p>
        </p:txBody>
      </p:sp>
      <p:sp>
        <p:nvSpPr>
          <p:cNvPr id="30" name="Shape 2"/>
          <p:cNvSpPr/>
          <p:nvPr/>
        </p:nvSpPr>
        <p:spPr>
          <a:xfrm>
            <a:off x="3017520" y="841248"/>
            <a:ext cx="3108960" cy="457200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31" name="Text 3"/>
          <p:cNvSpPr/>
          <p:nvPr/>
        </p:nvSpPr>
        <p:spPr>
          <a:xfrm>
            <a:off x="3017520" y="841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OutputStreamAppender</a:t>
            </a:r>
            <a:endParaRPr lang="en-US" sz="1200" dirty="0"/>
          </a:p>
        </p:txBody>
      </p:sp>
      <p:sp>
        <p:nvSpPr>
          <p:cNvPr id="32" name="Shape 4"/>
          <p:cNvSpPr/>
          <p:nvPr/>
        </p:nvSpPr>
        <p:spPr>
          <a:xfrm>
            <a:off x="4572000" y="129844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Shape 5"/>
          <p:cNvSpPr/>
          <p:nvPr/>
        </p:nvSpPr>
        <p:spPr>
          <a:xfrm>
            <a:off x="1645920" y="1572768"/>
            <a:ext cx="5852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4" name="Shape 6"/>
          <p:cNvSpPr/>
          <p:nvPr/>
        </p:nvSpPr>
        <p:spPr>
          <a:xfrm>
            <a:off x="1645920" y="157276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5" name="Shape 7"/>
          <p:cNvSpPr/>
          <p:nvPr/>
        </p:nvSpPr>
        <p:spPr>
          <a:xfrm>
            <a:off x="457200" y="1847088"/>
            <a:ext cx="23774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8"/>
          <p:cNvSpPr/>
          <p:nvPr/>
        </p:nvSpPr>
        <p:spPr>
          <a:xfrm>
            <a:off x="45720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ConsoleAppender</a:t>
            </a:r>
            <a:endParaRPr lang="en-US" sz="1100" dirty="0"/>
          </a:p>
        </p:txBody>
      </p:sp>
      <p:sp>
        <p:nvSpPr>
          <p:cNvPr id="37" name="Text 9"/>
          <p:cNvSpPr/>
          <p:nvPr/>
        </p:nvSpPr>
        <p:spPr>
          <a:xfrm>
            <a:off x="457200" y="2359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콘솔(표준 출력)에 기록</a:t>
            </a:r>
            <a:endParaRPr lang="en-US" sz="1000" dirty="0"/>
          </a:p>
        </p:txBody>
      </p:sp>
      <p:sp>
        <p:nvSpPr>
          <p:cNvPr id="38" name="Shape 10"/>
          <p:cNvSpPr/>
          <p:nvPr/>
        </p:nvSpPr>
        <p:spPr>
          <a:xfrm>
            <a:off x="4572000" y="157276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9" name="Shape 11"/>
          <p:cNvSpPr/>
          <p:nvPr/>
        </p:nvSpPr>
        <p:spPr>
          <a:xfrm>
            <a:off x="3383280" y="1847088"/>
            <a:ext cx="2377440" cy="457200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40" name="Text 12"/>
          <p:cNvSpPr/>
          <p:nvPr/>
        </p:nvSpPr>
        <p:spPr>
          <a:xfrm>
            <a:off x="338328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FileAppender</a:t>
            </a:r>
            <a:endParaRPr lang="en-US" sz="1100" dirty="0"/>
          </a:p>
        </p:txBody>
      </p:sp>
      <p:sp>
        <p:nvSpPr>
          <p:cNvPr id="41" name="Text 13"/>
          <p:cNvSpPr/>
          <p:nvPr/>
        </p:nvSpPr>
        <p:spPr>
          <a:xfrm>
            <a:off x="3383280" y="2359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 파일에 기록</a:t>
            </a:r>
            <a:endParaRPr lang="en-US" sz="1000" dirty="0"/>
          </a:p>
        </p:txBody>
      </p:sp>
      <p:sp>
        <p:nvSpPr>
          <p:cNvPr id="42" name="Shape 14"/>
          <p:cNvSpPr/>
          <p:nvPr/>
        </p:nvSpPr>
        <p:spPr>
          <a:xfrm>
            <a:off x="4572000" y="2615184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5" name="Shape 15"/>
          <p:cNvSpPr/>
          <p:nvPr/>
        </p:nvSpPr>
        <p:spPr>
          <a:xfrm>
            <a:off x="3383280" y="2889504"/>
            <a:ext cx="23774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16"/>
          <p:cNvSpPr/>
          <p:nvPr/>
        </p:nvSpPr>
        <p:spPr>
          <a:xfrm>
            <a:off x="338328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RollingFileAppender</a:t>
            </a:r>
            <a:endParaRPr lang="en-US" sz="1100" dirty="0"/>
          </a:p>
        </p:txBody>
      </p:sp>
      <p:sp>
        <p:nvSpPr>
          <p:cNvPr id="47" name="Text 17"/>
          <p:cNvSpPr/>
          <p:nvPr/>
        </p:nvSpPr>
        <p:spPr>
          <a:xfrm>
            <a:off x="338328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따라 파일 전환</a:t>
            </a:r>
            <a:endParaRPr lang="en-US" sz="1000" dirty="0"/>
          </a:p>
        </p:txBody>
      </p:sp>
      <p:sp>
        <p:nvSpPr>
          <p:cNvPr id="48" name="Shape 18"/>
          <p:cNvSpPr/>
          <p:nvPr/>
        </p:nvSpPr>
        <p:spPr>
          <a:xfrm>
            <a:off x="4572000" y="365760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9" name="Shape 19"/>
          <p:cNvSpPr/>
          <p:nvPr/>
        </p:nvSpPr>
        <p:spPr>
          <a:xfrm>
            <a:off x="2743200" y="3913632"/>
            <a:ext cx="3657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4" name="Shape 20"/>
          <p:cNvSpPr/>
          <p:nvPr/>
        </p:nvSpPr>
        <p:spPr>
          <a:xfrm>
            <a:off x="2743200" y="3913632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5" name="Shape 21"/>
          <p:cNvSpPr/>
          <p:nvPr/>
        </p:nvSpPr>
        <p:spPr>
          <a:xfrm>
            <a:off x="457200" y="4169664"/>
            <a:ext cx="35661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22"/>
          <p:cNvSpPr/>
          <p:nvPr/>
        </p:nvSpPr>
        <p:spPr>
          <a:xfrm>
            <a:off x="45720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TimeBasedRollingPolicy</a:t>
            </a:r>
            <a:endParaRPr lang="en-US" sz="1100" dirty="0"/>
          </a:p>
        </p:txBody>
      </p:sp>
      <p:sp>
        <p:nvSpPr>
          <p:cNvPr id="77" name="Text 23"/>
          <p:cNvSpPr/>
          <p:nvPr/>
        </p:nvSpPr>
        <p:spPr>
          <a:xfrm>
            <a:off x="45720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기준 파일 전환 (실무 표준)</a:t>
            </a:r>
            <a:endParaRPr lang="en-US" sz="1000" dirty="0"/>
          </a:p>
        </p:txBody>
      </p:sp>
      <p:sp>
        <p:nvSpPr>
          <p:cNvPr id="78" name="Shape 24"/>
          <p:cNvSpPr/>
          <p:nvPr/>
        </p:nvSpPr>
        <p:spPr>
          <a:xfrm>
            <a:off x="6400800" y="3913632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9" name="Shape 25"/>
          <p:cNvSpPr/>
          <p:nvPr/>
        </p:nvSpPr>
        <p:spPr>
          <a:xfrm>
            <a:off x="5120640" y="4169664"/>
            <a:ext cx="35661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26"/>
          <p:cNvSpPr/>
          <p:nvPr/>
        </p:nvSpPr>
        <p:spPr>
          <a:xfrm>
            <a:off x="512064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SizeAndTimeBasedRollingPolicy</a:t>
            </a:r>
            <a:endParaRPr lang="en-US" sz="1000" dirty="0"/>
          </a:p>
        </p:txBody>
      </p:sp>
      <p:sp>
        <p:nvSpPr>
          <p:cNvPr id="81" name="Text 27"/>
          <p:cNvSpPr/>
          <p:nvPr/>
        </p:nvSpPr>
        <p:spPr>
          <a:xfrm>
            <a:off x="512064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+ 날짜 기준 파일 전환</a:t>
            </a:r>
            <a:endParaRPr lang="en-US" sz="1000" dirty="0"/>
          </a:p>
        </p:txBody>
      </p:sp>
      <p:sp>
        <p:nvSpPr>
          <p:cNvPr id="82" name="Shape 28"/>
          <p:cNvSpPr/>
          <p:nvPr/>
        </p:nvSpPr>
        <p:spPr>
          <a:xfrm>
            <a:off x="7498080" y="157276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3" name="Shape 29"/>
          <p:cNvSpPr/>
          <p:nvPr/>
        </p:nvSpPr>
        <p:spPr>
          <a:xfrm>
            <a:off x="6309360" y="1847088"/>
            <a:ext cx="24231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30"/>
          <p:cNvSpPr/>
          <p:nvPr/>
        </p:nvSpPr>
        <p:spPr>
          <a:xfrm>
            <a:off x="6309360" y="1847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SMTP / Remote</a:t>
            </a:r>
            <a:endParaRPr lang="en-US" sz="1100" dirty="0"/>
          </a:p>
        </p:txBody>
      </p:sp>
      <p:sp>
        <p:nvSpPr>
          <p:cNvPr id="85" name="Text 31"/>
          <p:cNvSpPr/>
          <p:nvPr/>
        </p:nvSpPr>
        <p:spPr>
          <a:xfrm>
            <a:off x="630936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이메일 · 원격 서버 출력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1487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Appender Additivity (누적 전달)</a:t>
            </a:r>
            <a:endParaRPr lang="en-US" sz="2000" dirty="0"/>
          </a:p>
        </p:txBody>
      </p:sp>
      <p:sp>
        <p:nvSpPr>
          <p:cNvPr id="69" name="Text 2"/>
          <p:cNvSpPr/>
          <p:nvPr/>
        </p:nvSpPr>
        <p:spPr>
          <a:xfrm>
            <a:off x="228600" y="7898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Logger의 로그 요청은 자신에게 연결된 Appender뿐만 아니라 </a:t>
            </a: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상위(조상) Logger의 Appender에도 전달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됩니다. (기본값: additivity=true)</a:t>
            </a:r>
            <a:endParaRPr lang="en-US" sz="11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898362"/>
              </p:ext>
            </p:extLst>
          </p:nvPr>
        </p:nvGraphicFramePr>
        <p:xfrm>
          <a:off x="228600" y="1128180"/>
          <a:ext cx="8686800" cy="2926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출력 목적지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최상위 Logger, additivity 개념 적용 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A-x1, A-x2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A1, A-x1, A-x2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자신(A-x1,A-x2) + root(A1) 모두 출력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(없음)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A1, A-x1, A-x2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Logger(x, root)의 Appender 그대로 사용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x.y.z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A-xyz1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A1, A-x1, A-x2, A-xyz1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자신 + 상위 Logger x + root 모두 출력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A-sec만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additivity=false → 자신의 Appender에만 출력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" name="Shape 3"/>
          <p:cNvSpPr/>
          <p:nvPr/>
        </p:nvSpPr>
        <p:spPr>
          <a:xfrm>
            <a:off x="228600" y="4173132"/>
            <a:ext cx="8686800" cy="347472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2" name="Text 4"/>
          <p:cNvSpPr/>
          <p:nvPr/>
        </p:nvSpPr>
        <p:spPr>
          <a:xfrm>
            <a:off x="338328" y="4218852"/>
            <a:ext cx="8467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additivity="false" 설정 시 부모 Appender로 전달되지 않아 중복 로그를 방지할 수 있습니다.</a:t>
            </a:r>
            <a:endParaRPr lang="en-US" sz="1050" dirty="0"/>
          </a:p>
        </p:txBody>
      </p:sp>
      <p:sp>
        <p:nvSpPr>
          <p:cNvPr id="75" name="Shape 5"/>
          <p:cNvSpPr/>
          <p:nvPr/>
        </p:nvSpPr>
        <p:spPr>
          <a:xfrm>
            <a:off x="228600" y="4584612"/>
            <a:ext cx="8686800" cy="347472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6" name="Text 6"/>
          <p:cNvSpPr/>
          <p:nvPr/>
        </p:nvSpPr>
        <p:spPr>
          <a:xfrm>
            <a:off x="338328" y="4630332"/>
            <a:ext cx="8467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additivity 설정은 logback-spring.xml에서만 가능. application.properties로는 설정 불가.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ConsoleAppender 설정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577840" y="777240"/>
            <a:ext cx="3200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8412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변환 기호 설명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23444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123444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%d{HH:mm:ss.SSS}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50608" y="12344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날짜/시간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(형식 지정 가능)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73736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173736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[%thread]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50608" y="173736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로그를 출력하는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 이름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224028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2402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%-5level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50608" y="2246586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(5자리, 왼쪽 정렬)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74320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33288" y="274320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%logger{36}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50608" y="2743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이름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(최대 36자로 축약)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324612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324612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%msg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50608" y="32461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로그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3749040"/>
            <a:ext cx="1371600" cy="438912"/>
          </a:xfrm>
          <a:prstGeom prst="rect">
            <a:avLst/>
          </a:prstGeom>
          <a:solidFill>
            <a:srgbClr val="1E3A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374904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50608" y="37490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줄바꿈(newline)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4251960"/>
            <a:ext cx="2926080" cy="566928"/>
          </a:xfrm>
          <a:prstGeom prst="rect">
            <a:avLst/>
          </a:prstGeom>
          <a:solidFill>
            <a:srgbClr val="D6E8F5"/>
          </a:solidFill>
          <a:ln w="19050">
            <a:solidFill>
              <a:srgbClr val="2F8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4297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예)  09:58:21.317 [main] INFO  k.a.h.HelloService - User logged in</a:t>
            </a:r>
            <a:endParaRPr lang="en-US" sz="1100" dirty="0"/>
          </a:p>
        </p:txBody>
      </p:sp>
      <p:sp>
        <p:nvSpPr>
          <p:cNvPr id="33" name="Shape 2"/>
          <p:cNvSpPr/>
          <p:nvPr/>
        </p:nvSpPr>
        <p:spPr>
          <a:xfrm>
            <a:off x="228599" y="804672"/>
            <a:ext cx="4548021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4" name="Text 3"/>
          <p:cNvSpPr/>
          <p:nvPr/>
        </p:nvSpPr>
        <p:spPr>
          <a:xfrm>
            <a:off x="338328" y="804672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src/main/resources/logback-spring.xml</a:t>
            </a:r>
            <a:endParaRPr lang="en-US" sz="900" dirty="0"/>
          </a:p>
        </p:txBody>
      </p:sp>
      <p:sp>
        <p:nvSpPr>
          <p:cNvPr id="35" name="Shape 4"/>
          <p:cNvSpPr/>
          <p:nvPr/>
        </p:nvSpPr>
        <p:spPr>
          <a:xfrm>
            <a:off x="228600" y="1060704"/>
            <a:ext cx="4548020" cy="385876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36" name="Text 5"/>
          <p:cNvSpPr/>
          <p:nvPr/>
        </p:nvSpPr>
        <p:spPr>
          <a:xfrm>
            <a:off x="338328" y="1133856"/>
            <a:ext cx="438713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&lt;configuration&gt;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&lt;appender name="STDOUT"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class="ch.qos.logback.core.ConsoleAppender"&gt;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%d{HH:mm:ss.SSS} [%thread] %-5level %logger{36} - %msg%n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&lt;/appender&gt;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특정 패키지 레벨 지정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&lt;logger name="kr.ac.hansung" level="DEBUG"/&gt;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&lt;root level="INFO"&gt;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&lt;appender-ref ref="STDOUT"/&gt;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&lt;/root&gt;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&lt;/configuration&gt;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FileAppender  &amp;  ③ RollingFileAppender</a:t>
            </a:r>
            <a:endParaRPr lang="en-US" sz="2000" dirty="0"/>
          </a:p>
        </p:txBody>
      </p:sp>
      <p:sp>
        <p:nvSpPr>
          <p:cNvPr id="38" name="Text 12"/>
          <p:cNvSpPr/>
          <p:nvPr/>
        </p:nvSpPr>
        <p:spPr>
          <a:xfrm>
            <a:off x="228600" y="38221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롤링 동작 흐름</a:t>
            </a:r>
            <a:endParaRPr lang="en-US" sz="1200" dirty="0"/>
          </a:p>
        </p:txBody>
      </p:sp>
      <p:sp>
        <p:nvSpPr>
          <p:cNvPr id="39" name="Shape 13"/>
          <p:cNvSpPr/>
          <p:nvPr/>
        </p:nvSpPr>
        <p:spPr>
          <a:xfrm>
            <a:off x="228600" y="4133088"/>
            <a:ext cx="201168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14"/>
          <p:cNvSpPr/>
          <p:nvPr/>
        </p:nvSpPr>
        <p:spPr>
          <a:xfrm>
            <a:off x="22860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logs/app.log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(현재 활성)</a:t>
            </a:r>
            <a:endParaRPr lang="en-US" sz="950" dirty="0"/>
          </a:p>
        </p:txBody>
      </p:sp>
      <p:sp>
        <p:nvSpPr>
          <p:cNvPr id="43" name="Text 15"/>
          <p:cNvSpPr/>
          <p:nvPr/>
        </p:nvSpPr>
        <p:spPr>
          <a:xfrm>
            <a:off x="2258568" y="42976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16"/>
          <p:cNvSpPr/>
          <p:nvPr/>
        </p:nvSpPr>
        <p:spPr>
          <a:xfrm>
            <a:off x="2468880" y="4133088"/>
            <a:ext cx="201168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17"/>
          <p:cNvSpPr/>
          <p:nvPr/>
        </p:nvSpPr>
        <p:spPr>
          <a:xfrm>
            <a:off x="246888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app.2025-10-15.log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아카이브</a:t>
            </a:r>
            <a:endParaRPr lang="en-US" sz="950" dirty="0"/>
          </a:p>
        </p:txBody>
      </p:sp>
      <p:sp>
        <p:nvSpPr>
          <p:cNvPr id="46" name="Text 18"/>
          <p:cNvSpPr/>
          <p:nvPr/>
        </p:nvSpPr>
        <p:spPr>
          <a:xfrm>
            <a:off x="4498848" y="42976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19"/>
          <p:cNvSpPr/>
          <p:nvPr/>
        </p:nvSpPr>
        <p:spPr>
          <a:xfrm>
            <a:off x="4709160" y="4133088"/>
            <a:ext cx="2011680" cy="777240"/>
          </a:xfrm>
          <a:prstGeom prst="rect">
            <a:avLst/>
          </a:prstGeom>
          <a:solidFill>
            <a:srgbClr val="1B3D6E"/>
          </a:solidFill>
          <a:ln w="12700">
            <a:solidFill>
              <a:srgbClr val="1B3D6E"/>
            </a:solidFill>
            <a:prstDash val="solid"/>
          </a:ln>
        </p:spPr>
      </p:sp>
      <p:sp>
        <p:nvSpPr>
          <p:cNvPr id="48" name="Text 20"/>
          <p:cNvSpPr/>
          <p:nvPr/>
        </p:nvSpPr>
        <p:spPr>
          <a:xfrm>
            <a:off x="470916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app.2025-10-14.log ~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app.2025-09-16.log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보관</a:t>
            </a:r>
            <a:endParaRPr lang="en-US" sz="950" dirty="0"/>
          </a:p>
        </p:txBody>
      </p:sp>
      <p:sp>
        <p:nvSpPr>
          <p:cNvPr id="49" name="Text 21"/>
          <p:cNvSpPr/>
          <p:nvPr/>
        </p:nvSpPr>
        <p:spPr>
          <a:xfrm>
            <a:off x="6739128" y="42976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22"/>
          <p:cNvSpPr/>
          <p:nvPr/>
        </p:nvSpPr>
        <p:spPr>
          <a:xfrm>
            <a:off x="6949440" y="4133088"/>
            <a:ext cx="201168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23"/>
          <p:cNvSpPr/>
          <p:nvPr/>
        </p:nvSpPr>
        <p:spPr>
          <a:xfrm>
            <a:off x="694944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초과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삭제</a:t>
            </a:r>
            <a:endParaRPr lang="en-US" sz="950" dirty="0"/>
          </a:p>
        </p:txBody>
      </p:sp>
      <p:sp>
        <p:nvSpPr>
          <p:cNvPr id="52" name="Text 2"/>
          <p:cNvSpPr/>
          <p:nvPr/>
        </p:nvSpPr>
        <p:spPr>
          <a:xfrm>
            <a:off x="22860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FileAppender — 파일에 저장</a:t>
            </a:r>
            <a:endParaRPr lang="en-US" sz="1300" dirty="0"/>
          </a:p>
        </p:txBody>
      </p:sp>
      <p:sp>
        <p:nvSpPr>
          <p:cNvPr id="53" name="Shape 3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4" name="Text 4"/>
          <p:cNvSpPr/>
          <p:nvPr/>
        </p:nvSpPr>
        <p:spPr>
          <a:xfrm>
            <a:off x="338328" y="10972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logback-spring.xml</a:t>
            </a:r>
            <a:endParaRPr lang="en-US" sz="900" dirty="0"/>
          </a:p>
        </p:txBody>
      </p:sp>
      <p:sp>
        <p:nvSpPr>
          <p:cNvPr id="55" name="Shape 5"/>
          <p:cNvSpPr/>
          <p:nvPr/>
        </p:nvSpPr>
        <p:spPr>
          <a:xfrm>
            <a:off x="228600" y="1353312"/>
            <a:ext cx="4206240" cy="237744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56" name="Text 6"/>
          <p:cNvSpPr/>
          <p:nvPr/>
        </p:nvSpPr>
        <p:spPr>
          <a:xfrm>
            <a:off x="338328" y="1426464"/>
            <a:ext cx="39867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&lt;appender name="FILE"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class="ch.qos.logback.core.FileAppender"&gt;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&lt;file&gt;logs/application.log&lt;/file&gt;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&lt;append&gt;true&lt;/append&gt;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&lt;pattern&gt;%d %-5level %logger %msg%n&lt;/pattern&gt;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&lt;/appender&gt;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&lt;root level="INFO"&gt;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&lt;appender-ref ref="STDOUT"/&gt;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&lt;appender-ref ref="FILE"/&gt;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&lt;/root&gt;  &lt;!-- 콘솔 + 파일 동시 출력 --&gt;</a:t>
            </a:r>
            <a:endParaRPr lang="en-US" sz="850" dirty="0"/>
          </a:p>
        </p:txBody>
      </p:sp>
      <p:sp>
        <p:nvSpPr>
          <p:cNvPr id="57" name="Text 7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RollingFileAppender — 자동 로테이션</a:t>
            </a:r>
            <a:endParaRPr lang="en-US" sz="1300" dirty="0"/>
          </a:p>
        </p:txBody>
      </p:sp>
      <p:sp>
        <p:nvSpPr>
          <p:cNvPr id="58" name="Shape 8"/>
          <p:cNvSpPr/>
          <p:nvPr/>
        </p:nvSpPr>
        <p:spPr>
          <a:xfrm>
            <a:off x="4709160" y="1097280"/>
            <a:ext cx="420624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9" name="Text 9"/>
          <p:cNvSpPr/>
          <p:nvPr/>
        </p:nvSpPr>
        <p:spPr>
          <a:xfrm>
            <a:off x="4818888" y="10972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logback-spring.xml</a:t>
            </a:r>
            <a:endParaRPr lang="en-US" sz="900" dirty="0"/>
          </a:p>
        </p:txBody>
      </p:sp>
      <p:sp>
        <p:nvSpPr>
          <p:cNvPr id="60" name="Shape 10"/>
          <p:cNvSpPr/>
          <p:nvPr/>
        </p:nvSpPr>
        <p:spPr>
          <a:xfrm>
            <a:off x="4709160" y="1353312"/>
            <a:ext cx="4206240" cy="237744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1" name="Text 11"/>
          <p:cNvSpPr/>
          <p:nvPr/>
        </p:nvSpPr>
        <p:spPr>
          <a:xfrm>
            <a:off x="4818888" y="1426464"/>
            <a:ext cx="39867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&lt;appender name="DAILY"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class="ch.qos.logback.core.rolling.RollingFileAppender"&gt;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&lt;file&gt;logs/app.log&lt;/file&gt;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&lt;rollingPolicy class=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"ch.qos.logback.core.rolling.TimeBasedRollingPolicy"&gt;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날짜별 파일 전환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&lt;fileNamePattern&gt;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logs/app.%d{yyyy-MM-dd}.log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&lt;/fileNamePattern&gt;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&lt;!-- 30일치 보관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&lt;maxHistory&gt;30&lt;/maxHistory&gt;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&lt;/rollingPolicy&gt;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&lt;pattern&gt;%d %-5level %logger - %msg%n&lt;/pattern&gt;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&lt;/encoder&gt;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&lt;/appender&gt;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logback-spring.xml 전체 예제</a:t>
            </a:r>
            <a:endParaRPr lang="en-US" sz="2000" dirty="0"/>
          </a:p>
        </p:txBody>
      </p:sp>
      <p:sp>
        <p:nvSpPr>
          <p:cNvPr id="11" name="Shape 4"/>
          <p:cNvSpPr/>
          <p:nvPr/>
        </p:nvSpPr>
        <p:spPr>
          <a:xfrm>
            <a:off x="274320" y="653958"/>
            <a:ext cx="5577840" cy="4321640"/>
          </a:xfrm>
          <a:prstGeom prst="rect">
            <a:avLst/>
          </a:prstGeom>
          <a:solidFill>
            <a:srgbClr val="0D1F30"/>
          </a:solidFill>
          <a:ln w="15240">
            <a:solidFill>
              <a:srgbClr val="00C2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5"/>
          <p:cNvSpPr/>
          <p:nvPr/>
        </p:nvSpPr>
        <p:spPr>
          <a:xfrm>
            <a:off x="274320" y="653958"/>
            <a:ext cx="3608222" cy="25017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365760" y="653958"/>
            <a:ext cx="3516782" cy="250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src/main/resources/logback-spring.xml</a:t>
            </a:r>
            <a:endParaRPr lang="en-US" sz="850" dirty="0"/>
          </a:p>
        </p:txBody>
      </p:sp>
      <p:sp>
        <p:nvSpPr>
          <p:cNvPr id="14" name="Text 7"/>
          <p:cNvSpPr/>
          <p:nvPr/>
        </p:nvSpPr>
        <p:spPr>
          <a:xfrm>
            <a:off x="420624" y="928278"/>
            <a:ext cx="5285232" cy="404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&lt;configuration&gt;
</a:t>
            </a: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Spring Boot 기본값 포함 --&gt;
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&lt;include resource=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"org/springframework/boot/logging/logback/defaults.xml"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
  </a:t>
            </a: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① 콘솔 Appender --&gt;
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&lt;appender </a:t>
            </a:r>
            <a:r>
              <a:rPr lang="en-US" sz="8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8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FFE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ConsoleAppender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
    &lt;encoder&gt;&lt;pattern&gt;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%d{yyyy-MM-dd HH:mm:ss} [%thread] %-5level %logger{36} - %msg%n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&lt;/pattern&gt;&lt;/encoder&gt;
  &lt;/appender&gt;
  </a:t>
            </a: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② 일별 Rolling Appender --&gt;
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&lt;appender </a:t>
            </a:r>
            <a:r>
              <a:rPr lang="en-US" sz="8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DAILY_FILE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8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FFE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RollingFileAppender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
    &lt;file&gt;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logs/app.log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&lt;/file&gt;
    &lt;rollingPolicy class=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"TimeBasedRollingPolicy"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      &lt;fileNamePattern&gt;</a:t>
            </a: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logs/app.%d{yyyy-MM-dd}.log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&lt;/fileNamePattern&gt;
      &lt;maxHistory&gt;</a:t>
            </a:r>
            <a:r>
              <a:rPr lang="en-US" sz="850" dirty="0">
                <a:solidFill>
                  <a:srgbClr val="FDA9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&lt;/maxHistory&gt;
    &lt;/rollingPolicy&gt;
    &lt;encoder&gt;&lt;pattern&gt;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%d{yyyy-MM-dd HH:mm:ss} %-5level %logger{35} – %</a:t>
            </a:r>
            <a:r>
              <a:rPr lang="en-US" sz="85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msg%n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&lt;/pattern&gt;&lt;/encoder&gt;
  &lt;/appender&gt;
  </a:t>
            </a: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③ 특정 패키지: DEBUG, 파일+콘솔 --&gt;
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&lt;logger name="kr.ac.hansung" level="DEBUG" additivity="false"&gt;
    &lt;appender-ref ref="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DAILY_FILE"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    &lt;appender-ref ref="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"/&gt;
  &lt;/logger&gt;
  </a:t>
            </a:r>
            <a:r>
              <a:rPr lang="en-US" sz="850" dirty="0">
                <a:solidFill>
                  <a:srgbClr val="5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④ root: INFO, 콘솔만 --&gt;
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&lt;root level="INFO"&gt;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&lt;appender-ref ref="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&lt;/root&gt;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9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&lt;/configuration&gt;</a:t>
            </a:r>
            <a:endParaRPr lang="en-US" sz="850" dirty="0"/>
          </a:p>
        </p:txBody>
      </p:sp>
      <p:sp>
        <p:nvSpPr>
          <p:cNvPr id="35" name="Shape 6"/>
          <p:cNvSpPr/>
          <p:nvPr/>
        </p:nvSpPr>
        <p:spPr>
          <a:xfrm>
            <a:off x="5943600" y="804672"/>
            <a:ext cx="2971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5943600" y="804672"/>
            <a:ext cx="38404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8"/>
          <p:cNvSpPr/>
          <p:nvPr/>
        </p:nvSpPr>
        <p:spPr>
          <a:xfrm>
            <a:off x="5943600" y="80467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38" name="Text 9"/>
          <p:cNvSpPr/>
          <p:nvPr/>
        </p:nvSpPr>
        <p:spPr>
          <a:xfrm>
            <a:off x="6400800" y="859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defaults.xml 포함</a:t>
            </a:r>
            <a:endParaRPr lang="en-US" sz="1100" dirty="0"/>
          </a:p>
        </p:txBody>
      </p:sp>
      <p:sp>
        <p:nvSpPr>
          <p:cNvPr id="39" name="Text 10"/>
          <p:cNvSpPr/>
          <p:nvPr/>
        </p:nvSpPr>
        <p:spPr>
          <a:xfrm>
            <a:off x="6400800" y="11338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기본 설정 재사용 권장</a:t>
            </a:r>
            <a:endParaRPr lang="en-US" sz="950" dirty="0"/>
          </a:p>
        </p:txBody>
      </p:sp>
      <p:sp>
        <p:nvSpPr>
          <p:cNvPr id="40" name="Shape 11"/>
          <p:cNvSpPr/>
          <p:nvPr/>
        </p:nvSpPr>
        <p:spPr>
          <a:xfrm>
            <a:off x="5943600" y="1609344"/>
            <a:ext cx="2971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12"/>
          <p:cNvSpPr/>
          <p:nvPr/>
        </p:nvSpPr>
        <p:spPr>
          <a:xfrm>
            <a:off x="5943600" y="1609344"/>
            <a:ext cx="38404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13"/>
          <p:cNvSpPr/>
          <p:nvPr/>
        </p:nvSpPr>
        <p:spPr>
          <a:xfrm>
            <a:off x="5943600" y="160934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43" name="Text 14"/>
          <p:cNvSpPr/>
          <p:nvPr/>
        </p:nvSpPr>
        <p:spPr>
          <a:xfrm>
            <a:off x="6400800" y="1664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Appender</a:t>
            </a:r>
            <a:endParaRPr lang="en-US" sz="1100" dirty="0"/>
          </a:p>
        </p:txBody>
      </p:sp>
      <p:sp>
        <p:nvSpPr>
          <p:cNvPr id="44" name="Text 15"/>
          <p:cNvSpPr/>
          <p:nvPr/>
        </p:nvSpPr>
        <p:spPr>
          <a:xfrm>
            <a:off x="6400800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환경에서 사용</a:t>
            </a:r>
            <a:endParaRPr lang="en-US" sz="950" dirty="0"/>
          </a:p>
        </p:txBody>
      </p:sp>
      <p:sp>
        <p:nvSpPr>
          <p:cNvPr id="45" name="Shape 16"/>
          <p:cNvSpPr/>
          <p:nvPr/>
        </p:nvSpPr>
        <p:spPr>
          <a:xfrm>
            <a:off x="5943600" y="2414016"/>
            <a:ext cx="2971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17"/>
          <p:cNvSpPr/>
          <p:nvPr/>
        </p:nvSpPr>
        <p:spPr>
          <a:xfrm>
            <a:off x="5943600" y="2414016"/>
            <a:ext cx="38404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18"/>
          <p:cNvSpPr/>
          <p:nvPr/>
        </p:nvSpPr>
        <p:spPr>
          <a:xfrm>
            <a:off x="5943600" y="241401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48" name="Text 19"/>
          <p:cNvSpPr/>
          <p:nvPr/>
        </p:nvSpPr>
        <p:spPr>
          <a:xfrm>
            <a:off x="6400800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RollingFileAppender</a:t>
            </a:r>
            <a:endParaRPr lang="en-US" sz="1100" dirty="0"/>
          </a:p>
        </p:txBody>
      </p:sp>
      <p:sp>
        <p:nvSpPr>
          <p:cNvPr id="49" name="Text 20"/>
          <p:cNvSpPr/>
          <p:nvPr/>
        </p:nvSpPr>
        <p:spPr>
          <a:xfrm>
            <a:off x="640080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파일 분리, 30일 보관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사용</a:t>
            </a:r>
            <a:endParaRPr lang="en-US" sz="950" dirty="0"/>
          </a:p>
        </p:txBody>
      </p:sp>
      <p:sp>
        <p:nvSpPr>
          <p:cNvPr id="50" name="Shape 21"/>
          <p:cNvSpPr/>
          <p:nvPr/>
        </p:nvSpPr>
        <p:spPr>
          <a:xfrm>
            <a:off x="5943600" y="3218688"/>
            <a:ext cx="2971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22"/>
          <p:cNvSpPr/>
          <p:nvPr/>
        </p:nvSpPr>
        <p:spPr>
          <a:xfrm>
            <a:off x="5943600" y="3218688"/>
            <a:ext cx="38404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23"/>
          <p:cNvSpPr/>
          <p:nvPr/>
        </p:nvSpPr>
        <p:spPr>
          <a:xfrm>
            <a:off x="5943600" y="321868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53" name="Text 24"/>
          <p:cNvSpPr/>
          <p:nvPr/>
        </p:nvSpPr>
        <p:spPr>
          <a:xfrm>
            <a:off x="6400800" y="3273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패키지별 DEBUG</a:t>
            </a:r>
            <a:endParaRPr lang="en-US" sz="1100" dirty="0"/>
          </a:p>
        </p:txBody>
      </p:sp>
      <p:sp>
        <p:nvSpPr>
          <p:cNvPr id="54" name="Text 25"/>
          <p:cNvSpPr/>
          <p:nvPr/>
        </p:nvSpPr>
        <p:spPr>
          <a:xfrm>
            <a:off x="6400800" y="3547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additivity=false로 중복 로그 방지</a:t>
            </a:r>
            <a:endParaRPr lang="en-US" sz="950" dirty="0"/>
          </a:p>
        </p:txBody>
      </p:sp>
      <p:sp>
        <p:nvSpPr>
          <p:cNvPr id="55" name="Shape 26"/>
          <p:cNvSpPr/>
          <p:nvPr/>
        </p:nvSpPr>
        <p:spPr>
          <a:xfrm>
            <a:off x="5943600" y="4023360"/>
            <a:ext cx="2971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27"/>
          <p:cNvSpPr/>
          <p:nvPr/>
        </p:nvSpPr>
        <p:spPr>
          <a:xfrm>
            <a:off x="5943600" y="4023360"/>
            <a:ext cx="38404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28"/>
          <p:cNvSpPr/>
          <p:nvPr/>
        </p:nvSpPr>
        <p:spPr>
          <a:xfrm>
            <a:off x="5943600" y="4023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58" name="Text 29"/>
          <p:cNvSpPr/>
          <p:nvPr/>
        </p:nvSpPr>
        <p:spPr>
          <a:xfrm>
            <a:off x="6400800" y="40782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root는 INFO</a:t>
            </a:r>
            <a:endParaRPr lang="en-US" sz="1100" dirty="0"/>
          </a:p>
        </p:txBody>
      </p:sp>
      <p:sp>
        <p:nvSpPr>
          <p:cNvPr id="59" name="Text 30"/>
          <p:cNvSpPr/>
          <p:nvPr/>
        </p:nvSpPr>
        <p:spPr>
          <a:xfrm>
            <a:off x="6400800" y="43525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기본 레벨 담당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Profile 기반 로깅 설정  (logback-spring.xml 전용)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&lt;springProfile&gt; 태그를 사용하면 개발/운영 환경에 따라 다른 로깅 </a:t>
            </a:r>
            <a:r>
              <a:rPr lang="en-US" sz="11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설정을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1981" y="1097280"/>
            <a:ext cx="5770179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97280"/>
            <a:ext cx="540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src/main/resources/logback-spring.xml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981" y="1353312"/>
            <a:ext cx="5770179" cy="372160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81" y="1426464"/>
            <a:ext cx="5751891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&lt;configuration&gt;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① 개발 환경 (dev): 콘솔에 DEBUG 레벨로 상세 출력 --&gt;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&lt;springProfile name="dev"&gt;</a:t>
            </a:r>
            <a:endParaRPr lang="en-US" sz="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&lt;appender name="CONSOLE"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class="ch.qos.logback.core.ConsoleAppender"&gt;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&lt;encoder&gt;&lt;pattern&gt;%d{HH:mm:ss.SSS} [%thread] %-5level %logger{36} - %msg%n&lt;/pattern&gt;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&lt;/encoder&gt;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</a:t>
            </a:r>
            <a:r>
              <a:rPr lang="en-US" sz="8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appender</a:t>
            </a: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&lt;root level="DEBUG"&gt;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&lt;appender-ref ref="CONSOLE"/&gt;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&lt;/root&gt;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&lt;/springProfile&gt;</a:t>
            </a:r>
            <a:endParaRPr lang="en-US" sz="8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② 운영 환경 (prod): 파일에 INFO 레벨로 롤링 출력 --&gt;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&lt;springProfile name="prod"&gt;</a:t>
            </a:r>
            <a:endParaRPr lang="en-US" sz="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&lt;appender name="DAILY_FILE"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class="ch.qos.logback.core.rolling.RollingFileAppender"&gt;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&lt;file&gt;logs/app.log&lt;/file&gt;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&lt;rollingPolicy class="ch.qos.logback.core.rolling.TimeBasedRollingPolicy"&gt;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&lt;fileNamePattern&gt;logs/app.%d{yyyy-MM-dd}.log&lt;/fileNamePattern&gt;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&lt;maxHistory&gt;90&lt;/maxHistory&gt;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&lt;/rollingPolicy&gt;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&lt;encoder&gt; &lt;pattern&gt;%d{yyyy-MM-dd HH:mm:ss} %-5level %logger - %msg%n&lt;/pattern&gt;&lt;/encoder&gt;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</a:t>
            </a:r>
            <a:r>
              <a:rPr lang="en-US" sz="8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appender</a:t>
            </a: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&lt;root level="INFO"&gt;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&lt;appender-ref ref="DAILY_FILE"/&gt;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&lt;/root&gt;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800" dirty="0" err="1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springProfile</a:t>
            </a:r>
            <a:r>
              <a:rPr lang="en-US" sz="8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&lt;/configuration&gt;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971800" cy="3977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612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활성화 방법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53896"/>
            <a:ext cx="27889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361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971800" cy="38404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85623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spring.profiles.active=dev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0" y="22677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2971800" cy="68580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587752"/>
            <a:ext cx="2752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active: prod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0" y="33101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실행 옵션: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566160"/>
            <a:ext cx="2971800" cy="38404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363931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-Dspring.profiles.active=prod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4069080"/>
            <a:ext cx="29718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요약
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DEBUG, 콘솔 출력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 INFO, 파일 롤링 출력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코드 변경 없이 환경별 로깅 전략 분리 가능!</a:t>
            </a:r>
            <a:endParaRPr lang="en-US" sz="1000" dirty="0"/>
          </a:p>
        </p:txBody>
      </p:sp>
      <p:sp>
        <p:nvSpPr>
          <p:cNvPr id="2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25" name="Text 1"/>
          <p:cNvSpPr/>
          <p:nvPr/>
        </p:nvSpPr>
        <p:spPr>
          <a:xfrm>
            <a:off x="228600" y="-32003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Profile 기반 로깅 설정  (logback-spring.xml 전용)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3238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Spring Boot Logging 설정 — 전체 요약</a:t>
            </a:r>
            <a:endParaRPr lang="en-US" sz="2000" dirty="0"/>
          </a:p>
        </p:txBody>
      </p:sp>
      <p:sp>
        <p:nvSpPr>
          <p:cNvPr id="13" name="Text 4"/>
          <p:cNvSpPr/>
          <p:nvPr/>
        </p:nvSpPr>
        <p:spPr>
          <a:xfrm>
            <a:off x="347472" y="73152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설정은 application.properties 로 충분!  세밀한 제어가 필요할 때만 logback-spring.xml 사용</a:t>
            </a:r>
            <a:endParaRPr lang="en-US" sz="1200" dirty="0"/>
          </a:p>
        </p:txBody>
      </p:sp>
      <p:sp>
        <p:nvSpPr>
          <p:cNvPr id="18" name="Shape 9"/>
          <p:cNvSpPr/>
          <p:nvPr/>
        </p:nvSpPr>
        <p:spPr>
          <a:xfrm>
            <a:off x="5522976" y="1161600"/>
            <a:ext cx="3273552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0"/>
          <p:cNvSpPr/>
          <p:nvPr/>
        </p:nvSpPr>
        <p:spPr>
          <a:xfrm>
            <a:off x="5650992" y="1234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레벨 제어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650992" y="15456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logging.level.root — 전체 기본 레벨</a:t>
            </a:r>
            <a:endParaRPr lang="en-US" sz="880" dirty="0"/>
          </a:p>
        </p:txBody>
      </p:sp>
      <p:sp>
        <p:nvSpPr>
          <p:cNvPr id="21" name="Text 12"/>
          <p:cNvSpPr/>
          <p:nvPr/>
        </p:nvSpPr>
        <p:spPr>
          <a:xfrm>
            <a:off x="5650992" y="17764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logging.level.{패키지} — 패키지별 지정</a:t>
            </a:r>
            <a:endParaRPr lang="en-US" sz="880" dirty="0"/>
          </a:p>
        </p:txBody>
      </p:sp>
      <p:sp>
        <p:nvSpPr>
          <p:cNvPr id="22" name="Text 13"/>
          <p:cNvSpPr/>
          <p:nvPr/>
        </p:nvSpPr>
        <p:spPr>
          <a:xfrm>
            <a:off x="5650992" y="20072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org.springframework=WARN 으로 내부 로그 억제</a:t>
            </a:r>
            <a:endParaRPr lang="en-US" sz="880" dirty="0"/>
          </a:p>
        </p:txBody>
      </p:sp>
      <p:sp>
        <p:nvSpPr>
          <p:cNvPr id="23" name="Shape 14"/>
          <p:cNvSpPr/>
          <p:nvPr/>
        </p:nvSpPr>
        <p:spPr>
          <a:xfrm>
            <a:off x="5522976" y="2439870"/>
            <a:ext cx="3273552" cy="11357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5650992" y="251302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파일 출력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5650992" y="282391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logging.file.name — 로그 파일 경로 지정</a:t>
            </a:r>
            <a:endParaRPr lang="en-US" sz="880" dirty="0"/>
          </a:p>
        </p:txBody>
      </p:sp>
      <p:sp>
        <p:nvSpPr>
          <p:cNvPr id="26" name="Text 17"/>
          <p:cNvSpPr/>
          <p:nvPr/>
        </p:nvSpPr>
        <p:spPr>
          <a:xfrm>
            <a:off x="5650992" y="305472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max-file-size — 파일 최대 크기 (기본 10MB)</a:t>
            </a:r>
            <a:endParaRPr lang="en-US" sz="880" dirty="0"/>
          </a:p>
        </p:txBody>
      </p:sp>
      <p:sp>
        <p:nvSpPr>
          <p:cNvPr id="27" name="Text 18"/>
          <p:cNvSpPr/>
          <p:nvPr/>
        </p:nvSpPr>
        <p:spPr>
          <a:xfrm>
            <a:off x="5650992" y="328553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max-history — 보관 기간(일) 기본 7일</a:t>
            </a:r>
            <a:endParaRPr lang="en-US" sz="880" dirty="0"/>
          </a:p>
        </p:txBody>
      </p:sp>
      <p:sp>
        <p:nvSpPr>
          <p:cNvPr id="28" name="Shape 19"/>
          <p:cNvSpPr/>
          <p:nvPr/>
        </p:nvSpPr>
        <p:spPr>
          <a:xfrm>
            <a:off x="5522976" y="3655080"/>
            <a:ext cx="3273552" cy="110925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2032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5650992" y="3703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패턴 / ④ DEBUG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650992" y="40139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logging.pattern.console — 콘솔 출력 형식</a:t>
            </a:r>
            <a:endParaRPr lang="en-US" sz="880" dirty="0"/>
          </a:p>
        </p:txBody>
      </p:sp>
      <p:sp>
        <p:nvSpPr>
          <p:cNvPr id="31" name="Text 22"/>
          <p:cNvSpPr/>
          <p:nvPr/>
        </p:nvSpPr>
        <p:spPr>
          <a:xfrm>
            <a:off x="5650992" y="42447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logging.pattern.file — 파일 출력 형식</a:t>
            </a:r>
            <a:endParaRPr lang="en-US" sz="880" dirty="0"/>
          </a:p>
        </p:txBody>
      </p:sp>
      <p:sp>
        <p:nvSpPr>
          <p:cNvPr id="35" name="Shape 5"/>
          <p:cNvSpPr/>
          <p:nvPr/>
        </p:nvSpPr>
        <p:spPr>
          <a:xfrm>
            <a:off x="228600" y="1168518"/>
            <a:ext cx="530352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6" name="Text 6"/>
          <p:cNvSpPr/>
          <p:nvPr/>
        </p:nvSpPr>
        <p:spPr>
          <a:xfrm>
            <a:off x="338328" y="116851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application.properties</a:t>
            </a:r>
            <a:endParaRPr lang="en-US" sz="900" dirty="0"/>
          </a:p>
        </p:txBody>
      </p:sp>
      <p:sp>
        <p:nvSpPr>
          <p:cNvPr id="37" name="Shape 7"/>
          <p:cNvSpPr/>
          <p:nvPr/>
        </p:nvSpPr>
        <p:spPr>
          <a:xfrm>
            <a:off x="228600" y="1424550"/>
            <a:ext cx="5303520" cy="3339786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38" name="Text 8"/>
          <p:cNvSpPr/>
          <p:nvPr/>
        </p:nvSpPr>
        <p:spPr>
          <a:xfrm>
            <a:off x="338328" y="1497702"/>
            <a:ext cx="508406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로그 레벨 설정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logging.level.root=INFO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logging.level.kr.ac.hansung=DEBUG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logging.level.org.springframework=WARN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logging.level.org.hibernate.SQL=WARN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파일 출력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logging.file.name=logs/app.log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logging.logback.rollingpolicy.max-file-size=10MB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logging.logback.rollingpolicy.max-history=30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콘솔/파일 출력 패턴 변경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logging.pattern.console=%d{HH:mm:ss} %-5level %logger{36} - %msg%n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logging.pattern.file=%d{yyyy-MM-dd HH:mm:ss} %-5level %logger - %msg%n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MDC (Mapped Diagnostic Context)</a:t>
            </a:r>
          </a:p>
        </p:txBody>
      </p:sp>
      <p:sp>
        <p:nvSpPr>
          <p:cNvPr id="55" name="Text 4"/>
          <p:cNvSpPr/>
          <p:nvPr/>
        </p:nvSpPr>
        <p:spPr>
          <a:xfrm>
            <a:off x="228600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MDC가 필요한 이유?  사용자가 1,000명 동시 접속 시 로그가 아래처럼 뒤섞입니다:</a:t>
            </a:r>
            <a:endParaRPr lang="en-US" sz="1150" dirty="0"/>
          </a:p>
        </p:txBody>
      </p:sp>
      <p:sp>
        <p:nvSpPr>
          <p:cNvPr id="56" name="Shape 5"/>
          <p:cNvSpPr/>
          <p:nvPr/>
        </p:nvSpPr>
        <p:spPr>
          <a:xfrm>
            <a:off x="228600" y="1078992"/>
            <a:ext cx="4160520" cy="256032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57" name="Shape 6"/>
          <p:cNvSpPr/>
          <p:nvPr/>
        </p:nvSpPr>
        <p:spPr>
          <a:xfrm>
            <a:off x="228600" y="1078992"/>
            <a:ext cx="4160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7"/>
          <p:cNvSpPr/>
          <p:nvPr/>
        </p:nvSpPr>
        <p:spPr>
          <a:xfrm>
            <a:off x="320040" y="1078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문제: 뒤섞인 로그</a:t>
            </a:r>
            <a:endParaRPr lang="en-US" sz="1200" dirty="0"/>
          </a:p>
        </p:txBody>
      </p:sp>
      <p:sp>
        <p:nvSpPr>
          <p:cNvPr id="59" name="Shape 8"/>
          <p:cNvSpPr/>
          <p:nvPr/>
        </p:nvSpPr>
        <p:spPr>
          <a:xfrm>
            <a:off x="274320" y="1463040"/>
            <a:ext cx="4023360" cy="2084832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0" name="Text 9"/>
          <p:cNvSpPr/>
          <p:nvPr/>
        </p:nvSpPr>
        <p:spPr>
          <a:xfrm>
            <a:off x="384048" y="1536192"/>
            <a:ext cx="38039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사용자 A가 로그인 요청을 보냄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사용자 B가 상품 조회 요청을 보냄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에러 발생! NullPointerException!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사용자 A의 요청 처리 완료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에러는 A 때문인가요, B 때문인가요?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스레드가 뒤섞여 추적 불가능!</a:t>
            </a:r>
            <a:endParaRPr lang="en-US" sz="900" dirty="0"/>
          </a:p>
        </p:txBody>
      </p:sp>
      <p:sp>
        <p:nvSpPr>
          <p:cNvPr id="61" name="Shape 10"/>
          <p:cNvSpPr/>
          <p:nvPr/>
        </p:nvSpPr>
        <p:spPr>
          <a:xfrm>
            <a:off x="4663440" y="1078992"/>
            <a:ext cx="4251960" cy="256032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62" name="Shape 11"/>
          <p:cNvSpPr/>
          <p:nvPr/>
        </p:nvSpPr>
        <p:spPr>
          <a:xfrm>
            <a:off x="4663440" y="1078992"/>
            <a:ext cx="4251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12"/>
          <p:cNvSpPr/>
          <p:nvPr/>
        </p:nvSpPr>
        <p:spPr>
          <a:xfrm>
            <a:off x="4754880" y="10789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MDC (Mapped Diagnostic Context)</a:t>
            </a:r>
            <a:endParaRPr lang="en-US" sz="1100" dirty="0"/>
          </a:p>
        </p:txBody>
      </p:sp>
      <p:sp>
        <p:nvSpPr>
          <p:cNvPr id="64" name="Text 13"/>
          <p:cNvSpPr/>
          <p:nvPr/>
        </p:nvSpPr>
        <p:spPr>
          <a:xfrm>
            <a:off x="4754880" y="14813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추적 및 진단을 위해 현재 요청의 환경 정보를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쌍으로 저장하는 스레드 로컬 공간</a:t>
            </a:r>
            <a:endParaRPr lang="en-US" sz="1050" dirty="0"/>
          </a:p>
        </p:txBody>
      </p:sp>
      <p:sp>
        <p:nvSpPr>
          <p:cNvPr id="65" name="Shape 14"/>
          <p:cNvSpPr/>
          <p:nvPr/>
        </p:nvSpPr>
        <p:spPr>
          <a:xfrm>
            <a:off x="4709160" y="1993392"/>
            <a:ext cx="4114800" cy="65836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6" name="Text 15"/>
          <p:cNvSpPr/>
          <p:nvPr/>
        </p:nvSpPr>
        <p:spPr>
          <a:xfrm>
            <a:off x="4818888" y="2066544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MDC에 저장된 정보 예시: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"requestId"  -&gt;  "a1b2c3d4"  (요청 UUID)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"userId"     -&gt;  "user123"   (로그인 사용자)</a:t>
            </a:r>
            <a:endParaRPr lang="en-US" sz="900" dirty="0"/>
          </a:p>
        </p:txBody>
      </p:sp>
      <p:sp>
        <p:nvSpPr>
          <p:cNvPr id="67" name="Text 16"/>
          <p:cNvSpPr/>
          <p:nvPr/>
        </p:nvSpPr>
        <p:spPr>
          <a:xfrm>
            <a:off x="4754880" y="2697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패턴에 %X{requestId}를 포함하면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모든 로그에 해당 값이 자동 출력됨</a:t>
            </a:r>
            <a:endParaRPr lang="en-US" sz="1050" dirty="0"/>
          </a:p>
        </p:txBody>
      </p:sp>
      <p:sp>
        <p:nvSpPr>
          <p:cNvPr id="68" name="Shape 17"/>
          <p:cNvSpPr/>
          <p:nvPr/>
        </p:nvSpPr>
        <p:spPr>
          <a:xfrm>
            <a:off x="228600" y="3749040"/>
            <a:ext cx="868680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69" name="Shape 18"/>
          <p:cNvSpPr/>
          <p:nvPr/>
        </p:nvSpPr>
        <p:spPr>
          <a:xfrm>
            <a:off x="228600" y="3749040"/>
            <a:ext cx="8686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19"/>
          <p:cNvSpPr/>
          <p:nvPr/>
        </p:nvSpPr>
        <p:spPr>
          <a:xfrm>
            <a:off x="320040" y="37490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해결: requestId로 요청 흐름 추적</a:t>
            </a:r>
            <a:endParaRPr lang="en-US" sz="1200" dirty="0"/>
          </a:p>
        </p:txBody>
      </p:sp>
      <p:sp>
        <p:nvSpPr>
          <p:cNvPr id="71" name="Shape 20"/>
          <p:cNvSpPr/>
          <p:nvPr/>
        </p:nvSpPr>
        <p:spPr>
          <a:xfrm>
            <a:off x="274320" y="4133088"/>
            <a:ext cx="8595360" cy="91440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72" name="Text 21"/>
          <p:cNvSpPr/>
          <p:nvPr/>
        </p:nvSpPr>
        <p:spPr>
          <a:xfrm>
            <a:off x="384048" y="4206240"/>
            <a:ext cx="8375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[a1b2c3d4] [user123] 로그인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[f9e8d7c6] [user456] 상품 조회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[f9e8d7c6] [user456] 에러! NullPointerException  ← f9e8d7c6로 필터링하면 user456의 전체 요청 흐름 추적 가능!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[로그] [a1b2c3d4] [user123] 처리 완료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34710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 —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altLang="ko-KR" sz="2000" dirty="0"/>
          </a:p>
        </p:txBody>
      </p:sp>
      <p:sp>
        <p:nvSpPr>
          <p:cNvPr id="32" name="Shape 2"/>
          <p:cNvSpPr/>
          <p:nvPr/>
        </p:nvSpPr>
        <p:spPr>
          <a:xfrm>
            <a:off x="228600" y="804672"/>
            <a:ext cx="379476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5" name="Text 3"/>
          <p:cNvSpPr/>
          <p:nvPr/>
        </p:nvSpPr>
        <p:spPr>
          <a:xfrm>
            <a:off x="338328" y="804672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RequestFilter.java</a:t>
            </a:r>
            <a:endParaRPr lang="en-US" sz="900" dirty="0"/>
          </a:p>
        </p:txBody>
      </p:sp>
      <p:sp>
        <p:nvSpPr>
          <p:cNvPr id="56" name="Shape 4"/>
          <p:cNvSpPr/>
          <p:nvPr/>
        </p:nvSpPr>
        <p:spPr>
          <a:xfrm>
            <a:off x="228600" y="1060704"/>
            <a:ext cx="3794760" cy="3657600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57" name="Text 5"/>
          <p:cNvSpPr/>
          <p:nvPr/>
        </p:nvSpPr>
        <p:spPr>
          <a:xfrm>
            <a:off x="338328" y="1133856"/>
            <a:ext cx="35753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org.slf4j.MDC;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RequestFilter implements Filter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doFilter(ServletRequest req,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ServletResponse res, FilterChain chain)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throws IOException, ServletException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reqId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UUID.randomUUID().toString().substring(0, 8);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MDC.put("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requestId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reqId);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MDC.put("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getCurrentUserId());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chain.doFilter(req, res);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MDC.clear(); // ★ 반드시 호출! (메모리 누수 방지)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8" name="Shape 6"/>
          <p:cNvSpPr/>
          <p:nvPr/>
        </p:nvSpPr>
        <p:spPr>
          <a:xfrm>
            <a:off x="4160520" y="804672"/>
            <a:ext cx="475488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9" name="Text 7"/>
          <p:cNvSpPr/>
          <p:nvPr/>
        </p:nvSpPr>
        <p:spPr>
          <a:xfrm>
            <a:off x="4270248" y="80467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logback-spring.xml 패턴</a:t>
            </a:r>
            <a:endParaRPr lang="en-US" sz="900" dirty="0"/>
          </a:p>
        </p:txBody>
      </p:sp>
      <p:sp>
        <p:nvSpPr>
          <p:cNvPr id="60" name="Shape 8"/>
          <p:cNvSpPr/>
          <p:nvPr/>
        </p:nvSpPr>
        <p:spPr>
          <a:xfrm>
            <a:off x="4160520" y="1060704"/>
            <a:ext cx="4754880" cy="97840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1" name="Text 9"/>
          <p:cNvSpPr/>
          <p:nvPr/>
        </p:nvSpPr>
        <p:spPr>
          <a:xfrm>
            <a:off x="4270248" y="1133856"/>
            <a:ext cx="45354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&lt;pattern&gt;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%X{requestId}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[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%X{</a:t>
            </a:r>
            <a:r>
              <a:rPr lang="en-US" sz="850" dirty="0" err="1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%-5level %logger{20} - %msg%n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&lt;/pattern&gt;</a:t>
            </a:r>
            <a:endParaRPr lang="en-US" sz="850" dirty="0"/>
          </a:p>
        </p:txBody>
      </p:sp>
      <p:sp>
        <p:nvSpPr>
          <p:cNvPr id="62" name="Shape 10"/>
          <p:cNvSpPr/>
          <p:nvPr/>
        </p:nvSpPr>
        <p:spPr>
          <a:xfrm>
            <a:off x="4160520" y="2084832"/>
            <a:ext cx="475488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3" name="Text 11"/>
          <p:cNvSpPr/>
          <p:nvPr/>
        </p:nvSpPr>
        <p:spPr>
          <a:xfrm>
            <a:off x="4270248" y="20848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결과</a:t>
            </a:r>
            <a:endParaRPr lang="en-US" sz="900" dirty="0"/>
          </a:p>
        </p:txBody>
      </p:sp>
      <p:sp>
        <p:nvSpPr>
          <p:cNvPr id="64" name="Shape 12"/>
          <p:cNvSpPr/>
          <p:nvPr/>
        </p:nvSpPr>
        <p:spPr>
          <a:xfrm>
            <a:off x="4160520" y="2340864"/>
            <a:ext cx="4754880" cy="70408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65" name="Text 13"/>
          <p:cNvSpPr/>
          <p:nvPr/>
        </p:nvSpPr>
        <p:spPr>
          <a:xfrm>
            <a:off x="4270248" y="2414016"/>
            <a:ext cx="45354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[a1b2c3d4] [user123]  INFO UserSvc - Login OK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[a1b2c3d4] [user123] DEBUG UserSvc - Loading prefs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[a1b2c3d4] [user123]  INFO OrderSvc - Cart fetched</a:t>
            </a:r>
            <a:endParaRPr lang="en-US" sz="850" dirty="0"/>
          </a:p>
        </p:txBody>
      </p:sp>
      <p:sp>
        <p:nvSpPr>
          <p:cNvPr id="66" name="Text 14"/>
          <p:cNvSpPr/>
          <p:nvPr/>
        </p:nvSpPr>
        <p:spPr>
          <a:xfrm>
            <a:off x="4160520" y="3104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 API 정리</a:t>
            </a:r>
            <a:endParaRPr lang="en-US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42861"/>
              </p:ext>
            </p:extLst>
          </p:nvPr>
        </p:nvGraphicFramePr>
        <p:xfrm>
          <a:off x="4160520" y="3378552"/>
          <a:ext cx="4754880" cy="1371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MDC.put(key, val)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스레드 컨텍스트에 값 저장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MDC.get(key)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저장된 값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MDC.remove(key)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키 제거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MDC.clear()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MDC 데이터 제거 (반드시 finally 블록에서 호출!)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Shape 15"/>
          <p:cNvSpPr/>
          <p:nvPr/>
        </p:nvSpPr>
        <p:spPr>
          <a:xfrm>
            <a:off x="228600" y="4787988"/>
            <a:ext cx="8686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9" name="Text 16"/>
          <p:cNvSpPr/>
          <p:nvPr/>
        </p:nvSpPr>
        <p:spPr>
          <a:xfrm>
            <a:off x="320040" y="47879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RequestFilter가 requestId·userId를 MDC에 저장  ② 해당 요청의 모든 로그에 MDC 값 자동 포함  </a:t>
            </a:r>
            <a:r>
              <a:rPr lang="en-US" sz="9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finally에서 MDC.clear() 호출 필수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24713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altLang="ko-KR" sz="2000" dirty="0"/>
          </a:p>
        </p:txBody>
      </p:sp>
      <p:sp>
        <p:nvSpPr>
          <p:cNvPr id="74" name="Text 2"/>
          <p:cNvSpPr/>
          <p:nvPr/>
        </p:nvSpPr>
        <p:spPr>
          <a:xfrm>
            <a:off x="228600" y="804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@Slf4j (Lombok) — 권장 방식</a:t>
            </a:r>
            <a:endParaRPr lang="en-US" sz="1300" dirty="0"/>
          </a:p>
        </p:txBody>
      </p:sp>
      <p:sp>
        <p:nvSpPr>
          <p:cNvPr id="75" name="Shape 3"/>
          <p:cNvSpPr/>
          <p:nvPr/>
        </p:nvSpPr>
        <p:spPr>
          <a:xfrm>
            <a:off x="228600" y="1078992"/>
            <a:ext cx="512064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6" name="Text 4"/>
          <p:cNvSpPr/>
          <p:nvPr/>
        </p:nvSpPr>
        <p:spPr>
          <a:xfrm>
            <a:off x="338328" y="107899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UserService.java</a:t>
            </a:r>
            <a:endParaRPr lang="en-US" sz="900" dirty="0"/>
          </a:p>
        </p:txBody>
      </p:sp>
      <p:sp>
        <p:nvSpPr>
          <p:cNvPr id="77" name="Shape 5"/>
          <p:cNvSpPr/>
          <p:nvPr/>
        </p:nvSpPr>
        <p:spPr>
          <a:xfrm>
            <a:off x="228600" y="1335024"/>
            <a:ext cx="5120640" cy="2807208"/>
          </a:xfrm>
          <a:prstGeom prst="rect">
            <a:avLst/>
          </a:prstGeom>
          <a:solidFill>
            <a:srgbClr val="1C1C2B"/>
          </a:solidFill>
          <a:ln w="12700">
            <a:solidFill>
              <a:srgbClr val="2D2D3D"/>
            </a:solidFill>
            <a:prstDash val="solid"/>
          </a:ln>
        </p:spPr>
      </p:sp>
      <p:sp>
        <p:nvSpPr>
          <p:cNvPr id="78" name="Text 6"/>
          <p:cNvSpPr/>
          <p:nvPr/>
        </p:nvSpPr>
        <p:spPr>
          <a:xfrm>
            <a:off x="338328" y="1408176"/>
            <a:ext cx="4901184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기존 방식: 매 클래스마다 반복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Logger log =</a:t>
            </a:r>
            <a:endParaRPr lang="en-US" sz="85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LoggerFactory.getLogger(</a:t>
            </a:r>
            <a:r>
              <a:rPr lang="en-US" sz="850" dirty="0" err="1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MyService.class</a:t>
            </a:r>
            <a:r>
              <a:rPr lang="en-US" sz="8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pPr marL="0" indent="0">
              <a:buNone/>
            </a:pPr>
            <a:endParaRPr lang="en-US" sz="85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85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Lombok @Slf4j: 자동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@Slf4j</a:t>
            </a:r>
            <a:endParaRPr lang="en-US" sz="85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UserService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User findById(Long id)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{} 플레이스홀더 사용 (문자열 연결 금지)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log.debug("Finding user: </a:t>
            </a:r>
            <a:r>
              <a:rPr lang="en-US" sz="85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id);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log.info("Found user: </a:t>
            </a:r>
            <a:r>
              <a:rPr lang="en-US" sz="85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user);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log.warn("User inactive: </a:t>
            </a:r>
            <a:r>
              <a:rPr lang="en-US" sz="85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id);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1" name="Text 9"/>
          <p:cNvSpPr/>
          <p:nvPr/>
        </p:nvSpPr>
        <p:spPr>
          <a:xfrm>
            <a:off x="5532120" y="804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모범 사례</a:t>
            </a:r>
            <a:endParaRPr lang="en-US" sz="1300" dirty="0"/>
          </a:p>
        </p:txBody>
      </p:sp>
      <p:sp>
        <p:nvSpPr>
          <p:cNvPr id="82" name="Shape 10"/>
          <p:cNvSpPr/>
          <p:nvPr/>
        </p:nvSpPr>
        <p:spPr>
          <a:xfrm>
            <a:off x="5532120" y="1097280"/>
            <a:ext cx="3383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11"/>
          <p:cNvSpPr/>
          <p:nvPr/>
        </p:nvSpPr>
        <p:spPr>
          <a:xfrm>
            <a:off x="5577840" y="1188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4" name="Text 12"/>
          <p:cNvSpPr/>
          <p:nvPr/>
        </p:nvSpPr>
        <p:spPr>
          <a:xfrm>
            <a:off x="6035040" y="1152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레벨 선택</a:t>
            </a:r>
            <a:endParaRPr lang="en-US" sz="1200" dirty="0"/>
          </a:p>
        </p:txBody>
      </p:sp>
      <p:sp>
        <p:nvSpPr>
          <p:cNvPr id="85" name="Text 13"/>
          <p:cNvSpPr/>
          <p:nvPr/>
        </p:nvSpPr>
        <p:spPr>
          <a:xfrm>
            <a:off x="6035040" y="1426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이벤트→INFO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디버깅→DEBUG, 예외→ERROR</a:t>
            </a:r>
            <a:endParaRPr lang="en-US" sz="1000" dirty="0"/>
          </a:p>
        </p:txBody>
      </p:sp>
      <p:sp>
        <p:nvSpPr>
          <p:cNvPr id="86" name="Shape 14"/>
          <p:cNvSpPr/>
          <p:nvPr/>
        </p:nvSpPr>
        <p:spPr>
          <a:xfrm>
            <a:off x="5532120" y="1874520"/>
            <a:ext cx="3383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15"/>
          <p:cNvSpPr/>
          <p:nvPr/>
        </p:nvSpPr>
        <p:spPr>
          <a:xfrm>
            <a:off x="5577840" y="1965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8" name="Text 16"/>
          <p:cNvSpPr/>
          <p:nvPr/>
        </p:nvSpPr>
        <p:spPr>
          <a:xfrm>
            <a:off x="6035040" y="1929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플레이스홀더 사용</a:t>
            </a:r>
            <a:endParaRPr lang="en-US" sz="1200" dirty="0"/>
          </a:p>
        </p:txBody>
      </p:sp>
      <p:sp>
        <p:nvSpPr>
          <p:cNvPr id="89" name="Text 17"/>
          <p:cNvSpPr/>
          <p:nvPr/>
        </p:nvSpPr>
        <p:spPr>
          <a:xfrm>
            <a:off x="603504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log.debug("val={}", obj)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레벨 OFF시 연산 생략 (성능)</a:t>
            </a:r>
            <a:endParaRPr lang="en-US" sz="1000" dirty="0"/>
          </a:p>
        </p:txBody>
      </p:sp>
      <p:sp>
        <p:nvSpPr>
          <p:cNvPr id="90" name="Shape 18"/>
          <p:cNvSpPr/>
          <p:nvPr/>
        </p:nvSpPr>
        <p:spPr>
          <a:xfrm>
            <a:off x="5532120" y="2651760"/>
            <a:ext cx="3383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19"/>
          <p:cNvSpPr/>
          <p:nvPr/>
        </p:nvSpPr>
        <p:spPr>
          <a:xfrm>
            <a:off x="5577840" y="2743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92" name="Text 20"/>
          <p:cNvSpPr/>
          <p:nvPr/>
        </p:nvSpPr>
        <p:spPr>
          <a:xfrm>
            <a:off x="603504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정보 제외</a:t>
            </a:r>
            <a:endParaRPr lang="en-US" sz="1200" dirty="0"/>
          </a:p>
        </p:txBody>
      </p:sp>
      <p:sp>
        <p:nvSpPr>
          <p:cNvPr id="93" name="Text 21"/>
          <p:cNvSpPr/>
          <p:nvPr/>
        </p:nvSpPr>
        <p:spPr>
          <a:xfrm>
            <a:off x="6035040" y="2980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비밀번호, 개인정보(PII)는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로그에 기록하지 않음</a:t>
            </a:r>
            <a:endParaRPr lang="en-US" sz="1000" dirty="0"/>
          </a:p>
        </p:txBody>
      </p:sp>
      <p:sp>
        <p:nvSpPr>
          <p:cNvPr id="94" name="Shape 22"/>
          <p:cNvSpPr/>
          <p:nvPr/>
        </p:nvSpPr>
        <p:spPr>
          <a:xfrm>
            <a:off x="5532120" y="3429000"/>
            <a:ext cx="3383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23"/>
          <p:cNvSpPr/>
          <p:nvPr/>
        </p:nvSpPr>
        <p:spPr>
          <a:xfrm>
            <a:off x="5577840" y="3520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96" name="Text 24"/>
          <p:cNvSpPr/>
          <p:nvPr/>
        </p:nvSpPr>
        <p:spPr>
          <a:xfrm>
            <a:off x="6035040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의미있는 메시지</a:t>
            </a:r>
            <a:endParaRPr lang="en-US" sz="1200" dirty="0"/>
          </a:p>
        </p:txBody>
      </p:sp>
      <p:sp>
        <p:nvSpPr>
          <p:cNvPr id="97" name="Text 25"/>
          <p:cNvSpPr/>
          <p:nvPr/>
        </p:nvSpPr>
        <p:spPr>
          <a:xfrm>
            <a:off x="6035040" y="3758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"Error!" 대신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42 login failed: wrong pw"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4535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365760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2035"/>
          </a:solidFill>
          <a:ln w="12700">
            <a:solidFill>
              <a:srgbClr val="1220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81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with SLF4J and Logback  in Spring Boot 4</a:t>
            </a:r>
            <a:endParaRPr lang="en-US" sz="1200" dirty="0"/>
          </a:p>
        </p:txBody>
      </p:sp>
      <p:sp>
        <p:nvSpPr>
          <p:cNvPr id="142" name="Shape 3"/>
          <p:cNvSpPr/>
          <p:nvPr/>
        </p:nvSpPr>
        <p:spPr>
          <a:xfrm>
            <a:off x="228600" y="868680"/>
            <a:ext cx="2834640" cy="1755648"/>
          </a:xfrm>
          <a:prstGeom prst="rect">
            <a:avLst/>
          </a:prstGeom>
          <a:solidFill>
            <a:srgbClr val="1A3A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Text 4"/>
          <p:cNvSpPr/>
          <p:nvPr/>
        </p:nvSpPr>
        <p:spPr>
          <a:xfrm>
            <a:off x="338328" y="9784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SLF4J = 인터페이스</a:t>
            </a:r>
            <a:endParaRPr lang="en-US" sz="1300" dirty="0"/>
          </a:p>
        </p:txBody>
      </p:sp>
      <p:sp>
        <p:nvSpPr>
          <p:cNvPr id="144" name="Text 5"/>
          <p:cNvSpPr/>
          <p:nvPr/>
        </p:nvSpPr>
        <p:spPr>
          <a:xfrm>
            <a:off x="338328" y="1417320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코드는 SLF4J API만 사용.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구현체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(Logback)와 독립적으로 작성.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교체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자유.</a:t>
            </a:r>
            <a:endParaRPr lang="en-US" sz="1050" dirty="0"/>
          </a:p>
        </p:txBody>
      </p:sp>
      <p:sp>
        <p:nvSpPr>
          <p:cNvPr id="145" name="Shape 6"/>
          <p:cNvSpPr/>
          <p:nvPr/>
        </p:nvSpPr>
        <p:spPr>
          <a:xfrm>
            <a:off x="3172968" y="868680"/>
            <a:ext cx="2834640" cy="1755648"/>
          </a:xfrm>
          <a:prstGeom prst="rect">
            <a:avLst/>
          </a:prstGeom>
          <a:solidFill>
            <a:srgbClr val="005F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Text 7"/>
          <p:cNvSpPr/>
          <p:nvPr/>
        </p:nvSpPr>
        <p:spPr>
          <a:xfrm>
            <a:off x="3282696" y="9784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Logback = 기본 구현</a:t>
            </a:r>
            <a:endParaRPr lang="en-US" sz="1300" dirty="0"/>
          </a:p>
        </p:txBody>
      </p:sp>
      <p:sp>
        <p:nvSpPr>
          <p:cNvPr id="147" name="Text 8"/>
          <p:cNvSpPr/>
          <p:nvPr/>
        </p:nvSpPr>
        <p:spPr>
          <a:xfrm>
            <a:off x="3282696" y="1417320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spring-boot-starter에 자동 포함. 빠르고 강력. 별도 설정 불필요.</a:t>
            </a:r>
            <a:endParaRPr lang="en-US" sz="1050" dirty="0"/>
          </a:p>
        </p:txBody>
      </p:sp>
      <p:sp>
        <p:nvSpPr>
          <p:cNvPr id="148" name="Shape 9"/>
          <p:cNvSpPr/>
          <p:nvPr/>
        </p:nvSpPr>
        <p:spPr>
          <a:xfrm>
            <a:off x="6117336" y="868680"/>
            <a:ext cx="2834640" cy="1755648"/>
          </a:xfrm>
          <a:prstGeom prst="rect">
            <a:avLst/>
          </a:prstGeom>
          <a:solidFill>
            <a:srgbClr val="1A5F3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0"/>
          <p:cNvSpPr/>
          <p:nvPr/>
        </p:nvSpPr>
        <p:spPr>
          <a:xfrm>
            <a:off x="6227064" y="9784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레벨 = 출력 필터</a:t>
            </a:r>
            <a:endParaRPr lang="en-US" sz="1300" dirty="0"/>
          </a:p>
        </p:txBody>
      </p:sp>
      <p:sp>
        <p:nvSpPr>
          <p:cNvPr id="150" name="Text 11"/>
          <p:cNvSpPr/>
          <p:nvPr/>
        </p:nvSpPr>
        <p:spPr>
          <a:xfrm>
            <a:off x="6227064" y="1417320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TRACE&lt;DEBUG&lt;INFO&lt;WARN&lt;ERROR.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=INFO. properties로 쉽게 조정.</a:t>
            </a:r>
            <a:endParaRPr lang="en-US" sz="1050" dirty="0"/>
          </a:p>
        </p:txBody>
      </p:sp>
      <p:sp>
        <p:nvSpPr>
          <p:cNvPr id="151" name="Shape 12"/>
          <p:cNvSpPr/>
          <p:nvPr/>
        </p:nvSpPr>
        <p:spPr>
          <a:xfrm>
            <a:off x="228600" y="2770632"/>
            <a:ext cx="2834640" cy="1755648"/>
          </a:xfrm>
          <a:prstGeom prst="rect">
            <a:avLst/>
          </a:prstGeom>
          <a:solidFill>
            <a:srgbClr val="5F3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Text 13"/>
          <p:cNvSpPr/>
          <p:nvPr/>
        </p:nvSpPr>
        <p:spPr>
          <a:xfrm>
            <a:off x="338328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Appender = 출력지</a:t>
            </a:r>
            <a:endParaRPr lang="en-US" sz="1300" dirty="0"/>
          </a:p>
        </p:txBody>
      </p:sp>
      <p:sp>
        <p:nvSpPr>
          <p:cNvPr id="153" name="Text 14"/>
          <p:cNvSpPr/>
          <p:nvPr/>
        </p:nvSpPr>
        <p:spPr>
          <a:xfrm>
            <a:off x="338328" y="3319272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File / RollingFile.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Logger에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여러 Appender 부착 가능.</a:t>
            </a:r>
            <a:endParaRPr lang="en-US" sz="1050" dirty="0"/>
          </a:p>
        </p:txBody>
      </p:sp>
      <p:sp>
        <p:nvSpPr>
          <p:cNvPr id="154" name="Shape 15"/>
          <p:cNvSpPr/>
          <p:nvPr/>
        </p:nvSpPr>
        <p:spPr>
          <a:xfrm>
            <a:off x="3172968" y="2770632"/>
            <a:ext cx="2834640" cy="1755648"/>
          </a:xfrm>
          <a:prstGeom prst="rect">
            <a:avLst/>
          </a:prstGeom>
          <a:solidFill>
            <a:srgbClr val="3A1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Text 16"/>
          <p:cNvSpPr/>
          <p:nvPr/>
        </p:nvSpPr>
        <p:spPr>
          <a:xfrm>
            <a:off x="3282696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설정 방법 2가지</a:t>
            </a:r>
            <a:endParaRPr lang="en-US" sz="1300" dirty="0"/>
          </a:p>
        </p:txBody>
      </p:sp>
      <p:sp>
        <p:nvSpPr>
          <p:cNvPr id="156" name="Text 17"/>
          <p:cNvSpPr/>
          <p:nvPr/>
        </p:nvSpPr>
        <p:spPr>
          <a:xfrm>
            <a:off x="3282696" y="3319272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것은 application.properties,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세밀한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제어는 logback-spring.xml.</a:t>
            </a:r>
            <a:endParaRPr lang="en-US" sz="1050" dirty="0"/>
          </a:p>
        </p:txBody>
      </p:sp>
      <p:sp>
        <p:nvSpPr>
          <p:cNvPr id="157" name="Shape 18"/>
          <p:cNvSpPr/>
          <p:nvPr/>
        </p:nvSpPr>
        <p:spPr>
          <a:xfrm>
            <a:off x="6117336" y="2770632"/>
            <a:ext cx="2834640" cy="1755648"/>
          </a:xfrm>
          <a:prstGeom prst="rect">
            <a:avLst/>
          </a:prstGeom>
          <a:solidFill>
            <a:srgbClr val="5F1A3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Text 19"/>
          <p:cNvSpPr/>
          <p:nvPr/>
        </p:nvSpPr>
        <p:spPr>
          <a:xfrm>
            <a:off x="6227064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MDC = 요청 추적</a:t>
            </a:r>
            <a:endParaRPr lang="en-US" sz="1300" dirty="0"/>
          </a:p>
        </p:txBody>
      </p:sp>
      <p:sp>
        <p:nvSpPr>
          <p:cNvPr id="159" name="Text 20"/>
          <p:cNvSpPr/>
          <p:nvPr/>
        </p:nvSpPr>
        <p:spPr>
          <a:xfrm>
            <a:off x="6227064" y="3319272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컨텍스트.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requestId로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멀티스레드 환경 로그 추적 가능.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4591</Words>
  <Application>Microsoft Office PowerPoint</Application>
  <PresentationFormat>화면 슬라이드 쇼(16:9)</PresentationFormat>
  <Paragraphs>825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맑은 고딕</vt:lpstr>
      <vt:lpstr>Arial</vt:lpstr>
      <vt:lpstr>Calibri</vt:lpstr>
      <vt:lpstr>Consolas</vt:lpstr>
      <vt:lpstr>Courier New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Logging in Spring Boot 4</dc:title>
  <dc:subject>PptxGenJS Presentation</dc:subject>
  <dc:creator>PptxGenJS</dc:creator>
  <cp:lastModifiedBy>user</cp:lastModifiedBy>
  <cp:revision>45</cp:revision>
  <dcterms:created xsi:type="dcterms:W3CDTF">2026-05-19T09:15:01Z</dcterms:created>
  <dcterms:modified xsi:type="dcterms:W3CDTF">2026-05-30T07:31:35Z</dcterms:modified>
</cp:coreProperties>
</file>